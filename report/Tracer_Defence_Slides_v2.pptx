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44641" autoAdjust="0"/>
  </p:normalViewPr>
  <p:slideViewPr>
    <p:cSldViewPr snapToGrid="0" snapToObjects="1">
      <p:cViewPr varScale="1">
        <p:scale>
          <a:sx n="38" d="100"/>
          <a:sy n="38" d="100"/>
        </p:scale>
        <p:origin x="2386" y="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0B0C0E"/>
                </a:solidFill>
                <a:latin typeface="Calibri"/>
              </a:defRPr>
            </a:pPr>
            <a:r>
              <a:rPr lang="en-GB" sz="1400" b="0" i="0" u="none" strike="noStrike">
                <a:solidFill>
                  <a:srgbClr val="0B0C0E"/>
                </a:solidFill>
                <a:latin typeface="Calibri"/>
              </a:rPr>
              <a:t>Illicit-class F1 score</a:t>
            </a:r>
          </a:p>
        </c:rich>
      </c:tx>
      <c:overlay val="0"/>
    </c:title>
    <c:autoTitleDeleted val="0"/>
    <c:plotArea>
      <c:layout/>
      <c:barChart>
        <c:barDir val="bar"/>
        <c:grouping val="clustered"/>
        <c:varyColors val="0"/>
        <c:ser>
          <c:idx val="0"/>
          <c:order val="0"/>
          <c:tx>
            <c:strRef>
              <c:f>Sheet1!$B$1</c:f>
              <c:strCache>
                <c:ptCount val="1"/>
                <c:pt idx="0">
                  <c:v>Illicit-class F1</c:v>
                </c:pt>
              </c:strCache>
            </c:strRef>
          </c:tx>
          <c:spPr>
            <a:solidFill>
              <a:srgbClr val="2B44E8"/>
            </a:solidFill>
            <a:effectLst/>
          </c:spPr>
          <c:invertIfNegative val="0"/>
          <c:dPt>
            <c:idx val="0"/>
            <c:invertIfNegative val="0"/>
            <c:bubble3D val="0"/>
            <c:extLst>
              <c:ext xmlns:c16="http://schemas.microsoft.com/office/drawing/2014/chart" uri="{C3380CC4-5D6E-409C-BE32-E72D297353CC}">
                <c16:uniqueId val="{00000001-94FF-4E8F-919C-F2F09599A645}"/>
              </c:ext>
            </c:extLst>
          </c:dPt>
          <c:dPt>
            <c:idx val="1"/>
            <c:invertIfNegative val="0"/>
            <c:bubble3D val="0"/>
            <c:spPr>
              <a:solidFill>
                <a:srgbClr val="E5484D"/>
              </a:solidFill>
              <a:effectLst/>
            </c:spPr>
            <c:extLst>
              <c:ext xmlns:c16="http://schemas.microsoft.com/office/drawing/2014/chart" uri="{C3380CC4-5D6E-409C-BE32-E72D297353CC}">
                <c16:uniqueId val="{00000003-94FF-4E8F-919C-F2F09599A645}"/>
              </c:ext>
            </c:extLst>
          </c:dPt>
          <c:dPt>
            <c:idx val="2"/>
            <c:invertIfNegative val="0"/>
            <c:bubble3D val="0"/>
            <c:spPr>
              <a:solidFill>
                <a:srgbClr val="E0870B"/>
              </a:solidFill>
              <a:effectLst/>
            </c:spPr>
            <c:extLst>
              <c:ext xmlns:c16="http://schemas.microsoft.com/office/drawing/2014/chart" uri="{C3380CC4-5D6E-409C-BE32-E72D297353CC}">
                <c16:uniqueId val="{00000005-94FF-4E8F-919C-F2F09599A645}"/>
              </c:ext>
            </c:extLst>
          </c:dPt>
          <c:dLbls>
            <c:numFmt formatCode="0.000" sourceLinked="0"/>
            <c:spPr>
              <a:noFill/>
              <a:ln>
                <a:noFill/>
              </a:ln>
              <a:effectLst/>
            </c:spPr>
            <c:txPr>
              <a:bodyPr/>
              <a:lstStyle/>
              <a:p>
                <a:pPr>
                  <a:defRPr sz="1200" b="0" i="0" u="none" strike="noStrike">
                    <a:solidFill>
                      <a:srgbClr val="0B0C0E"/>
                    </a:solidFill>
                    <a:latin typeface="Calibri"/>
                  </a:defRPr>
                </a:pPr>
                <a:endParaRPr lang="en-NG"/>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Random Forest</c:v>
                </c:pt>
                <c:pt idx="1">
                  <c:v>RF + GNN embeddings</c:v>
                </c:pt>
                <c:pt idx="2">
                  <c:v>GraphSAGE</c:v>
                </c:pt>
              </c:strCache>
            </c:strRef>
          </c:cat>
          <c:val>
            <c:numRef>
              <c:f>Sheet1!$B$2:$B$4</c:f>
              <c:numCache>
                <c:formatCode>General</c:formatCode>
                <c:ptCount val="3"/>
                <c:pt idx="0">
                  <c:v>0.80700000000000005</c:v>
                </c:pt>
                <c:pt idx="1">
                  <c:v>0.70699999999999996</c:v>
                </c:pt>
                <c:pt idx="2">
                  <c:v>0.69699999999999995</c:v>
                </c:pt>
              </c:numCache>
            </c:numRef>
          </c:val>
          <c:extLst>
            <c:ext xmlns:c16="http://schemas.microsoft.com/office/drawing/2014/chart" uri="{C3380CC4-5D6E-409C-BE32-E72D297353CC}">
              <c16:uniqueId val="{00000006-94FF-4E8F-919C-F2F09599A645}"/>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6B7280"/>
                </a:solidFill>
                <a:latin typeface="Calibri"/>
              </a:defRPr>
            </a:pPr>
            <a:endParaRPr lang="en-US"/>
          </a:p>
        </c:txPr>
        <c:crossAx val="2094734552"/>
        <c:crosses val="autoZero"/>
        <c:auto val="1"/>
        <c:lblAlgn val="ctr"/>
        <c:lblOffset val="100"/>
        <c:noMultiLvlLbl val="1"/>
      </c:catAx>
      <c:valAx>
        <c:axId val="2094734552"/>
        <c:scaling>
          <c:orientation val="minMax"/>
          <c:max val="1"/>
        </c:scaling>
        <c:delete val="0"/>
        <c:axPos val="b"/>
        <c:majorGridlines>
          <c:spPr>
            <a:ln w="12700" cap="flat">
              <a:solidFill>
                <a:srgbClr val="E6E4E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B7280"/>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836175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name is Adewole Habeeb Adebola, matric number S122202011, supervised by Miss Saka.
My project is a machine learning system that detects illicit Bitcoin transactions. It uses two different models and delivers them through a web console that a fraud analyst can actually work in.
Keep this short. Say your name, the title, and move to the next slide. Don't read the whole title out.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Money laundering is disguising criminal money so it can be spent normally. The UN estimates 2 to 5 percent of world GDP goes through this every year — that's up to 2 trillion dollars.
Criminals moved into cryptocurrency because it's fast, global, and you don't need a bank. Chainalysis reported 154 billion dollars went to illicit crypto addresses in 2025.
But here's the interesting part, and it's the reason this project is possible. In normal banking, transaction records sit inside private banks. On Bitcoin, every transaction is public forever. So the whole network of who paid who is available to analyse. That's an opportunity traditional fraud detection doesn't have.
The last number matters too — under 1 percent of transactions are illicit. That imbalance is the core technical difficulty.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argument for the whole project. Walk down the three levels.
One — rule-based systems. Somebody writes conditions: flag anything over this amount, from this country. The problem is it only catches what the author already imagined, it produces huge numbers of false alarms, and criminals just structure their transfers to stay under the limits.
Two — machine learning. Instead of rules, the model learns from labelled history what fraud looks like. Much better. But almost all of this work judges each transaction on its own.
Three — and this is my point. Money laundering is a network crime. Criminals deliberately move money through chains of transfers so no single step looks strange. If you only look at transactions one at a time you are blind to the pattern that defines the crime. That's why I used a graph neural network as well.
Then say: so Tracer does both, and compares them.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problems, then what follows from them.
First, volume. Bitcoin records hundreds of thousands of transactions a day. Manual review cannot cover that.
Second, rule-based systems are the traditional answer, and they fail in two ways at once — they bury analysts in false alarms, and they're easy to evade once you learn the thresholds.
Third, and this is the gap my project targets: even when people use machine learning, they usually classify each transaction on its own. That throws away the network structure, which is exactly where laundering shows itself.
So the requirement is four things: learn from data, use the network, run automatically, and explain itself. Those four map directly onto what I built.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aim once, slowly. Then the three objectives — say the short version of each, not the paragraph.
One, exploratory analysis of the two datasets — PaySim and Elliptic.
Two, build the system using Random Forest and a graph neural network.
Three, test and evaluate the models.
If asked why the web application is under objective two: a model an analyst cannot reach detects nothing in practice, so building the system is part of building the detection capability, not a separate exercise.
If asked about methodology, the answer is the iterative and incremental model. That's slide 10.</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points. Don't read them all in full — hit the headline of each.
One, it shows the architecture real anti-money-laundering platforms use, built end to end at academic scale.
Two, and this is the strongest fact in the whole project — I reproduced a published benchmark. Weber and colleagues reported an F1 of about 0.79 on this dataset. I got 0.807 using the same protocol. That means my pipeline is correct, and it's verifiable by anyone.
Three, explainability. In compliance work you cannot act on a score you can't question. Every prediction in my system comes with a breakdown of what drove it.
Four, I documented the methodology honestly, including changing datasets partway when the first one turned out to have no network to analyse.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papers. Give one line each — do not read the table.
Weber and colleagues, 2019 — this is my anchor paper. They created the Elliptic dataset I use, and they found Random Forest beat their graph model, at an F1 of about 0.79. That's the number I reproduce.
Alarab and colleagues, 2020 — improved the graph model's architecture on the same data.
Pareja and colleagues, 2020 — EvolveGCN, a graph model that changes over time to handle drift. I cite this in my future work.
Motie and Raahemi, 2024 — a systematic review confirming graph neural networks are competitive on relational fraud, and naming the open problems: imbalance, drift, explainability.
Then the punchline at the bottom: all four are model experiments. None of them builds a system an analyst can use. That's the gap I fill.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first. Elliptic is a real slice of the Bitcoin blockchain, released by a blockchain forensics company with MIT and IBM. Roughly 204,000 transactions connected by 234,000 payment flows.
Two things to stress. First — each node is a transaction, not an account. That's how Bitcoin works: money flows transaction to transaction. Second — only 23 percent carry a label. 77 percent are unknown, so I train and test on the 46,564 that are labelled.
Then the models. Random Forest is 200 decision trees voting on the transaction's own features. GraphSAGE looks at the network — each transaction's neighbours, and its neighbours' neighbours. The third combines them.
Finally the split at the bottom — trained on the earlier time steps, tested on the later ones. That's on the methodology slide, but flag it here.
If asked why 165 features and not 166: I excluded the time step from training because I use it only to split the data. Leaving it in would let the model learn period-specific artefacts instead of fraud.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slide. Know these numbers cold.
Random Forest won with an F1 of 0.807. GraphSAGE got 0.697, the combined variant 0.707.
Precision 92.5 percent means when the system raises an alarm, it's right about 9 times out of 10. Recall 71.6 percent means it catches about 7 out of every 10 illicit transactions.
Now the key sentence: Weber and colleagues published about 0.79 on this exact dataset with this exact protocol. I got 0.807. I reproduced a peer-reviewed result. Say that clearly.
If asked why recall is only 71.6 percent — a dark-web marketplace was shut down at time step 43, inside my test period. That changed how criminals behaved, and my model was trained on the earlier behaviour. The dataset's own authors report the same drop. It's called concept drift, and it's why real systems have to be retrained.
If asked why not just use accuracy — only 2 percent of transactions are illicit, so a model that says "nothing is fraud" would be 98 percent accurate and catch nothing.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"what methodology did you use", the answer is: the iterative and incremental model of the software development life cycle, with CRISP-DM for the machine learning component.
The project ran in two complete iterations. The first used PaySim, synthetic mobile-money data. It got the pipeline working, but PaySim has no network of connections between transactions, so the graph analysis at the heart of my project couldn't be done on it. With my supervisor's approval I moved to Elliptic, real Bitcoin data, for the final system.
Why iterative and not waterfall? Because waterfall assumes your requirements are fixed at the start. Mine weren't — I only discovered the dataset problem after building on it. The iterative model let each cycle produce something working that I could evaluate before committing to the next.
Then walk the six pipeline steps quickly.
Finish on the box at the bottom. Training on the past and testing on the future avoids data leakage, and it's how a real deployed system works. This is the same protocol as the benchmark paper, which is why my results are comparable to theirs.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architecture slide. Three tiers.
The presentation tier is React — that's what the analyst sees and clicks.
The application tier is a Flask REST API in Python — it checks who you are, runs the models, decides what to do.
The data tier is MySQL plus the saved model files.
Why three tiers? So each part can change without breaking the others. I could redesign the whole interface without touching the models.
On the right is what an analyst can actually do. The next three slides show these on screen.
Note the two serving strategies: Random Forest runs live on every request, while GraphSAGE scores come from a precomputed store, because running full-graph message passing per request is too slow on a laptop. If asked, that's a deliberate engineering trade-off.
Bottom left: 35 automated tests, all passing.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of the system. Walk through the screen.
The analyst picks a real transaction — this one is number 30179316, from time step 37, which is in the test period the models never trained on.
The system returns a fraud probability of 91 percent and flags it as illicit. The coloured bar is the risk spectrum: blue is legitimate, red is fraudulent.
Underneath you can see both models — Random Forest 91 percent, GraphSAGE 99.9 percent. The analyst can toggle between them.
Ground truth says illicit, so on this one we can confirm the system is right.
And the orange box: because the score crossed the alert threshold, the system opened a case automatically. Nobody clicked anything to make that happen.
If asked why you can't type in your own transaction: the features are anonymised, and a made-up transaction has no position in the real network. In deployment the transactions would arrive from a live feed.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on this slide.
On the left, explainability. Every score is broken into the features that produced it. Red bars pushed the score toward illicit, blue toward legitimate. It starts from the model's neutral point of 50 percent, and you can see the transaction's own features added 31.8 points and its network features added 9.2.
Because Elliptic hides what the features mean, I report them by group rather than by name — the transaction's own information versus information about its neighbours. That's the most honest explanation the data allows.
If asked why not SHAP, the standard library: SHAP depends on a component that Windows security policy blocks on my machine, so I implemented the underlying method myself in NumPy, walking the decision trees directly. I wrote a test that asserts the parts sum exactly to the prediction, and they do.
On the right, the network view. The red dot in the middle is the transaction being analysed. The ring around it is its 177 direct counterparties, and the outer ring is transactions two hops away. Two hops specifically, because that's exactly what the graph model can see.
If asked why an illicit transaction has legitimate neighbours: that's what laundering is. Dirty money has to touch legitimate services to be cashed out, so those blue nodes are the exit points, not proof of innocence.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makes it a monitoring system rather than a lookup tool.
The Live Monitor replays the test period as if transactions were arriving live. Each step is a batch of a few thousand transactions, and every single one is scored automatically. Nobody clicks anything.
Look at the screening log. Step 35: 5,507 transactions screened, 374 crossed a threshold, 25 alerts raised.
Why only 25? That's the alert budget. Hundreds crossing a threshold is realistic, but no analyst team can review hundreds of cases per period. So the system ranks them and raises the top 25. That's a real concept from fraud operations. Everything else is still counted and recorded.
If asked whether this is real-time: no, it replays the dataset's own timeline. But the screening logic is identical to what a live system would do — in production you'd swap the replay for a live blockchain feed. That's in my future work.
Important point to make: these are transactions the models never saw during training. From the model's point of view, every one of them is brand new.</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closing points, then stop talking.
One — it works and it's checkable. F1 of 0.807 on data the models never saw, reproducing a published benchmark.
Two — the honest finding. Random Forest beat the graph model. Not because graph learning doesn't work, but because this dataset's features already contain summaries of each transaction's neighbours, and because the graph is thin — an average of only 2.3 connections per transaction. Say this before anyone asks; it shows you understand your own result.
Three — the wider point. A model nobody can reach detects nothing. Explanations, continuous monitoring and case management are what turn a classifier into a system.
Then: thank you, and I'm happy to take questions.
LIKELY QUESTIONS — short answers:
· Limitations? Anonymised features, only 23% labelled, concept drift in the test window, Bitcoin-specific, local deployment.
· Future work? Probability calibration, threshold tuning, a temporal graph model like EvolveGCN, a graph database, live ingestion.
· Did you use AI? For parts of the coding, like documentation or Stack Overflow. The design decisions were mine and I can explain every part of how it works.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1.jp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1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20"/>
        </a:solidFill>
        <a:effectLst/>
      </p:bgPr>
    </p:bg>
    <p:spTree>
      <p:nvGrpSpPr>
        <p:cNvPr id="1" name=""/>
        <p:cNvGrpSpPr/>
        <p:nvPr/>
      </p:nvGrpSpPr>
      <p:grpSpPr>
        <a:xfrm>
          <a:off x="0" y="0"/>
          <a:ext cx="0" cy="0"/>
          <a:chOff x="0" y="0"/>
          <a:chExt cx="0" cy="0"/>
        </a:xfrm>
      </p:grpSpPr>
      <p:sp>
        <p:nvSpPr>
          <p:cNvPr id="2" name="Text 0"/>
          <p:cNvSpPr/>
          <p:nvPr/>
        </p:nvSpPr>
        <p:spPr>
          <a:xfrm>
            <a:off x="822960" y="1417320"/>
            <a:ext cx="10058400" cy="1463040"/>
          </a:xfrm>
          <a:prstGeom prst="rect">
            <a:avLst/>
          </a:prstGeom>
          <a:noFill/>
          <a:ln/>
        </p:spPr>
        <p:txBody>
          <a:bodyPr wrap="square" lIns="0" tIns="0" rIns="0" bIns="0" rtlCol="0" anchor="ctr"/>
          <a:lstStyle/>
          <a:p>
            <a:pPr marL="0" indent="0">
              <a:lnSpc>
                <a:spcPts val="4400"/>
              </a:lnSpc>
              <a:buNone/>
            </a:pPr>
            <a:r>
              <a:rPr lang="en-US" sz="3800" b="1" dirty="0">
                <a:solidFill>
                  <a:srgbClr val="FFFFFF"/>
                </a:solidFill>
                <a:latin typeface="Calibri" pitchFamily="34" charset="0"/>
                <a:ea typeface="Calibri" pitchFamily="34" charset="-122"/>
                <a:cs typeface="Calibri" pitchFamily="34" charset="-120"/>
              </a:rPr>
              <a:t>MACHINE LEARNING-BASED FINANCIAL</a:t>
            </a:r>
            <a:endParaRPr lang="en-US" sz="3800" dirty="0"/>
          </a:p>
          <a:p>
            <a:pPr marL="0" indent="0">
              <a:lnSpc>
                <a:spcPts val="4400"/>
              </a:lnSpc>
              <a:buNone/>
            </a:pPr>
            <a:r>
              <a:rPr lang="en-US" sz="3800" b="1" dirty="0">
                <a:solidFill>
                  <a:srgbClr val="FFFFFF"/>
                </a:solidFill>
                <a:latin typeface="Calibri" pitchFamily="34" charset="0"/>
                <a:ea typeface="Calibri" pitchFamily="34" charset="-122"/>
                <a:cs typeface="Calibri" pitchFamily="34" charset="-120"/>
              </a:rPr>
              <a:t>FRAUD DETECTION SYSTEM</a:t>
            </a:r>
            <a:endParaRPr lang="en-US" sz="3800" dirty="0"/>
          </a:p>
        </p:txBody>
      </p:sp>
      <p:sp>
        <p:nvSpPr>
          <p:cNvPr id="3" name="Text 1"/>
          <p:cNvSpPr/>
          <p:nvPr/>
        </p:nvSpPr>
        <p:spPr>
          <a:xfrm>
            <a:off x="822960" y="2926080"/>
            <a:ext cx="9509760" cy="365760"/>
          </a:xfrm>
          <a:prstGeom prst="rect">
            <a:avLst/>
          </a:prstGeom>
          <a:noFill/>
          <a:ln/>
        </p:spPr>
        <p:txBody>
          <a:bodyPr wrap="square" lIns="0" tIns="0" rIns="0" bIns="0" rtlCol="0" anchor="ctr"/>
          <a:lstStyle/>
          <a:p>
            <a:pPr marL="0" indent="0">
              <a:buNone/>
            </a:pPr>
            <a:r>
              <a:rPr lang="en-US" sz="1500" i="1" dirty="0">
                <a:solidFill>
                  <a:srgbClr val="9AA6C4"/>
                </a:solidFill>
                <a:latin typeface="Calibri" pitchFamily="34" charset="0"/>
                <a:ea typeface="Calibri" pitchFamily="34" charset="-122"/>
                <a:cs typeface="Calibri" pitchFamily="34" charset="-120"/>
              </a:rPr>
              <a:t>Detecting illicit Bitcoin transactions with Random Forest and a Graph Neural Network</a:t>
            </a:r>
            <a:endParaRPr lang="en-US" sz="1500" dirty="0"/>
          </a:p>
        </p:txBody>
      </p:sp>
      <p:sp>
        <p:nvSpPr>
          <p:cNvPr id="4" name="Shape 2"/>
          <p:cNvSpPr/>
          <p:nvPr/>
        </p:nvSpPr>
        <p:spPr>
          <a:xfrm>
            <a:off x="822960" y="3520440"/>
            <a:ext cx="2377440" cy="68580"/>
          </a:xfrm>
          <a:prstGeom prst="rect">
            <a:avLst/>
          </a:prstGeom>
          <a:solidFill>
            <a:srgbClr val="2B44E8"/>
          </a:solidFill>
          <a:ln/>
        </p:spPr>
      </p:sp>
      <p:sp>
        <p:nvSpPr>
          <p:cNvPr id="5" name="Shape 3"/>
          <p:cNvSpPr/>
          <p:nvPr/>
        </p:nvSpPr>
        <p:spPr>
          <a:xfrm>
            <a:off x="3200400" y="3520440"/>
            <a:ext cx="1371600" cy="68580"/>
          </a:xfrm>
          <a:prstGeom prst="rect">
            <a:avLst/>
          </a:prstGeom>
          <a:solidFill>
            <a:srgbClr val="E0870B"/>
          </a:solidFill>
          <a:ln/>
        </p:spPr>
      </p:sp>
      <p:sp>
        <p:nvSpPr>
          <p:cNvPr id="6" name="Shape 4"/>
          <p:cNvSpPr/>
          <p:nvPr/>
        </p:nvSpPr>
        <p:spPr>
          <a:xfrm>
            <a:off x="4572000" y="3520440"/>
            <a:ext cx="914400" cy="68580"/>
          </a:xfrm>
          <a:prstGeom prst="rect">
            <a:avLst/>
          </a:prstGeom>
          <a:solidFill>
            <a:srgbClr val="E5484D"/>
          </a:solidFill>
          <a:ln/>
        </p:spPr>
      </p:sp>
      <p:sp>
        <p:nvSpPr>
          <p:cNvPr id="7" name="Text 5"/>
          <p:cNvSpPr/>
          <p:nvPr/>
        </p:nvSpPr>
        <p:spPr>
          <a:xfrm>
            <a:off x="822960" y="3977640"/>
            <a:ext cx="5943600" cy="1371600"/>
          </a:xfrm>
          <a:prstGeom prst="rect">
            <a:avLst/>
          </a:prstGeom>
          <a:noFill/>
          <a:ln/>
        </p:spPr>
        <p:txBody>
          <a:bodyPr wrap="square" lIns="0" tIns="0" rIns="0" bIns="0" rtlCol="0" anchor="ctr"/>
          <a:lstStyle/>
          <a:p>
            <a:pPr marL="0" indent="0">
              <a:lnSpc>
                <a:spcPts val="2200"/>
              </a:lnSpc>
              <a:buNone/>
            </a:pPr>
            <a:r>
              <a:rPr lang="en-US" sz="1700" b="1" dirty="0">
                <a:solidFill>
                  <a:srgbClr val="FFFFFF"/>
                </a:solidFill>
                <a:latin typeface="Calibri" pitchFamily="34" charset="0"/>
                <a:ea typeface="Calibri" pitchFamily="34" charset="-122"/>
                <a:cs typeface="Calibri" pitchFamily="34" charset="-120"/>
              </a:rPr>
              <a:t>ADEWOLE HABEEB ADEBOLA
</a:t>
            </a:r>
            <a:r>
              <a:rPr lang="en-US" sz="1400" dirty="0">
                <a:solidFill>
                  <a:srgbClr val="9AA6C4"/>
                </a:solidFill>
                <a:latin typeface="Calibri" pitchFamily="34" charset="0"/>
                <a:ea typeface="Calibri" pitchFamily="34" charset="-122"/>
                <a:cs typeface="Calibri" pitchFamily="34" charset="-120"/>
              </a:rPr>
              <a:t>S122202011
Supervisor:  Miss Saka B.A.</a:t>
            </a:r>
            <a:endParaRPr lang="en-US" sz="1700" dirty="0"/>
          </a:p>
        </p:txBody>
      </p:sp>
      <p:sp>
        <p:nvSpPr>
          <p:cNvPr id="8" name="Text 6"/>
          <p:cNvSpPr/>
          <p:nvPr/>
        </p:nvSpPr>
        <p:spPr>
          <a:xfrm>
            <a:off x="822960" y="5623560"/>
            <a:ext cx="7315200" cy="822960"/>
          </a:xfrm>
          <a:prstGeom prst="rect">
            <a:avLst/>
          </a:prstGeom>
          <a:noFill/>
          <a:ln/>
        </p:spPr>
        <p:txBody>
          <a:bodyPr wrap="square" lIns="0" tIns="0" rIns="0" bIns="0" rtlCol="0" anchor="ctr"/>
          <a:lstStyle/>
          <a:p>
            <a:pPr marL="0" indent="0">
              <a:lnSpc>
                <a:spcPts val="1500"/>
              </a:lnSpc>
              <a:buNone/>
            </a:pPr>
            <a:r>
              <a:rPr lang="en-US" sz="1150" dirty="0">
                <a:solidFill>
                  <a:srgbClr val="6E7A96"/>
                </a:solidFill>
                <a:latin typeface="Calibri" pitchFamily="34" charset="0"/>
                <a:ea typeface="Calibri" pitchFamily="34" charset="-122"/>
                <a:cs typeface="Calibri" pitchFamily="34" charset="-120"/>
              </a:rPr>
              <a:t>Department of Computer Science</a:t>
            </a:r>
            <a:endParaRPr lang="en-US" sz="1150" dirty="0"/>
          </a:p>
          <a:p>
            <a:pPr marL="0" indent="0">
              <a:lnSpc>
                <a:spcPts val="1500"/>
              </a:lnSpc>
              <a:buNone/>
            </a:pPr>
            <a:r>
              <a:rPr lang="en-US" sz="1150" dirty="0">
                <a:solidFill>
                  <a:srgbClr val="6E7A96"/>
                </a:solidFill>
                <a:latin typeface="Calibri" pitchFamily="34" charset="0"/>
                <a:ea typeface="Calibri" pitchFamily="34" charset="-122"/>
                <a:cs typeface="Calibri" pitchFamily="34" charset="-120"/>
              </a:rPr>
              <a:t>College of Information and Communication Technology</a:t>
            </a:r>
            <a:endParaRPr lang="en-US" sz="1150" dirty="0"/>
          </a:p>
          <a:p>
            <a:pPr marL="0" indent="0">
              <a:lnSpc>
                <a:spcPts val="1500"/>
              </a:lnSpc>
              <a:buNone/>
            </a:pPr>
            <a:r>
              <a:rPr lang="en-US" sz="1150" dirty="0">
                <a:solidFill>
                  <a:srgbClr val="6E7A96"/>
                </a:solidFill>
                <a:latin typeface="Calibri" pitchFamily="34" charset="0"/>
                <a:ea typeface="Calibri" pitchFamily="34" charset="-122"/>
                <a:cs typeface="Calibri" pitchFamily="34" charset="-120"/>
              </a:rPr>
              <a:t>Crescent University, Abeokuta</a:t>
            </a:r>
            <a:endParaRPr lang="en-US" sz="1150" dirty="0"/>
          </a:p>
        </p:txBody>
      </p:sp>
      <p:sp>
        <p:nvSpPr>
          <p:cNvPr id="9" name="Shape 7"/>
          <p:cNvSpPr/>
          <p:nvPr/>
        </p:nvSpPr>
        <p:spPr>
          <a:xfrm>
            <a:off x="11045952" y="201168"/>
            <a:ext cx="905256" cy="722376"/>
          </a:xfrm>
          <a:prstGeom prst="roundRect">
            <a:avLst>
              <a:gd name="adj" fmla="val 7595"/>
            </a:avLst>
          </a:prstGeom>
          <a:solidFill>
            <a:srgbClr val="FFFFFF"/>
          </a:solidFill>
          <a:ln/>
        </p:spPr>
      </p:sp>
      <p:pic>
        <p:nvPicPr>
          <p:cNvPr id="10" name="Image 0" descr="C:\Users\brigh\Downloads\crescent logo.jpg"/>
          <p:cNvPicPr>
            <a:picLocks noChangeAspect="1"/>
          </p:cNvPicPr>
          <p:nvPr/>
        </p:nvPicPr>
        <p:blipFill>
          <a:blip r:embed="rId3"/>
          <a:stretch>
            <a:fillRect/>
          </a:stretch>
        </p:blipFill>
        <p:spPr>
          <a:xfrm>
            <a:off x="11155680" y="292608"/>
            <a:ext cx="685800" cy="536753"/>
          </a:xfrm>
          <a:prstGeom prst="rect">
            <a:avLst/>
          </a:prstGeom>
        </p:spPr>
      </p:pic>
      <p:sp>
        <p:nvSpPr>
          <p:cNvPr id="11" name="Text 8"/>
          <p:cNvSpPr/>
          <p:nvPr/>
        </p:nvSpPr>
        <p:spPr>
          <a:xfrm>
            <a:off x="11155680" y="6327648"/>
            <a:ext cx="685800" cy="274320"/>
          </a:xfrm>
          <a:prstGeom prst="rect">
            <a:avLst/>
          </a:prstGeom>
          <a:noFill/>
          <a:ln/>
        </p:spPr>
        <p:txBody>
          <a:bodyPr wrap="square" rtlCol="0" anchor="ctr"/>
          <a:lstStyle/>
          <a:p>
            <a:pPr marL="0" indent="0" algn="r">
              <a:buNone/>
            </a:pPr>
            <a:r>
              <a:rPr lang="en-US" sz="1100" dirty="0">
                <a:solidFill>
                  <a:srgbClr val="8A93A6"/>
                </a:solidFill>
                <a:latin typeface="Calibri" pitchFamily="34" charset="0"/>
                <a:ea typeface="Calibri" pitchFamily="34" charset="-122"/>
                <a:cs typeface="Calibri" pitchFamily="34" charset="-120"/>
              </a:rPr>
              <a:t>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332720" cy="566928"/>
          </a:xfrm>
          <a:prstGeom prst="rect">
            <a:avLst/>
          </a:prstGeom>
          <a:noFill/>
          <a:ln/>
        </p:spPr>
        <p:txBody>
          <a:bodyPr wrap="square" lIns="0" tIns="0" rIns="0" bIns="0" rtlCol="0" anchor="ctr"/>
          <a:lstStyle/>
          <a:p>
            <a:pPr marL="0" indent="0">
              <a:buNone/>
            </a:pPr>
            <a:r>
              <a:rPr lang="en-US" sz="3000" b="1" dirty="0">
                <a:solidFill>
                  <a:srgbClr val="0B0C0E"/>
                </a:solidFill>
                <a:latin typeface="Calibri" pitchFamily="34" charset="0"/>
                <a:ea typeface="Calibri" pitchFamily="34" charset="-122"/>
                <a:cs typeface="Calibri" pitchFamily="34" charset="-120"/>
              </a:rPr>
              <a:t>Introduction</a:t>
            </a:r>
            <a:endParaRPr lang="en-US" sz="3000" dirty="0"/>
          </a:p>
        </p:txBody>
      </p:sp>
      <p:sp>
        <p:nvSpPr>
          <p:cNvPr id="3" name="Text 1"/>
          <p:cNvSpPr/>
          <p:nvPr/>
        </p:nvSpPr>
        <p:spPr>
          <a:xfrm>
            <a:off x="548640" y="969264"/>
            <a:ext cx="10058400" cy="292608"/>
          </a:xfrm>
          <a:prstGeom prst="rect">
            <a:avLst/>
          </a:prstGeom>
          <a:noFill/>
          <a:ln/>
        </p:spPr>
        <p:txBody>
          <a:bodyPr wrap="square" lIns="0" tIns="0" rIns="0" bIns="0" rtlCol="0" anchor="ctr"/>
          <a:lstStyle/>
          <a:p>
            <a:pPr marL="0" indent="0">
              <a:buNone/>
            </a:pPr>
            <a:r>
              <a:rPr lang="en-US" sz="1400" dirty="0">
                <a:solidFill>
                  <a:srgbClr val="6B7280"/>
                </a:solidFill>
                <a:latin typeface="Calibri" pitchFamily="34" charset="0"/>
                <a:ea typeface="Calibri" pitchFamily="34" charset="-122"/>
                <a:cs typeface="Calibri" pitchFamily="34" charset="-120"/>
              </a:rPr>
              <a:t>The scale of the problem</a:t>
            </a:r>
            <a:endParaRPr lang="en-US" sz="1400" dirty="0"/>
          </a:p>
        </p:txBody>
      </p:sp>
      <p:sp>
        <p:nvSpPr>
          <p:cNvPr id="4" name="Shape 2"/>
          <p:cNvSpPr/>
          <p:nvPr/>
        </p:nvSpPr>
        <p:spPr>
          <a:xfrm>
            <a:off x="548640" y="1536192"/>
            <a:ext cx="3429000" cy="1783080"/>
          </a:xfrm>
          <a:prstGeom prst="roundRect">
            <a:avLst>
              <a:gd name="adj" fmla="val 4103"/>
            </a:avLst>
          </a:prstGeom>
          <a:solidFill>
            <a:srgbClr val="FFFFFF"/>
          </a:solidFill>
          <a:ln w="12700">
            <a:solidFill>
              <a:srgbClr val="E6E4E0"/>
            </a:solidFill>
            <a:prstDash val="solid"/>
          </a:ln>
          <a:effectLst>
            <a:outerShdw blurRad="101600" dist="12700" dir="5400000" algn="bl" rotWithShape="0">
              <a:srgbClr val="9AA0AA">
                <a:alpha val="18000"/>
              </a:srgbClr>
            </a:outerShdw>
          </a:effectLst>
        </p:spPr>
      </p:sp>
      <p:sp>
        <p:nvSpPr>
          <p:cNvPr id="5" name="Text 3"/>
          <p:cNvSpPr/>
          <p:nvPr/>
        </p:nvSpPr>
        <p:spPr>
          <a:xfrm>
            <a:off x="804672" y="1719072"/>
            <a:ext cx="2926080" cy="685800"/>
          </a:xfrm>
          <a:prstGeom prst="rect">
            <a:avLst/>
          </a:prstGeom>
          <a:noFill/>
          <a:ln/>
        </p:spPr>
        <p:txBody>
          <a:bodyPr wrap="square" lIns="0" tIns="0" rIns="0" bIns="0" rtlCol="0" anchor="ctr"/>
          <a:lstStyle/>
          <a:p>
            <a:pPr marL="0" indent="0">
              <a:buNone/>
            </a:pPr>
            <a:r>
              <a:rPr lang="en-US" sz="4000" b="1" dirty="0">
                <a:solidFill>
                  <a:srgbClr val="2B44E8"/>
                </a:solidFill>
                <a:latin typeface="Calibri" pitchFamily="34" charset="0"/>
                <a:ea typeface="Calibri" pitchFamily="34" charset="-122"/>
                <a:cs typeface="Calibri" pitchFamily="34" charset="-120"/>
              </a:rPr>
              <a:t>2–5%</a:t>
            </a:r>
            <a:endParaRPr lang="en-US" sz="4000" dirty="0"/>
          </a:p>
        </p:txBody>
      </p:sp>
      <p:sp>
        <p:nvSpPr>
          <p:cNvPr id="6" name="Text 4"/>
          <p:cNvSpPr/>
          <p:nvPr/>
        </p:nvSpPr>
        <p:spPr>
          <a:xfrm>
            <a:off x="804672" y="2478024"/>
            <a:ext cx="2926080" cy="731520"/>
          </a:xfrm>
          <a:prstGeom prst="rect">
            <a:avLst/>
          </a:prstGeom>
          <a:noFill/>
          <a:ln/>
        </p:spPr>
        <p:txBody>
          <a:bodyPr wrap="square" lIns="0" tIns="0" rIns="0" bIns="0" rtlCol="0" anchor="ctr"/>
          <a:lstStyle/>
          <a:p>
            <a:pPr marL="0" indent="0">
              <a:lnSpc>
                <a:spcPts val="1600"/>
              </a:lnSpc>
              <a:buNone/>
            </a:pPr>
            <a:r>
              <a:rPr lang="en-US" sz="1250" dirty="0">
                <a:solidFill>
                  <a:srgbClr val="6B7280"/>
                </a:solidFill>
                <a:latin typeface="Calibri" pitchFamily="34" charset="0"/>
                <a:ea typeface="Calibri" pitchFamily="34" charset="-122"/>
                <a:cs typeface="Calibri" pitchFamily="34" charset="-120"/>
              </a:rPr>
              <a:t>of global GDP is laundered</a:t>
            </a:r>
            <a:endParaRPr lang="en-US" sz="1250" dirty="0"/>
          </a:p>
          <a:p>
            <a:pPr marL="0" indent="0">
              <a:lnSpc>
                <a:spcPts val="1600"/>
              </a:lnSpc>
              <a:buNone/>
            </a:pPr>
            <a:r>
              <a:rPr lang="en-US" sz="1250" dirty="0">
                <a:solidFill>
                  <a:srgbClr val="6B7280"/>
                </a:solidFill>
                <a:latin typeface="Calibri" pitchFamily="34" charset="0"/>
                <a:ea typeface="Calibri" pitchFamily="34" charset="-122"/>
                <a:cs typeface="Calibri" pitchFamily="34" charset="-120"/>
              </a:rPr>
              <a:t>every year (UNODC, 2011)</a:t>
            </a:r>
            <a:endParaRPr lang="en-US" sz="1250" dirty="0"/>
          </a:p>
        </p:txBody>
      </p:sp>
      <p:sp>
        <p:nvSpPr>
          <p:cNvPr id="7" name="Shape 5"/>
          <p:cNvSpPr/>
          <p:nvPr/>
        </p:nvSpPr>
        <p:spPr>
          <a:xfrm>
            <a:off x="4251960" y="1536192"/>
            <a:ext cx="3429000" cy="1783080"/>
          </a:xfrm>
          <a:prstGeom prst="roundRect">
            <a:avLst>
              <a:gd name="adj" fmla="val 4103"/>
            </a:avLst>
          </a:prstGeom>
          <a:solidFill>
            <a:srgbClr val="FFFFFF"/>
          </a:solidFill>
          <a:ln w="12700">
            <a:solidFill>
              <a:srgbClr val="E6E4E0"/>
            </a:solidFill>
            <a:prstDash val="solid"/>
          </a:ln>
          <a:effectLst>
            <a:outerShdw blurRad="101600" dist="12700" dir="5400000" algn="bl" rotWithShape="0">
              <a:srgbClr val="9AA0AA">
                <a:alpha val="18000"/>
              </a:srgbClr>
            </a:outerShdw>
          </a:effectLst>
        </p:spPr>
      </p:sp>
      <p:sp>
        <p:nvSpPr>
          <p:cNvPr id="8" name="Text 6"/>
          <p:cNvSpPr/>
          <p:nvPr/>
        </p:nvSpPr>
        <p:spPr>
          <a:xfrm>
            <a:off x="4507992" y="1719072"/>
            <a:ext cx="2926080" cy="685800"/>
          </a:xfrm>
          <a:prstGeom prst="rect">
            <a:avLst/>
          </a:prstGeom>
          <a:noFill/>
          <a:ln/>
        </p:spPr>
        <p:txBody>
          <a:bodyPr wrap="square" lIns="0" tIns="0" rIns="0" bIns="0" rtlCol="0" anchor="ctr"/>
          <a:lstStyle/>
          <a:p>
            <a:pPr marL="0" indent="0">
              <a:buNone/>
            </a:pPr>
            <a:r>
              <a:rPr lang="en-US" sz="4000" b="1" dirty="0">
                <a:solidFill>
                  <a:srgbClr val="E0870B"/>
                </a:solidFill>
                <a:latin typeface="Calibri" pitchFamily="34" charset="0"/>
                <a:ea typeface="Calibri" pitchFamily="34" charset="-122"/>
                <a:cs typeface="Calibri" pitchFamily="34" charset="-120"/>
              </a:rPr>
              <a:t>$154bn</a:t>
            </a:r>
            <a:endParaRPr lang="en-US" sz="4000" dirty="0"/>
          </a:p>
        </p:txBody>
      </p:sp>
      <p:sp>
        <p:nvSpPr>
          <p:cNvPr id="9" name="Text 7"/>
          <p:cNvSpPr/>
          <p:nvPr/>
        </p:nvSpPr>
        <p:spPr>
          <a:xfrm>
            <a:off x="4507992" y="2478024"/>
            <a:ext cx="2926080" cy="731520"/>
          </a:xfrm>
          <a:prstGeom prst="rect">
            <a:avLst/>
          </a:prstGeom>
          <a:noFill/>
          <a:ln/>
        </p:spPr>
        <p:txBody>
          <a:bodyPr wrap="square" lIns="0" tIns="0" rIns="0" bIns="0" rtlCol="0" anchor="ctr"/>
          <a:lstStyle/>
          <a:p>
            <a:pPr marL="0" indent="0">
              <a:lnSpc>
                <a:spcPts val="1600"/>
              </a:lnSpc>
              <a:buNone/>
            </a:pPr>
            <a:r>
              <a:rPr lang="en-US" sz="1250" dirty="0">
                <a:solidFill>
                  <a:srgbClr val="6B7280"/>
                </a:solidFill>
                <a:latin typeface="Calibri" pitchFamily="34" charset="0"/>
                <a:ea typeface="Calibri" pitchFamily="34" charset="-122"/>
                <a:cs typeface="Calibri" pitchFamily="34" charset="-120"/>
              </a:rPr>
              <a:t>received by illicit crypto</a:t>
            </a:r>
            <a:endParaRPr lang="en-US" sz="1250" dirty="0"/>
          </a:p>
          <a:p>
            <a:pPr marL="0" indent="0">
              <a:lnSpc>
                <a:spcPts val="1600"/>
              </a:lnSpc>
              <a:buNone/>
            </a:pPr>
            <a:r>
              <a:rPr lang="en-US" sz="1250" dirty="0">
                <a:solidFill>
                  <a:srgbClr val="6B7280"/>
                </a:solidFill>
                <a:latin typeface="Calibri" pitchFamily="34" charset="0"/>
                <a:ea typeface="Calibri" pitchFamily="34" charset="-122"/>
                <a:cs typeface="Calibri" pitchFamily="34" charset="-120"/>
              </a:rPr>
              <a:t>addresses in 2025 (Chainalysis)</a:t>
            </a:r>
            <a:endParaRPr lang="en-US" sz="1250" dirty="0"/>
          </a:p>
        </p:txBody>
      </p:sp>
      <p:sp>
        <p:nvSpPr>
          <p:cNvPr id="10" name="Shape 8"/>
          <p:cNvSpPr/>
          <p:nvPr/>
        </p:nvSpPr>
        <p:spPr>
          <a:xfrm>
            <a:off x="7955280" y="1536192"/>
            <a:ext cx="3429000" cy="1783080"/>
          </a:xfrm>
          <a:prstGeom prst="roundRect">
            <a:avLst>
              <a:gd name="adj" fmla="val 4103"/>
            </a:avLst>
          </a:prstGeom>
          <a:solidFill>
            <a:srgbClr val="FFFFFF"/>
          </a:solidFill>
          <a:ln w="12700">
            <a:solidFill>
              <a:srgbClr val="E6E4E0"/>
            </a:solidFill>
            <a:prstDash val="solid"/>
          </a:ln>
          <a:effectLst>
            <a:outerShdw blurRad="101600" dist="12700" dir="5400000" algn="bl" rotWithShape="0">
              <a:srgbClr val="9AA0AA">
                <a:alpha val="18000"/>
              </a:srgbClr>
            </a:outerShdw>
          </a:effectLst>
        </p:spPr>
      </p:sp>
      <p:sp>
        <p:nvSpPr>
          <p:cNvPr id="11" name="Text 9"/>
          <p:cNvSpPr/>
          <p:nvPr/>
        </p:nvSpPr>
        <p:spPr>
          <a:xfrm>
            <a:off x="8211312" y="1719072"/>
            <a:ext cx="2926080" cy="685800"/>
          </a:xfrm>
          <a:prstGeom prst="rect">
            <a:avLst/>
          </a:prstGeom>
          <a:noFill/>
          <a:ln/>
        </p:spPr>
        <p:txBody>
          <a:bodyPr wrap="square" lIns="0" tIns="0" rIns="0" bIns="0" rtlCol="0" anchor="ctr"/>
          <a:lstStyle/>
          <a:p>
            <a:pPr marL="0" indent="0">
              <a:buNone/>
            </a:pPr>
            <a:r>
              <a:rPr lang="en-US" sz="4000" b="1" dirty="0">
                <a:solidFill>
                  <a:srgbClr val="E5484D"/>
                </a:solidFill>
                <a:latin typeface="Calibri" pitchFamily="34" charset="0"/>
                <a:ea typeface="Calibri" pitchFamily="34" charset="-122"/>
                <a:cs typeface="Calibri" pitchFamily="34" charset="-120"/>
              </a:rPr>
              <a:t>&lt;1%</a:t>
            </a:r>
            <a:endParaRPr lang="en-US" sz="4000" dirty="0"/>
          </a:p>
        </p:txBody>
      </p:sp>
      <p:sp>
        <p:nvSpPr>
          <p:cNvPr id="12" name="Text 10"/>
          <p:cNvSpPr/>
          <p:nvPr/>
        </p:nvSpPr>
        <p:spPr>
          <a:xfrm>
            <a:off x="8211312" y="2478024"/>
            <a:ext cx="2926080" cy="731520"/>
          </a:xfrm>
          <a:prstGeom prst="rect">
            <a:avLst/>
          </a:prstGeom>
          <a:noFill/>
          <a:ln/>
        </p:spPr>
        <p:txBody>
          <a:bodyPr wrap="square" lIns="0" tIns="0" rIns="0" bIns="0" rtlCol="0" anchor="ctr"/>
          <a:lstStyle/>
          <a:p>
            <a:pPr marL="0" indent="0">
              <a:lnSpc>
                <a:spcPts val="1600"/>
              </a:lnSpc>
              <a:buNone/>
            </a:pPr>
            <a:r>
              <a:rPr lang="en-US" sz="1250" dirty="0">
                <a:solidFill>
                  <a:srgbClr val="6B7280"/>
                </a:solidFill>
                <a:latin typeface="Calibri" pitchFamily="34" charset="0"/>
                <a:ea typeface="Calibri" pitchFamily="34" charset="-122"/>
                <a:cs typeface="Calibri" pitchFamily="34" charset="-120"/>
              </a:rPr>
              <a:t>of transactions are illicit —</a:t>
            </a:r>
            <a:endParaRPr lang="en-US" sz="1250" dirty="0"/>
          </a:p>
          <a:p>
            <a:pPr marL="0" indent="0">
              <a:lnSpc>
                <a:spcPts val="1600"/>
              </a:lnSpc>
              <a:buNone/>
            </a:pPr>
            <a:r>
              <a:rPr lang="en-US" sz="1250" dirty="0">
                <a:solidFill>
                  <a:srgbClr val="6B7280"/>
                </a:solidFill>
                <a:latin typeface="Calibri" pitchFamily="34" charset="0"/>
                <a:ea typeface="Calibri" pitchFamily="34" charset="-122"/>
                <a:cs typeface="Calibri" pitchFamily="34" charset="-120"/>
              </a:rPr>
              <a:t>finding them is the hard part</a:t>
            </a:r>
            <a:endParaRPr lang="en-US" sz="1250" dirty="0"/>
          </a:p>
        </p:txBody>
      </p:sp>
      <p:sp>
        <p:nvSpPr>
          <p:cNvPr id="13" name="Text 11"/>
          <p:cNvSpPr/>
          <p:nvPr/>
        </p:nvSpPr>
        <p:spPr>
          <a:xfrm>
            <a:off x="548640" y="3657600"/>
            <a:ext cx="10241280" cy="731520"/>
          </a:xfrm>
          <a:prstGeom prst="rect">
            <a:avLst/>
          </a:prstGeom>
          <a:noFill/>
          <a:ln/>
        </p:spPr>
        <p:txBody>
          <a:bodyPr wrap="square" lIns="0" tIns="0" rIns="0" bIns="0" rtlCol="0" anchor="ctr"/>
          <a:lstStyle/>
          <a:p>
            <a:pPr marL="0" indent="0">
              <a:lnSpc>
                <a:spcPts val="2200"/>
              </a:lnSpc>
              <a:buNone/>
            </a:pPr>
            <a:r>
              <a:rPr lang="en-US" sz="1500" b="1" dirty="0">
                <a:solidFill>
                  <a:srgbClr val="0B0C0E"/>
                </a:solidFill>
                <a:latin typeface="Calibri" pitchFamily="34" charset="0"/>
                <a:ea typeface="Calibri" pitchFamily="34" charset="-122"/>
                <a:cs typeface="Calibri" pitchFamily="34" charset="-120"/>
              </a:rPr>
              <a:t>Money laundering</a:t>
            </a:r>
            <a:r>
              <a:rPr lang="en-US" sz="1500" dirty="0">
                <a:solidFill>
                  <a:srgbClr val="0B0C0E"/>
                </a:solidFill>
                <a:latin typeface="Calibri" pitchFamily="34" charset="0"/>
                <a:ea typeface="Calibri" pitchFamily="34" charset="-122"/>
                <a:cs typeface="Calibri" pitchFamily="34" charset="-120"/>
              </a:rPr>
              <a:t> is how criminal proceeds are disguised so they can be spent in the legitimate economy. Cryptocurrency has made this easier: value moves globally, quickly and pseudonymously, without a bank in the middle.</a:t>
            </a:r>
            <a:endParaRPr lang="en-US" sz="1500" dirty="0"/>
          </a:p>
        </p:txBody>
      </p:sp>
      <p:sp>
        <p:nvSpPr>
          <p:cNvPr id="14" name="Text 12"/>
          <p:cNvSpPr/>
          <p:nvPr/>
        </p:nvSpPr>
        <p:spPr>
          <a:xfrm>
            <a:off x="548640" y="4526280"/>
            <a:ext cx="10241280" cy="822960"/>
          </a:xfrm>
          <a:prstGeom prst="rect">
            <a:avLst/>
          </a:prstGeom>
          <a:noFill/>
          <a:ln/>
        </p:spPr>
        <p:txBody>
          <a:bodyPr wrap="square" lIns="0" tIns="0" rIns="0" bIns="0" rtlCol="0" anchor="ctr"/>
          <a:lstStyle/>
          <a:p>
            <a:pPr marL="0" indent="0">
              <a:lnSpc>
                <a:spcPts val="2200"/>
              </a:lnSpc>
              <a:buNone/>
            </a:pPr>
            <a:r>
              <a:rPr lang="en-US" sz="1500" b="1" dirty="0">
                <a:solidFill>
                  <a:srgbClr val="2B44E8"/>
                </a:solidFill>
                <a:latin typeface="Calibri" pitchFamily="34" charset="0"/>
                <a:ea typeface="Calibri" pitchFamily="34" charset="-122"/>
                <a:cs typeface="Calibri" pitchFamily="34" charset="-120"/>
              </a:rPr>
              <a:t>But the blockchain is also an opportunity. </a:t>
            </a:r>
            <a:r>
              <a:rPr lang="en-US" sz="1500" dirty="0">
                <a:solidFill>
                  <a:srgbClr val="0B0C0E"/>
                </a:solidFill>
                <a:latin typeface="Calibri" pitchFamily="34" charset="0"/>
                <a:ea typeface="Calibri" pitchFamily="34" charset="-122"/>
                <a:cs typeface="Calibri" pitchFamily="34" charset="-120"/>
              </a:rPr>
              <a:t>Unlike banking data, which is locked inside private institutions, every Bitcoin transaction and every connection between transactions is permanently public — the complete transaction graph is available for analysis.</a:t>
            </a:r>
            <a:endParaRPr lang="en-US" sz="1500" dirty="0"/>
          </a:p>
        </p:txBody>
      </p:sp>
      <p:pic>
        <p:nvPicPr>
          <p:cNvPr id="15" name="Image 0" descr="C:\Users\brigh\Downloads\crescent logo.jpg"/>
          <p:cNvPicPr>
            <a:picLocks noChangeAspect="1"/>
          </p:cNvPicPr>
          <p:nvPr/>
        </p:nvPicPr>
        <p:blipFill>
          <a:blip r:embed="rId3"/>
          <a:stretch>
            <a:fillRect/>
          </a:stretch>
        </p:blipFill>
        <p:spPr>
          <a:xfrm>
            <a:off x="11155680" y="292608"/>
            <a:ext cx="685800" cy="536753"/>
          </a:xfrm>
          <a:prstGeom prst="rect">
            <a:avLst/>
          </a:prstGeom>
        </p:spPr>
      </p:pic>
      <p:sp>
        <p:nvSpPr>
          <p:cNvPr id="16" name="Text 13"/>
          <p:cNvSpPr/>
          <p:nvPr/>
        </p:nvSpPr>
        <p:spPr>
          <a:xfrm>
            <a:off x="11155680" y="6327648"/>
            <a:ext cx="685800" cy="274320"/>
          </a:xfrm>
          <a:prstGeom prst="rect">
            <a:avLst/>
          </a:prstGeom>
          <a:noFill/>
          <a:ln/>
        </p:spPr>
        <p:txBody>
          <a:bodyPr wrap="square" rtlCol="0" anchor="ctr"/>
          <a:lstStyle/>
          <a:p>
            <a:pPr marL="0" indent="0" algn="r">
              <a:buNone/>
            </a:pPr>
            <a:r>
              <a:rPr lang="en-US" sz="1100" dirty="0">
                <a:solidFill>
                  <a:srgbClr val="6B7280"/>
                </a:solidFill>
                <a:latin typeface="Calibri" pitchFamily="34" charset="0"/>
                <a:ea typeface="Calibri" pitchFamily="34" charset="-122"/>
                <a:cs typeface="Calibri" pitchFamily="34" charset="-120"/>
              </a:rPr>
              <a:t>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332720" cy="566928"/>
          </a:xfrm>
          <a:prstGeom prst="rect">
            <a:avLst/>
          </a:prstGeom>
          <a:noFill/>
          <a:ln/>
        </p:spPr>
        <p:txBody>
          <a:bodyPr wrap="square" lIns="0" tIns="0" rIns="0" bIns="0" rtlCol="0" anchor="ctr"/>
          <a:lstStyle/>
          <a:p>
            <a:pPr marL="0" indent="0">
              <a:buNone/>
            </a:pPr>
            <a:r>
              <a:rPr lang="en-US" sz="3000" b="1" dirty="0">
                <a:solidFill>
                  <a:srgbClr val="0B0C0E"/>
                </a:solidFill>
                <a:latin typeface="Calibri" pitchFamily="34" charset="0"/>
                <a:ea typeface="Calibri" pitchFamily="34" charset="-122"/>
                <a:cs typeface="Calibri" pitchFamily="34" charset="-120"/>
              </a:rPr>
              <a:t>Introduction</a:t>
            </a:r>
            <a:endParaRPr lang="en-US" sz="3000" dirty="0"/>
          </a:p>
        </p:txBody>
      </p:sp>
      <p:sp>
        <p:nvSpPr>
          <p:cNvPr id="3" name="Text 1"/>
          <p:cNvSpPr/>
          <p:nvPr/>
        </p:nvSpPr>
        <p:spPr>
          <a:xfrm>
            <a:off x="548640" y="969264"/>
            <a:ext cx="10058400" cy="292608"/>
          </a:xfrm>
          <a:prstGeom prst="rect">
            <a:avLst/>
          </a:prstGeom>
          <a:noFill/>
          <a:ln/>
        </p:spPr>
        <p:txBody>
          <a:bodyPr wrap="square" lIns="0" tIns="0" rIns="0" bIns="0" rtlCol="0" anchor="ctr"/>
          <a:lstStyle/>
          <a:p>
            <a:pPr marL="0" indent="0">
              <a:buNone/>
            </a:pPr>
            <a:r>
              <a:rPr lang="en-US" sz="1400" dirty="0">
                <a:solidFill>
                  <a:srgbClr val="6B7280"/>
                </a:solidFill>
                <a:latin typeface="Calibri" pitchFamily="34" charset="0"/>
                <a:ea typeface="Calibri" pitchFamily="34" charset="-122"/>
                <a:cs typeface="Calibri" pitchFamily="34" charset="-120"/>
              </a:rPr>
              <a:t>From rules, to machine learning, to the network</a:t>
            </a:r>
            <a:endParaRPr lang="en-US" sz="1400" dirty="0"/>
          </a:p>
        </p:txBody>
      </p:sp>
      <p:sp>
        <p:nvSpPr>
          <p:cNvPr id="4" name="Shape 2"/>
          <p:cNvSpPr/>
          <p:nvPr/>
        </p:nvSpPr>
        <p:spPr>
          <a:xfrm>
            <a:off x="548640" y="1645920"/>
            <a:ext cx="457200" cy="457200"/>
          </a:xfrm>
          <a:prstGeom prst="ellipse">
            <a:avLst/>
          </a:prstGeom>
          <a:solidFill>
            <a:srgbClr val="6B7280"/>
          </a:solidFill>
          <a:ln/>
        </p:spPr>
      </p:sp>
      <p:sp>
        <p:nvSpPr>
          <p:cNvPr id="5" name="Text 3"/>
          <p:cNvSpPr/>
          <p:nvPr/>
        </p:nvSpPr>
        <p:spPr>
          <a:xfrm>
            <a:off x="548640" y="164592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234440" y="1581912"/>
            <a:ext cx="9509760" cy="320040"/>
          </a:xfrm>
          <a:prstGeom prst="rect">
            <a:avLst/>
          </a:prstGeom>
          <a:noFill/>
          <a:ln/>
        </p:spPr>
        <p:txBody>
          <a:bodyPr wrap="square" lIns="0" tIns="0" rIns="0" bIns="0" rtlCol="0" anchor="ctr"/>
          <a:lstStyle/>
          <a:p>
            <a:pPr marL="0" indent="0">
              <a:buNone/>
            </a:pPr>
            <a:r>
              <a:rPr lang="en-US" sz="1700" b="1" dirty="0">
                <a:solidFill>
                  <a:srgbClr val="0B0C0E"/>
                </a:solidFill>
                <a:latin typeface="Calibri" pitchFamily="34" charset="0"/>
                <a:ea typeface="Calibri" pitchFamily="34" charset="-122"/>
                <a:cs typeface="Calibri" pitchFamily="34" charset="-120"/>
              </a:rPr>
              <a:t>Rule-based screening</a:t>
            </a:r>
            <a:endParaRPr lang="en-US" sz="1700" dirty="0"/>
          </a:p>
        </p:txBody>
      </p:sp>
      <p:sp>
        <p:nvSpPr>
          <p:cNvPr id="7" name="Text 5"/>
          <p:cNvSpPr/>
          <p:nvPr/>
        </p:nvSpPr>
        <p:spPr>
          <a:xfrm>
            <a:off x="1234440" y="1947672"/>
            <a:ext cx="9509760" cy="868680"/>
          </a:xfrm>
          <a:prstGeom prst="rect">
            <a:avLst/>
          </a:prstGeom>
          <a:noFill/>
          <a:ln/>
        </p:spPr>
        <p:txBody>
          <a:bodyPr wrap="square" lIns="0" tIns="0" rIns="0" bIns="0" rtlCol="0" anchor="ctr"/>
          <a:lstStyle/>
          <a:p>
            <a:pPr marL="0" indent="0">
              <a:lnSpc>
                <a:spcPts val="1800"/>
              </a:lnSpc>
              <a:buNone/>
            </a:pPr>
            <a:r>
              <a:rPr lang="en-US" sz="1300" dirty="0">
                <a:solidFill>
                  <a:srgbClr val="6B7280"/>
                </a:solidFill>
                <a:latin typeface="Calibri" pitchFamily="34" charset="0"/>
                <a:ea typeface="Calibri" pitchFamily="34" charset="-122"/>
                <a:cs typeface="Calibri" pitchFamily="34" charset="-120"/>
              </a:rPr>
              <a:t>Hand-written conditions flag transactions above a threshold. Transparent, but brittle: it only catches what someone already thought of, floods analysts with false alarms, and criminals learn to structure activity just below the limits.</a:t>
            </a:r>
            <a:endParaRPr lang="en-US" sz="1300" dirty="0"/>
          </a:p>
        </p:txBody>
      </p:sp>
      <p:sp>
        <p:nvSpPr>
          <p:cNvPr id="8" name="Shape 6"/>
          <p:cNvSpPr/>
          <p:nvPr/>
        </p:nvSpPr>
        <p:spPr>
          <a:xfrm>
            <a:off x="548640" y="3108960"/>
            <a:ext cx="457200" cy="457200"/>
          </a:xfrm>
          <a:prstGeom prst="ellipse">
            <a:avLst/>
          </a:prstGeom>
          <a:solidFill>
            <a:srgbClr val="E0870B"/>
          </a:solidFill>
          <a:ln/>
        </p:spPr>
      </p:sp>
      <p:sp>
        <p:nvSpPr>
          <p:cNvPr id="9" name="Text 7"/>
          <p:cNvSpPr/>
          <p:nvPr/>
        </p:nvSpPr>
        <p:spPr>
          <a:xfrm>
            <a:off x="548640" y="310896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0" name="Text 8"/>
          <p:cNvSpPr/>
          <p:nvPr/>
        </p:nvSpPr>
        <p:spPr>
          <a:xfrm>
            <a:off x="1234440" y="3044952"/>
            <a:ext cx="9509760" cy="320040"/>
          </a:xfrm>
          <a:prstGeom prst="rect">
            <a:avLst/>
          </a:prstGeom>
          <a:noFill/>
          <a:ln/>
        </p:spPr>
        <p:txBody>
          <a:bodyPr wrap="square" lIns="0" tIns="0" rIns="0" bIns="0" rtlCol="0" anchor="ctr"/>
          <a:lstStyle/>
          <a:p>
            <a:pPr marL="0" indent="0">
              <a:buNone/>
            </a:pPr>
            <a:r>
              <a:rPr lang="en-US" sz="1700" b="1" dirty="0">
                <a:solidFill>
                  <a:srgbClr val="0B0C0E"/>
                </a:solidFill>
                <a:latin typeface="Calibri" pitchFamily="34" charset="0"/>
                <a:ea typeface="Calibri" pitchFamily="34" charset="-122"/>
                <a:cs typeface="Calibri" pitchFamily="34" charset="-120"/>
              </a:rPr>
              <a:t>Machine learning</a:t>
            </a:r>
            <a:endParaRPr lang="en-US" sz="1700" dirty="0"/>
          </a:p>
        </p:txBody>
      </p:sp>
      <p:sp>
        <p:nvSpPr>
          <p:cNvPr id="11" name="Text 9"/>
          <p:cNvSpPr/>
          <p:nvPr/>
        </p:nvSpPr>
        <p:spPr>
          <a:xfrm>
            <a:off x="1234440" y="3410712"/>
            <a:ext cx="9509760" cy="868680"/>
          </a:xfrm>
          <a:prstGeom prst="rect">
            <a:avLst/>
          </a:prstGeom>
          <a:noFill/>
          <a:ln/>
        </p:spPr>
        <p:txBody>
          <a:bodyPr wrap="square" lIns="0" tIns="0" rIns="0" bIns="0" rtlCol="0" anchor="ctr"/>
          <a:lstStyle/>
          <a:p>
            <a:pPr marL="0" indent="0">
              <a:lnSpc>
                <a:spcPts val="1800"/>
              </a:lnSpc>
              <a:buNone/>
            </a:pPr>
            <a:r>
              <a:rPr lang="en-US" sz="1300" dirty="0">
                <a:solidFill>
                  <a:srgbClr val="6B7280"/>
                </a:solidFill>
                <a:latin typeface="Calibri" pitchFamily="34" charset="0"/>
                <a:ea typeface="Calibri" pitchFamily="34" charset="-122"/>
                <a:cs typeface="Calibri" pitchFamily="34" charset="-120"/>
              </a:rPr>
              <a:t>A classifier learns the signature of illicit activity from labelled history instead of fixed rules. Stronger, but the standard formulation judges each transaction alone.</a:t>
            </a:r>
            <a:endParaRPr lang="en-US" sz="1300" dirty="0"/>
          </a:p>
        </p:txBody>
      </p:sp>
      <p:sp>
        <p:nvSpPr>
          <p:cNvPr id="12" name="Shape 10"/>
          <p:cNvSpPr/>
          <p:nvPr/>
        </p:nvSpPr>
        <p:spPr>
          <a:xfrm>
            <a:off x="548640" y="4572000"/>
            <a:ext cx="457200" cy="457200"/>
          </a:xfrm>
          <a:prstGeom prst="ellipse">
            <a:avLst/>
          </a:prstGeom>
          <a:solidFill>
            <a:srgbClr val="2B44E8"/>
          </a:solidFill>
          <a:ln/>
        </p:spPr>
      </p:sp>
      <p:sp>
        <p:nvSpPr>
          <p:cNvPr id="13" name="Text 11"/>
          <p:cNvSpPr/>
          <p:nvPr/>
        </p:nvSpPr>
        <p:spPr>
          <a:xfrm>
            <a:off x="548640" y="457200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4" name="Text 12"/>
          <p:cNvSpPr/>
          <p:nvPr/>
        </p:nvSpPr>
        <p:spPr>
          <a:xfrm>
            <a:off x="1234440" y="4507992"/>
            <a:ext cx="9509760" cy="320040"/>
          </a:xfrm>
          <a:prstGeom prst="rect">
            <a:avLst/>
          </a:prstGeom>
          <a:noFill/>
          <a:ln/>
        </p:spPr>
        <p:txBody>
          <a:bodyPr wrap="square" lIns="0" tIns="0" rIns="0" bIns="0" rtlCol="0" anchor="ctr"/>
          <a:lstStyle/>
          <a:p>
            <a:pPr marL="0" indent="0">
              <a:buNone/>
            </a:pPr>
            <a:r>
              <a:rPr lang="en-US" sz="1700" b="1" dirty="0">
                <a:solidFill>
                  <a:srgbClr val="0B0C0E"/>
                </a:solidFill>
                <a:latin typeface="Calibri" pitchFamily="34" charset="0"/>
                <a:ea typeface="Calibri" pitchFamily="34" charset="-122"/>
                <a:cs typeface="Calibri" pitchFamily="34" charset="-120"/>
              </a:rPr>
              <a:t>Graph-based learning</a:t>
            </a:r>
            <a:endParaRPr lang="en-US" sz="1700" dirty="0"/>
          </a:p>
        </p:txBody>
      </p:sp>
      <p:sp>
        <p:nvSpPr>
          <p:cNvPr id="15" name="Text 13"/>
          <p:cNvSpPr/>
          <p:nvPr/>
        </p:nvSpPr>
        <p:spPr>
          <a:xfrm>
            <a:off x="1234440" y="4873752"/>
            <a:ext cx="9509760" cy="868680"/>
          </a:xfrm>
          <a:prstGeom prst="rect">
            <a:avLst/>
          </a:prstGeom>
          <a:noFill/>
          <a:ln/>
        </p:spPr>
        <p:txBody>
          <a:bodyPr wrap="square" lIns="0" tIns="0" rIns="0" bIns="0" rtlCol="0" anchor="ctr"/>
          <a:lstStyle/>
          <a:p>
            <a:pPr marL="0" indent="0">
              <a:lnSpc>
                <a:spcPts val="1800"/>
              </a:lnSpc>
              <a:buNone/>
            </a:pPr>
            <a:r>
              <a:rPr lang="en-US" sz="1300" dirty="0">
                <a:solidFill>
                  <a:srgbClr val="6B7280"/>
                </a:solidFill>
                <a:latin typeface="Calibri" pitchFamily="34" charset="0"/>
                <a:ea typeface="Calibri" pitchFamily="34" charset="-122"/>
                <a:cs typeface="Calibri" pitchFamily="34" charset="-120"/>
              </a:rPr>
              <a:t>Laundering is a network crime — funds are layered through chains of transfers so no single step looks unusual. A graph neural network reasons over those connections, not just the transaction's own attributes.</a:t>
            </a:r>
            <a:endParaRPr lang="en-US" sz="1300" dirty="0"/>
          </a:p>
        </p:txBody>
      </p:sp>
      <p:sp>
        <p:nvSpPr>
          <p:cNvPr id="16" name="Text 14"/>
          <p:cNvSpPr/>
          <p:nvPr/>
        </p:nvSpPr>
        <p:spPr>
          <a:xfrm>
            <a:off x="548640" y="5943600"/>
            <a:ext cx="10241280" cy="365760"/>
          </a:xfrm>
          <a:prstGeom prst="rect">
            <a:avLst/>
          </a:prstGeom>
          <a:noFill/>
          <a:ln/>
        </p:spPr>
        <p:txBody>
          <a:bodyPr wrap="square" lIns="0" tIns="0" rIns="0" bIns="0" rtlCol="0" anchor="ctr"/>
          <a:lstStyle/>
          <a:p>
            <a:pPr marL="0" indent="0">
              <a:buNone/>
            </a:pPr>
            <a:r>
              <a:rPr lang="en-US" sz="1400" b="1" dirty="0">
                <a:solidFill>
                  <a:srgbClr val="2B44E8"/>
                </a:solidFill>
                <a:latin typeface="Calibri" pitchFamily="34" charset="0"/>
                <a:ea typeface="Calibri" pitchFamily="34" charset="-122"/>
                <a:cs typeface="Calibri" pitchFamily="34" charset="-120"/>
              </a:rPr>
              <a:t>This project builds Tracer: a system that scores real Bitcoin transactions with both approaches and delivers the results to a human analyst.</a:t>
            </a:r>
            <a:endParaRPr lang="en-US" sz="1400" dirty="0"/>
          </a:p>
        </p:txBody>
      </p:sp>
      <p:pic>
        <p:nvPicPr>
          <p:cNvPr id="17" name="Image 0" descr="C:\Users\brigh\Downloads\crescent logo.jpg"/>
          <p:cNvPicPr>
            <a:picLocks noChangeAspect="1"/>
          </p:cNvPicPr>
          <p:nvPr/>
        </p:nvPicPr>
        <p:blipFill>
          <a:blip r:embed="rId3"/>
          <a:stretch>
            <a:fillRect/>
          </a:stretch>
        </p:blipFill>
        <p:spPr>
          <a:xfrm>
            <a:off x="11155680" y="292608"/>
            <a:ext cx="685800" cy="536753"/>
          </a:xfrm>
          <a:prstGeom prst="rect">
            <a:avLst/>
          </a:prstGeom>
        </p:spPr>
      </p:pic>
      <p:sp>
        <p:nvSpPr>
          <p:cNvPr id="18" name="Text 15"/>
          <p:cNvSpPr/>
          <p:nvPr/>
        </p:nvSpPr>
        <p:spPr>
          <a:xfrm>
            <a:off x="11155680" y="6327648"/>
            <a:ext cx="685800" cy="274320"/>
          </a:xfrm>
          <a:prstGeom prst="rect">
            <a:avLst/>
          </a:prstGeom>
          <a:noFill/>
          <a:ln/>
        </p:spPr>
        <p:txBody>
          <a:bodyPr wrap="square" rtlCol="0" anchor="ctr"/>
          <a:lstStyle/>
          <a:p>
            <a:pPr marL="0" indent="0" algn="r">
              <a:buNone/>
            </a:pPr>
            <a:r>
              <a:rPr lang="en-US" sz="1100" dirty="0">
                <a:solidFill>
                  <a:srgbClr val="6B7280"/>
                </a:solidFill>
                <a:latin typeface="Calibri" pitchFamily="34" charset="0"/>
                <a:ea typeface="Calibri" pitchFamily="34" charset="-122"/>
                <a:cs typeface="Calibri"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332720" cy="566928"/>
          </a:xfrm>
          <a:prstGeom prst="rect">
            <a:avLst/>
          </a:prstGeom>
          <a:noFill/>
          <a:ln/>
        </p:spPr>
        <p:txBody>
          <a:bodyPr wrap="square" lIns="0" tIns="0" rIns="0" bIns="0" rtlCol="0" anchor="ctr"/>
          <a:lstStyle/>
          <a:p>
            <a:pPr marL="0" indent="0">
              <a:buNone/>
            </a:pPr>
            <a:r>
              <a:rPr lang="en-US" sz="3000" b="1" dirty="0">
                <a:solidFill>
                  <a:srgbClr val="0B0C0E"/>
                </a:solidFill>
                <a:latin typeface="Calibri" pitchFamily="34" charset="0"/>
                <a:ea typeface="Calibri" pitchFamily="34" charset="-122"/>
                <a:cs typeface="Calibri" pitchFamily="34" charset="-120"/>
              </a:rPr>
              <a:t>Statement of the Problem</a:t>
            </a:r>
            <a:endParaRPr lang="en-US" sz="3000" dirty="0"/>
          </a:p>
        </p:txBody>
      </p:sp>
      <p:sp>
        <p:nvSpPr>
          <p:cNvPr id="3" name="Shape 1"/>
          <p:cNvSpPr/>
          <p:nvPr/>
        </p:nvSpPr>
        <p:spPr>
          <a:xfrm>
            <a:off x="548640" y="1188720"/>
            <a:ext cx="10241280" cy="1115568"/>
          </a:xfrm>
          <a:prstGeom prst="roundRect">
            <a:avLst>
              <a:gd name="adj" fmla="val 6557"/>
            </a:avLst>
          </a:prstGeom>
          <a:solidFill>
            <a:srgbClr val="FFFFFF"/>
          </a:solidFill>
          <a:ln w="12700">
            <a:solidFill>
              <a:srgbClr val="E6E4E0"/>
            </a:solidFill>
            <a:prstDash val="solid"/>
          </a:ln>
          <a:effectLst>
            <a:outerShdw blurRad="101600" dist="12700" dir="5400000" algn="bl" rotWithShape="0">
              <a:srgbClr val="9AA0AA">
                <a:alpha val="18000"/>
              </a:srgbClr>
            </a:outerShdw>
          </a:effectLst>
        </p:spPr>
      </p:sp>
      <p:sp>
        <p:nvSpPr>
          <p:cNvPr id="4" name="Shape 2"/>
          <p:cNvSpPr/>
          <p:nvPr/>
        </p:nvSpPr>
        <p:spPr>
          <a:xfrm>
            <a:off x="822960" y="1481328"/>
            <a:ext cx="384048" cy="384048"/>
          </a:xfrm>
          <a:prstGeom prst="roundRect">
            <a:avLst>
              <a:gd name="adj" fmla="val 14286"/>
            </a:avLst>
          </a:prstGeom>
          <a:solidFill>
            <a:srgbClr val="E5484D"/>
          </a:solidFill>
          <a:ln/>
        </p:spPr>
      </p:sp>
      <p:sp>
        <p:nvSpPr>
          <p:cNvPr id="5" name="Text 3"/>
          <p:cNvSpPr/>
          <p:nvPr/>
        </p:nvSpPr>
        <p:spPr>
          <a:xfrm>
            <a:off x="822960" y="1481328"/>
            <a:ext cx="384048" cy="384048"/>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6" name="Text 4"/>
          <p:cNvSpPr/>
          <p:nvPr/>
        </p:nvSpPr>
        <p:spPr>
          <a:xfrm>
            <a:off x="1417320" y="1353312"/>
            <a:ext cx="9144000" cy="292608"/>
          </a:xfrm>
          <a:prstGeom prst="rect">
            <a:avLst/>
          </a:prstGeom>
          <a:noFill/>
          <a:ln/>
        </p:spPr>
        <p:txBody>
          <a:bodyPr wrap="square" lIns="0" tIns="0" rIns="0" bIns="0" rtlCol="0" anchor="ctr"/>
          <a:lstStyle/>
          <a:p>
            <a:pPr marL="0" indent="0">
              <a:buNone/>
            </a:pPr>
            <a:r>
              <a:rPr lang="en-US" sz="1600" b="1" dirty="0">
                <a:solidFill>
                  <a:srgbClr val="0B0C0E"/>
                </a:solidFill>
                <a:latin typeface="Calibri" pitchFamily="34" charset="0"/>
                <a:ea typeface="Calibri" pitchFamily="34" charset="-122"/>
                <a:cs typeface="Calibri" pitchFamily="34" charset="-120"/>
              </a:rPr>
              <a:t>Volume defeats manual review</a:t>
            </a:r>
            <a:endParaRPr lang="en-US" sz="1600" dirty="0"/>
          </a:p>
        </p:txBody>
      </p:sp>
      <p:sp>
        <p:nvSpPr>
          <p:cNvPr id="7" name="Text 5"/>
          <p:cNvSpPr/>
          <p:nvPr/>
        </p:nvSpPr>
        <p:spPr>
          <a:xfrm>
            <a:off x="1417320" y="1700784"/>
            <a:ext cx="9144000" cy="502920"/>
          </a:xfrm>
          <a:prstGeom prst="rect">
            <a:avLst/>
          </a:prstGeom>
          <a:noFill/>
          <a:ln/>
        </p:spPr>
        <p:txBody>
          <a:bodyPr wrap="square" lIns="0" tIns="0" rIns="0" bIns="0" rtlCol="0" anchor="ctr"/>
          <a:lstStyle/>
          <a:p>
            <a:pPr marL="0" indent="0">
              <a:lnSpc>
                <a:spcPts val="1700"/>
              </a:lnSpc>
              <a:buNone/>
            </a:pPr>
            <a:r>
              <a:rPr lang="en-US" sz="1250" dirty="0">
                <a:solidFill>
                  <a:srgbClr val="6B7280"/>
                </a:solidFill>
                <a:latin typeface="Calibri" pitchFamily="34" charset="0"/>
                <a:ea typeface="Calibri" pitchFamily="34" charset="-122"/>
                <a:cs typeface="Calibri" pitchFamily="34" charset="-120"/>
              </a:rPr>
              <a:t>Hundreds of thousands of Bitcoin transactions are recorded daily. No team of analysts can inspect them by hand.</a:t>
            </a:r>
            <a:endParaRPr lang="en-US" sz="1250" dirty="0"/>
          </a:p>
        </p:txBody>
      </p:sp>
      <p:sp>
        <p:nvSpPr>
          <p:cNvPr id="8" name="Shape 6"/>
          <p:cNvSpPr/>
          <p:nvPr/>
        </p:nvSpPr>
        <p:spPr>
          <a:xfrm>
            <a:off x="548640" y="2487168"/>
            <a:ext cx="10241280" cy="1115568"/>
          </a:xfrm>
          <a:prstGeom prst="roundRect">
            <a:avLst>
              <a:gd name="adj" fmla="val 6557"/>
            </a:avLst>
          </a:prstGeom>
          <a:solidFill>
            <a:srgbClr val="FFFFFF"/>
          </a:solidFill>
          <a:ln w="12700">
            <a:solidFill>
              <a:srgbClr val="E6E4E0"/>
            </a:solidFill>
            <a:prstDash val="solid"/>
          </a:ln>
          <a:effectLst>
            <a:outerShdw blurRad="101600" dist="12700" dir="5400000" algn="bl" rotWithShape="0">
              <a:srgbClr val="9AA0AA">
                <a:alpha val="18000"/>
              </a:srgbClr>
            </a:outerShdw>
          </a:effectLst>
        </p:spPr>
      </p:sp>
      <p:sp>
        <p:nvSpPr>
          <p:cNvPr id="9" name="Shape 7"/>
          <p:cNvSpPr/>
          <p:nvPr/>
        </p:nvSpPr>
        <p:spPr>
          <a:xfrm>
            <a:off x="822960" y="2779776"/>
            <a:ext cx="384048" cy="384048"/>
          </a:xfrm>
          <a:prstGeom prst="roundRect">
            <a:avLst>
              <a:gd name="adj" fmla="val 14286"/>
            </a:avLst>
          </a:prstGeom>
          <a:solidFill>
            <a:srgbClr val="E5484D"/>
          </a:solidFill>
          <a:ln/>
        </p:spPr>
      </p:sp>
      <p:sp>
        <p:nvSpPr>
          <p:cNvPr id="10" name="Text 8"/>
          <p:cNvSpPr/>
          <p:nvPr/>
        </p:nvSpPr>
        <p:spPr>
          <a:xfrm>
            <a:off x="822960" y="2779776"/>
            <a:ext cx="384048" cy="384048"/>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11" name="Text 9"/>
          <p:cNvSpPr/>
          <p:nvPr/>
        </p:nvSpPr>
        <p:spPr>
          <a:xfrm>
            <a:off x="1417320" y="2651760"/>
            <a:ext cx="9144000" cy="292608"/>
          </a:xfrm>
          <a:prstGeom prst="rect">
            <a:avLst/>
          </a:prstGeom>
          <a:noFill/>
          <a:ln/>
        </p:spPr>
        <p:txBody>
          <a:bodyPr wrap="square" lIns="0" tIns="0" rIns="0" bIns="0" rtlCol="0" anchor="ctr"/>
          <a:lstStyle/>
          <a:p>
            <a:pPr marL="0" indent="0">
              <a:buNone/>
            </a:pPr>
            <a:r>
              <a:rPr lang="en-US" sz="1600" b="1" dirty="0">
                <a:solidFill>
                  <a:srgbClr val="0B0C0E"/>
                </a:solidFill>
                <a:latin typeface="Calibri" pitchFamily="34" charset="0"/>
                <a:ea typeface="Calibri" pitchFamily="34" charset="-122"/>
                <a:cs typeface="Calibri" pitchFamily="34" charset="-120"/>
              </a:rPr>
              <a:t>Rules produce noise and are evaded</a:t>
            </a:r>
            <a:endParaRPr lang="en-US" sz="1600" dirty="0"/>
          </a:p>
        </p:txBody>
      </p:sp>
      <p:sp>
        <p:nvSpPr>
          <p:cNvPr id="12" name="Text 10"/>
          <p:cNvSpPr/>
          <p:nvPr/>
        </p:nvSpPr>
        <p:spPr>
          <a:xfrm>
            <a:off x="1417320" y="2999232"/>
            <a:ext cx="9144000" cy="502920"/>
          </a:xfrm>
          <a:prstGeom prst="rect">
            <a:avLst/>
          </a:prstGeom>
          <a:noFill/>
          <a:ln/>
        </p:spPr>
        <p:txBody>
          <a:bodyPr wrap="square" lIns="0" tIns="0" rIns="0" bIns="0" rtlCol="0" anchor="ctr"/>
          <a:lstStyle/>
          <a:p>
            <a:pPr marL="0" indent="0">
              <a:lnSpc>
                <a:spcPts val="1700"/>
              </a:lnSpc>
              <a:buNone/>
            </a:pPr>
            <a:r>
              <a:rPr lang="en-US" sz="1250" dirty="0">
                <a:solidFill>
                  <a:srgbClr val="6B7280"/>
                </a:solidFill>
                <a:latin typeface="Calibri" pitchFamily="34" charset="0"/>
                <a:ea typeface="Calibri" pitchFamily="34" charset="-122"/>
                <a:cs typeface="Calibri" pitchFamily="34" charset="-120"/>
              </a:rPr>
              <a:t>Fixed thresholds generate large volumes of false alarms that consume analyst capacity, and adversaries structure activity to stay just below them.</a:t>
            </a:r>
            <a:endParaRPr lang="en-US" sz="1250" dirty="0"/>
          </a:p>
        </p:txBody>
      </p:sp>
      <p:sp>
        <p:nvSpPr>
          <p:cNvPr id="13" name="Shape 11"/>
          <p:cNvSpPr/>
          <p:nvPr/>
        </p:nvSpPr>
        <p:spPr>
          <a:xfrm>
            <a:off x="548640" y="3785616"/>
            <a:ext cx="10241280" cy="1115568"/>
          </a:xfrm>
          <a:prstGeom prst="roundRect">
            <a:avLst>
              <a:gd name="adj" fmla="val 6557"/>
            </a:avLst>
          </a:prstGeom>
          <a:solidFill>
            <a:srgbClr val="FFFFFF"/>
          </a:solidFill>
          <a:ln w="12700">
            <a:solidFill>
              <a:srgbClr val="E6E4E0"/>
            </a:solidFill>
            <a:prstDash val="solid"/>
          </a:ln>
          <a:effectLst>
            <a:outerShdw blurRad="101600" dist="12700" dir="5400000" algn="bl" rotWithShape="0">
              <a:srgbClr val="9AA0AA">
                <a:alpha val="18000"/>
              </a:srgbClr>
            </a:outerShdw>
          </a:effectLst>
        </p:spPr>
      </p:sp>
      <p:sp>
        <p:nvSpPr>
          <p:cNvPr id="14" name="Shape 12"/>
          <p:cNvSpPr/>
          <p:nvPr/>
        </p:nvSpPr>
        <p:spPr>
          <a:xfrm>
            <a:off x="822960" y="4078224"/>
            <a:ext cx="384048" cy="384048"/>
          </a:xfrm>
          <a:prstGeom prst="roundRect">
            <a:avLst>
              <a:gd name="adj" fmla="val 14286"/>
            </a:avLst>
          </a:prstGeom>
          <a:solidFill>
            <a:srgbClr val="E5484D"/>
          </a:solidFill>
          <a:ln/>
        </p:spPr>
      </p:sp>
      <p:sp>
        <p:nvSpPr>
          <p:cNvPr id="15" name="Text 13"/>
          <p:cNvSpPr/>
          <p:nvPr/>
        </p:nvSpPr>
        <p:spPr>
          <a:xfrm>
            <a:off x="822960" y="4078224"/>
            <a:ext cx="384048" cy="384048"/>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16" name="Text 14"/>
          <p:cNvSpPr/>
          <p:nvPr/>
        </p:nvSpPr>
        <p:spPr>
          <a:xfrm>
            <a:off x="1417320" y="3950208"/>
            <a:ext cx="9144000" cy="292608"/>
          </a:xfrm>
          <a:prstGeom prst="rect">
            <a:avLst/>
          </a:prstGeom>
          <a:noFill/>
          <a:ln/>
        </p:spPr>
        <p:txBody>
          <a:bodyPr wrap="square" lIns="0" tIns="0" rIns="0" bIns="0" rtlCol="0" anchor="ctr"/>
          <a:lstStyle/>
          <a:p>
            <a:pPr marL="0" indent="0">
              <a:buNone/>
            </a:pPr>
            <a:r>
              <a:rPr lang="en-US" sz="1600" b="1" dirty="0">
                <a:solidFill>
                  <a:srgbClr val="0B0C0E"/>
                </a:solidFill>
                <a:latin typeface="Calibri" pitchFamily="34" charset="0"/>
                <a:ea typeface="Calibri" pitchFamily="34" charset="-122"/>
                <a:cs typeface="Calibri" pitchFamily="34" charset="-120"/>
              </a:rPr>
              <a:t>Isolated-transaction models are blind to the crime</a:t>
            </a:r>
            <a:endParaRPr lang="en-US" sz="1600" dirty="0"/>
          </a:p>
        </p:txBody>
      </p:sp>
      <p:sp>
        <p:nvSpPr>
          <p:cNvPr id="17" name="Text 15"/>
          <p:cNvSpPr/>
          <p:nvPr/>
        </p:nvSpPr>
        <p:spPr>
          <a:xfrm>
            <a:off x="1417320" y="4297680"/>
            <a:ext cx="9144000" cy="502920"/>
          </a:xfrm>
          <a:prstGeom prst="rect">
            <a:avLst/>
          </a:prstGeom>
          <a:noFill/>
          <a:ln/>
        </p:spPr>
        <p:txBody>
          <a:bodyPr wrap="square" lIns="0" tIns="0" rIns="0" bIns="0" rtlCol="0" anchor="ctr"/>
          <a:lstStyle/>
          <a:p>
            <a:pPr marL="0" indent="0">
              <a:lnSpc>
                <a:spcPts val="1700"/>
              </a:lnSpc>
              <a:buNone/>
            </a:pPr>
            <a:r>
              <a:rPr lang="en-US" sz="1250" dirty="0">
                <a:solidFill>
                  <a:srgbClr val="6B7280"/>
                </a:solidFill>
                <a:latin typeface="Calibri" pitchFamily="34" charset="0"/>
                <a:ea typeface="Calibri" pitchFamily="34" charset="-122"/>
                <a:cs typeface="Calibri" pitchFamily="34" charset="-120"/>
              </a:rPr>
              <a:t>Classifying each transaction on its own attributes discards the layering structure through which laundering is actually executed.</a:t>
            </a:r>
            <a:endParaRPr lang="en-US" sz="1250" dirty="0"/>
          </a:p>
        </p:txBody>
      </p:sp>
      <p:sp>
        <p:nvSpPr>
          <p:cNvPr id="18" name="Shape 16"/>
          <p:cNvSpPr/>
          <p:nvPr/>
        </p:nvSpPr>
        <p:spPr>
          <a:xfrm>
            <a:off x="548640" y="5138928"/>
            <a:ext cx="10241280" cy="1051560"/>
          </a:xfrm>
          <a:prstGeom prst="roundRect">
            <a:avLst>
              <a:gd name="adj" fmla="val 6957"/>
            </a:avLst>
          </a:prstGeom>
          <a:solidFill>
            <a:srgbClr val="EEF1FE"/>
          </a:solidFill>
          <a:ln w="12700">
            <a:solidFill>
              <a:srgbClr val="E6E4E0"/>
            </a:solidFill>
            <a:prstDash val="solid"/>
          </a:ln>
          <a:effectLst>
            <a:outerShdw blurRad="101600" dist="12700" dir="5400000" algn="bl" rotWithShape="0">
              <a:srgbClr val="9AA0AA">
                <a:alpha val="18000"/>
              </a:srgbClr>
            </a:outerShdw>
          </a:effectLst>
        </p:spPr>
      </p:sp>
      <p:sp>
        <p:nvSpPr>
          <p:cNvPr id="19" name="Text 17"/>
          <p:cNvSpPr/>
          <p:nvPr/>
        </p:nvSpPr>
        <p:spPr>
          <a:xfrm>
            <a:off x="868680" y="5349240"/>
            <a:ext cx="9601200" cy="685800"/>
          </a:xfrm>
          <a:prstGeom prst="rect">
            <a:avLst/>
          </a:prstGeom>
          <a:noFill/>
          <a:ln/>
        </p:spPr>
        <p:txBody>
          <a:bodyPr wrap="square" lIns="0" tIns="0" rIns="0" bIns="0" rtlCol="0" anchor="ctr"/>
          <a:lstStyle/>
          <a:p>
            <a:pPr marL="0" indent="0">
              <a:lnSpc>
                <a:spcPts val="2000"/>
              </a:lnSpc>
              <a:buNone/>
            </a:pPr>
            <a:r>
              <a:rPr lang="en-US" sz="1400" b="1" dirty="0">
                <a:solidFill>
                  <a:srgbClr val="2B44E8"/>
                </a:solidFill>
                <a:latin typeface="Calibri" pitchFamily="34" charset="0"/>
                <a:ea typeface="Calibri" pitchFamily="34" charset="-122"/>
                <a:cs typeface="Calibri" pitchFamily="34" charset="-120"/>
              </a:rPr>
              <a:t>What is needed:  </a:t>
            </a:r>
            <a:r>
              <a:rPr lang="en-US" sz="1400" dirty="0">
                <a:solidFill>
                  <a:srgbClr val="0B0C0E"/>
                </a:solidFill>
                <a:latin typeface="Calibri" pitchFamily="34" charset="0"/>
                <a:ea typeface="Calibri" pitchFamily="34" charset="-122"/>
                <a:cs typeface="Calibri" pitchFamily="34" charset="-120"/>
              </a:rPr>
              <a:t>a system that learns from data rather than fixed rules, incorporates the transaction network into its reasoning, screens every transaction automatically, and explains its decisions so analysts can act on them.</a:t>
            </a:r>
            <a:endParaRPr lang="en-US" sz="1400" dirty="0"/>
          </a:p>
        </p:txBody>
      </p:sp>
      <p:pic>
        <p:nvPicPr>
          <p:cNvPr id="20" name="Image 0" descr="C:\Users\brigh\Downloads\crescent logo.jpg"/>
          <p:cNvPicPr>
            <a:picLocks noChangeAspect="1"/>
          </p:cNvPicPr>
          <p:nvPr/>
        </p:nvPicPr>
        <p:blipFill>
          <a:blip r:embed="rId3"/>
          <a:stretch>
            <a:fillRect/>
          </a:stretch>
        </p:blipFill>
        <p:spPr>
          <a:xfrm>
            <a:off x="11155680" y="292608"/>
            <a:ext cx="685800" cy="536753"/>
          </a:xfrm>
          <a:prstGeom prst="rect">
            <a:avLst/>
          </a:prstGeom>
        </p:spPr>
      </p:pic>
      <p:sp>
        <p:nvSpPr>
          <p:cNvPr id="21" name="Text 18"/>
          <p:cNvSpPr/>
          <p:nvPr/>
        </p:nvSpPr>
        <p:spPr>
          <a:xfrm>
            <a:off x="11155680" y="6327648"/>
            <a:ext cx="685800" cy="274320"/>
          </a:xfrm>
          <a:prstGeom prst="rect">
            <a:avLst/>
          </a:prstGeom>
          <a:noFill/>
          <a:ln/>
        </p:spPr>
        <p:txBody>
          <a:bodyPr wrap="square" rtlCol="0" anchor="ctr"/>
          <a:lstStyle/>
          <a:p>
            <a:pPr marL="0" indent="0" algn="r">
              <a:buNone/>
            </a:pPr>
            <a:r>
              <a:rPr lang="en-US" sz="1100" dirty="0">
                <a:solidFill>
                  <a:srgbClr val="6B7280"/>
                </a:solidFill>
                <a:latin typeface="Calibri" pitchFamily="34" charset="0"/>
                <a:ea typeface="Calibri" pitchFamily="34" charset="-122"/>
                <a:cs typeface="Calibri"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332720" cy="566928"/>
          </a:xfrm>
          <a:prstGeom prst="rect">
            <a:avLst/>
          </a:prstGeom>
          <a:noFill/>
          <a:ln/>
        </p:spPr>
        <p:txBody>
          <a:bodyPr wrap="square" lIns="0" tIns="0" rIns="0" bIns="0" rtlCol="0" anchor="ctr"/>
          <a:lstStyle/>
          <a:p>
            <a:pPr marL="0" indent="0">
              <a:buNone/>
            </a:pPr>
            <a:r>
              <a:rPr lang="en-US" sz="3000" b="1" dirty="0">
                <a:solidFill>
                  <a:srgbClr val="0B0C0E"/>
                </a:solidFill>
                <a:latin typeface="Calibri" pitchFamily="34" charset="0"/>
                <a:ea typeface="Calibri" pitchFamily="34" charset="-122"/>
                <a:cs typeface="Calibri" pitchFamily="34" charset="-120"/>
              </a:rPr>
              <a:t>Aim and Objectives</a:t>
            </a:r>
            <a:endParaRPr lang="en-US" sz="3000" dirty="0"/>
          </a:p>
        </p:txBody>
      </p:sp>
      <p:sp>
        <p:nvSpPr>
          <p:cNvPr id="3" name="Shape 1"/>
          <p:cNvSpPr/>
          <p:nvPr/>
        </p:nvSpPr>
        <p:spPr>
          <a:xfrm>
            <a:off x="548640" y="1143000"/>
            <a:ext cx="10241280" cy="1051560"/>
          </a:xfrm>
          <a:prstGeom prst="roundRect">
            <a:avLst>
              <a:gd name="adj" fmla="val 6957"/>
            </a:avLst>
          </a:prstGeom>
          <a:solidFill>
            <a:srgbClr val="EEF1FE"/>
          </a:solidFill>
          <a:ln w="12700">
            <a:solidFill>
              <a:srgbClr val="E6E4E0"/>
            </a:solidFill>
            <a:prstDash val="solid"/>
          </a:ln>
          <a:effectLst>
            <a:outerShdw blurRad="101600" dist="12700" dir="5400000" algn="bl" rotWithShape="0">
              <a:srgbClr val="9AA0AA">
                <a:alpha val="18000"/>
              </a:srgbClr>
            </a:outerShdw>
          </a:effectLst>
        </p:spPr>
      </p:sp>
      <p:sp>
        <p:nvSpPr>
          <p:cNvPr id="4" name="Text 2"/>
          <p:cNvSpPr/>
          <p:nvPr/>
        </p:nvSpPr>
        <p:spPr>
          <a:xfrm>
            <a:off x="868680" y="1298448"/>
            <a:ext cx="1371600" cy="256032"/>
          </a:xfrm>
          <a:prstGeom prst="rect">
            <a:avLst/>
          </a:prstGeom>
          <a:noFill/>
          <a:ln/>
        </p:spPr>
        <p:txBody>
          <a:bodyPr wrap="square" lIns="0" tIns="0" rIns="0" bIns="0" rtlCol="0" anchor="ctr"/>
          <a:lstStyle/>
          <a:p>
            <a:pPr marL="0" indent="0">
              <a:buNone/>
            </a:pPr>
            <a:r>
              <a:rPr lang="en-US" sz="1100" b="1" kern="0" spc="150" dirty="0">
                <a:solidFill>
                  <a:srgbClr val="2B44E8"/>
                </a:solidFill>
                <a:latin typeface="Calibri" pitchFamily="34" charset="0"/>
                <a:ea typeface="Calibri" pitchFamily="34" charset="-122"/>
                <a:cs typeface="Calibri" pitchFamily="34" charset="-120"/>
              </a:rPr>
              <a:t>AIM</a:t>
            </a:r>
            <a:endParaRPr lang="en-US" sz="1100" dirty="0"/>
          </a:p>
        </p:txBody>
      </p:sp>
      <p:sp>
        <p:nvSpPr>
          <p:cNvPr id="5" name="Text 3"/>
          <p:cNvSpPr/>
          <p:nvPr/>
        </p:nvSpPr>
        <p:spPr>
          <a:xfrm>
            <a:off x="868680" y="1572768"/>
            <a:ext cx="9601200" cy="548640"/>
          </a:xfrm>
          <a:prstGeom prst="rect">
            <a:avLst/>
          </a:prstGeom>
          <a:noFill/>
          <a:ln/>
        </p:spPr>
        <p:txBody>
          <a:bodyPr wrap="square" lIns="0" tIns="0" rIns="0" bIns="0" rtlCol="0" anchor="ctr"/>
          <a:lstStyle/>
          <a:p>
            <a:pPr marL="0" indent="0">
              <a:lnSpc>
                <a:spcPts val="2000"/>
              </a:lnSpc>
              <a:buNone/>
            </a:pPr>
            <a:r>
              <a:rPr lang="en-US" sz="1450" dirty="0">
                <a:solidFill>
                  <a:srgbClr val="0B0C0E"/>
                </a:solidFill>
                <a:latin typeface="Calibri" pitchFamily="34" charset="0"/>
                <a:ea typeface="Calibri" pitchFamily="34" charset="-122"/>
                <a:cs typeface="Calibri" pitchFamily="34" charset="-120"/>
              </a:rPr>
              <a:t>To design and implement a machine learning-based financial fraud detection system that identifies illicit transactions in a real transaction network and supports analysts with automated screening, alerting and explainable results.</a:t>
            </a:r>
            <a:endParaRPr lang="en-US" sz="1450" dirty="0"/>
          </a:p>
        </p:txBody>
      </p:sp>
      <p:sp>
        <p:nvSpPr>
          <p:cNvPr id="6" name="Text 4"/>
          <p:cNvSpPr/>
          <p:nvPr/>
        </p:nvSpPr>
        <p:spPr>
          <a:xfrm>
            <a:off x="548640" y="2450592"/>
            <a:ext cx="2743200" cy="274320"/>
          </a:xfrm>
          <a:prstGeom prst="rect">
            <a:avLst/>
          </a:prstGeom>
          <a:noFill/>
          <a:ln/>
        </p:spPr>
        <p:txBody>
          <a:bodyPr wrap="square" lIns="0" tIns="0" rIns="0" bIns="0" rtlCol="0" anchor="ctr"/>
          <a:lstStyle/>
          <a:p>
            <a:pPr marL="0" indent="0">
              <a:buNone/>
            </a:pPr>
            <a:r>
              <a:rPr lang="en-US" sz="1100" b="1" kern="0" spc="150" dirty="0">
                <a:solidFill>
                  <a:srgbClr val="6B7280"/>
                </a:solidFill>
                <a:latin typeface="Calibri" pitchFamily="34" charset="0"/>
                <a:ea typeface="Calibri" pitchFamily="34" charset="-122"/>
                <a:cs typeface="Calibri" pitchFamily="34" charset="-120"/>
              </a:rPr>
              <a:t>OBJECTIVES</a:t>
            </a:r>
            <a:endParaRPr lang="en-US" sz="1100" dirty="0"/>
          </a:p>
        </p:txBody>
      </p:sp>
      <p:sp>
        <p:nvSpPr>
          <p:cNvPr id="7" name="Shape 5"/>
          <p:cNvSpPr/>
          <p:nvPr/>
        </p:nvSpPr>
        <p:spPr>
          <a:xfrm>
            <a:off x="548640" y="2889504"/>
            <a:ext cx="420624" cy="420624"/>
          </a:xfrm>
          <a:prstGeom prst="ellipse">
            <a:avLst/>
          </a:prstGeom>
          <a:solidFill>
            <a:srgbClr val="2B44E8"/>
          </a:solidFill>
          <a:ln/>
        </p:spPr>
      </p:sp>
      <p:sp>
        <p:nvSpPr>
          <p:cNvPr id="8" name="Text 6"/>
          <p:cNvSpPr/>
          <p:nvPr/>
        </p:nvSpPr>
        <p:spPr>
          <a:xfrm>
            <a:off x="548640" y="2889504"/>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p:nvPr/>
        </p:nvSpPr>
        <p:spPr>
          <a:xfrm>
            <a:off x="1188720" y="2816352"/>
            <a:ext cx="9601200" cy="292608"/>
          </a:xfrm>
          <a:prstGeom prst="rect">
            <a:avLst/>
          </a:prstGeom>
          <a:noFill/>
          <a:ln/>
        </p:spPr>
        <p:txBody>
          <a:bodyPr wrap="square" lIns="0" tIns="0" rIns="0" bIns="0" rtlCol="0" anchor="ctr"/>
          <a:lstStyle/>
          <a:p>
            <a:pPr marL="0" indent="0">
              <a:buNone/>
            </a:pPr>
            <a:r>
              <a:rPr lang="en-US" sz="1600" b="1" dirty="0">
                <a:solidFill>
                  <a:srgbClr val="0B0C0E"/>
                </a:solidFill>
                <a:latin typeface="Calibri" pitchFamily="34" charset="0"/>
                <a:ea typeface="Calibri" pitchFamily="34" charset="-122"/>
                <a:cs typeface="Calibri" pitchFamily="34" charset="-120"/>
              </a:rPr>
              <a:t>Exploratory analysis of the datasets</a:t>
            </a:r>
            <a:endParaRPr lang="en-US" sz="1600" dirty="0"/>
          </a:p>
        </p:txBody>
      </p:sp>
      <p:sp>
        <p:nvSpPr>
          <p:cNvPr id="10" name="Text 8"/>
          <p:cNvSpPr/>
          <p:nvPr/>
        </p:nvSpPr>
        <p:spPr>
          <a:xfrm>
            <a:off x="1188720" y="3145536"/>
            <a:ext cx="9601200" cy="731520"/>
          </a:xfrm>
          <a:prstGeom prst="rect">
            <a:avLst/>
          </a:prstGeom>
          <a:noFill/>
          <a:ln/>
        </p:spPr>
        <p:txBody>
          <a:bodyPr wrap="square" lIns="0" tIns="0" rIns="0" bIns="0" rtlCol="0" anchor="ctr"/>
          <a:lstStyle/>
          <a:p>
            <a:pPr marL="0" indent="0">
              <a:lnSpc>
                <a:spcPts val="1700"/>
              </a:lnSpc>
              <a:buNone/>
            </a:pPr>
            <a:r>
              <a:rPr lang="en-US" sz="1250" dirty="0">
                <a:solidFill>
                  <a:srgbClr val="6B7280"/>
                </a:solidFill>
                <a:latin typeface="Calibri" pitchFamily="34" charset="0"/>
                <a:ea typeface="Calibri" pitchFamily="34" charset="-122"/>
                <a:cs typeface="Calibri" pitchFamily="34" charset="-120"/>
              </a:rPr>
              <a:t>Profile the PaySim synthetic mobile-money dataset and the Elliptic Bitcoin transaction dataset: size, structure, feature composition, label distribution, graph connectivity, and any data quality problems.</a:t>
            </a:r>
            <a:endParaRPr lang="en-US" sz="1250" dirty="0"/>
          </a:p>
        </p:txBody>
      </p:sp>
      <p:sp>
        <p:nvSpPr>
          <p:cNvPr id="11" name="Shape 9"/>
          <p:cNvSpPr/>
          <p:nvPr/>
        </p:nvSpPr>
        <p:spPr>
          <a:xfrm>
            <a:off x="548640" y="4059936"/>
            <a:ext cx="420624" cy="420624"/>
          </a:xfrm>
          <a:prstGeom prst="ellipse">
            <a:avLst/>
          </a:prstGeom>
          <a:solidFill>
            <a:srgbClr val="2B44E8"/>
          </a:solidFill>
          <a:ln/>
        </p:spPr>
      </p:sp>
      <p:sp>
        <p:nvSpPr>
          <p:cNvPr id="12" name="Text 10"/>
          <p:cNvSpPr/>
          <p:nvPr/>
        </p:nvSpPr>
        <p:spPr>
          <a:xfrm>
            <a:off x="548640" y="4059936"/>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p:nvPr/>
        </p:nvSpPr>
        <p:spPr>
          <a:xfrm>
            <a:off x="1188720" y="3986784"/>
            <a:ext cx="9601200" cy="292608"/>
          </a:xfrm>
          <a:prstGeom prst="rect">
            <a:avLst/>
          </a:prstGeom>
          <a:noFill/>
          <a:ln/>
        </p:spPr>
        <p:txBody>
          <a:bodyPr wrap="square" lIns="0" tIns="0" rIns="0" bIns="0" rtlCol="0" anchor="ctr"/>
          <a:lstStyle/>
          <a:p>
            <a:pPr marL="0" indent="0">
              <a:buNone/>
            </a:pPr>
            <a:r>
              <a:rPr lang="en-US" sz="1600" b="1" dirty="0">
                <a:solidFill>
                  <a:srgbClr val="0B0C0E"/>
                </a:solidFill>
                <a:latin typeface="Calibri" pitchFamily="34" charset="0"/>
                <a:ea typeface="Calibri" pitchFamily="34" charset="-122"/>
                <a:cs typeface="Calibri" pitchFamily="34" charset="-120"/>
              </a:rPr>
              <a:t>Build the fraud detection system</a:t>
            </a:r>
            <a:endParaRPr lang="en-US" sz="1600" dirty="0"/>
          </a:p>
        </p:txBody>
      </p:sp>
      <p:sp>
        <p:nvSpPr>
          <p:cNvPr id="14" name="Text 12"/>
          <p:cNvSpPr/>
          <p:nvPr/>
        </p:nvSpPr>
        <p:spPr>
          <a:xfrm>
            <a:off x="1188720" y="4315968"/>
            <a:ext cx="9601200" cy="731520"/>
          </a:xfrm>
          <a:prstGeom prst="rect">
            <a:avLst/>
          </a:prstGeom>
          <a:noFill/>
          <a:ln/>
        </p:spPr>
        <p:txBody>
          <a:bodyPr wrap="square" lIns="0" tIns="0" rIns="0" bIns="0" rtlCol="0" anchor="ctr"/>
          <a:lstStyle/>
          <a:p>
            <a:pPr marL="0" indent="0">
              <a:lnSpc>
                <a:spcPts val="1700"/>
              </a:lnSpc>
              <a:buNone/>
            </a:pPr>
            <a:r>
              <a:rPr lang="en-US" sz="1250" dirty="0">
                <a:solidFill>
                  <a:srgbClr val="6B7280"/>
                </a:solidFill>
                <a:latin typeface="Calibri" pitchFamily="34" charset="0"/>
                <a:ea typeface="Calibri" pitchFamily="34" charset="-122"/>
                <a:cs typeface="Calibri" pitchFamily="34" charset="-120"/>
              </a:rPr>
              <a:t>Prepare the data, train a Random Forest on the transaction features and a GraphSAGE graph neural network on the payment network, and deliver both through a web-based analyst console.</a:t>
            </a:r>
            <a:endParaRPr lang="en-US" sz="1250" dirty="0"/>
          </a:p>
        </p:txBody>
      </p:sp>
      <p:sp>
        <p:nvSpPr>
          <p:cNvPr id="15" name="Shape 13"/>
          <p:cNvSpPr/>
          <p:nvPr/>
        </p:nvSpPr>
        <p:spPr>
          <a:xfrm>
            <a:off x="548640" y="5230368"/>
            <a:ext cx="420624" cy="420624"/>
          </a:xfrm>
          <a:prstGeom prst="ellipse">
            <a:avLst/>
          </a:prstGeom>
          <a:solidFill>
            <a:srgbClr val="2B44E8"/>
          </a:solidFill>
          <a:ln/>
        </p:spPr>
      </p:sp>
      <p:sp>
        <p:nvSpPr>
          <p:cNvPr id="16" name="Text 14"/>
          <p:cNvSpPr/>
          <p:nvPr/>
        </p:nvSpPr>
        <p:spPr>
          <a:xfrm>
            <a:off x="548640" y="5230368"/>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p:nvPr/>
        </p:nvSpPr>
        <p:spPr>
          <a:xfrm>
            <a:off x="1188720" y="5157216"/>
            <a:ext cx="9601200" cy="292608"/>
          </a:xfrm>
          <a:prstGeom prst="rect">
            <a:avLst/>
          </a:prstGeom>
          <a:noFill/>
          <a:ln/>
        </p:spPr>
        <p:txBody>
          <a:bodyPr wrap="square" lIns="0" tIns="0" rIns="0" bIns="0" rtlCol="0" anchor="ctr"/>
          <a:lstStyle/>
          <a:p>
            <a:pPr marL="0" indent="0">
              <a:buNone/>
            </a:pPr>
            <a:r>
              <a:rPr lang="en-US" sz="1600" b="1" dirty="0">
                <a:solidFill>
                  <a:srgbClr val="0B0C0E"/>
                </a:solidFill>
                <a:latin typeface="Calibri" pitchFamily="34" charset="0"/>
                <a:ea typeface="Calibri" pitchFamily="34" charset="-122"/>
                <a:cs typeface="Calibri" pitchFamily="34" charset="-120"/>
              </a:rPr>
              <a:t>Test and evaluate the developed models</a:t>
            </a:r>
            <a:endParaRPr lang="en-US" sz="1600" dirty="0"/>
          </a:p>
        </p:txBody>
      </p:sp>
      <p:sp>
        <p:nvSpPr>
          <p:cNvPr id="18" name="Text 16"/>
          <p:cNvSpPr/>
          <p:nvPr/>
        </p:nvSpPr>
        <p:spPr>
          <a:xfrm>
            <a:off x="1188720" y="5486400"/>
            <a:ext cx="9601200" cy="731520"/>
          </a:xfrm>
          <a:prstGeom prst="rect">
            <a:avLst/>
          </a:prstGeom>
          <a:noFill/>
          <a:ln/>
        </p:spPr>
        <p:txBody>
          <a:bodyPr wrap="square" lIns="0" tIns="0" rIns="0" bIns="0" rtlCol="0" anchor="ctr"/>
          <a:lstStyle/>
          <a:p>
            <a:pPr marL="0" indent="0">
              <a:lnSpc>
                <a:spcPts val="1700"/>
              </a:lnSpc>
              <a:buNone/>
            </a:pPr>
            <a:r>
              <a:rPr lang="en-US" sz="1250" dirty="0">
                <a:solidFill>
                  <a:srgbClr val="6B7280"/>
                </a:solidFill>
                <a:latin typeface="Calibri" pitchFamily="34" charset="0"/>
                <a:ea typeface="Calibri" pitchFamily="34" charset="-122"/>
                <a:cs typeface="Calibri" pitchFamily="34" charset="-120"/>
              </a:rPr>
              <a:t>Measure accuracy, precision, recall, F1-score and AUC-ROC on a held-out test period, compare the models against each other and the published benchmark, and validate the application with an automated test suite.</a:t>
            </a:r>
            <a:endParaRPr lang="en-US" sz="1250" dirty="0"/>
          </a:p>
        </p:txBody>
      </p:sp>
      <p:pic>
        <p:nvPicPr>
          <p:cNvPr id="19" name="Image 0" descr="C:\Users\brigh\Downloads\crescent logo.jpg"/>
          <p:cNvPicPr>
            <a:picLocks noChangeAspect="1"/>
          </p:cNvPicPr>
          <p:nvPr/>
        </p:nvPicPr>
        <p:blipFill>
          <a:blip r:embed="rId3"/>
          <a:stretch>
            <a:fillRect/>
          </a:stretch>
        </p:blipFill>
        <p:spPr>
          <a:xfrm>
            <a:off x="11155680" y="292608"/>
            <a:ext cx="685800" cy="536753"/>
          </a:xfrm>
          <a:prstGeom prst="rect">
            <a:avLst/>
          </a:prstGeom>
        </p:spPr>
      </p:pic>
      <p:sp>
        <p:nvSpPr>
          <p:cNvPr id="20" name="Text 17"/>
          <p:cNvSpPr/>
          <p:nvPr/>
        </p:nvSpPr>
        <p:spPr>
          <a:xfrm>
            <a:off x="11155680" y="6327648"/>
            <a:ext cx="685800" cy="274320"/>
          </a:xfrm>
          <a:prstGeom prst="rect">
            <a:avLst/>
          </a:prstGeom>
          <a:noFill/>
          <a:ln/>
        </p:spPr>
        <p:txBody>
          <a:bodyPr wrap="square" rtlCol="0" anchor="ctr"/>
          <a:lstStyle/>
          <a:p>
            <a:pPr marL="0" indent="0" algn="r">
              <a:buNone/>
            </a:pPr>
            <a:r>
              <a:rPr lang="en-US" sz="1100" dirty="0">
                <a:solidFill>
                  <a:srgbClr val="6B7280"/>
                </a:solidFill>
                <a:latin typeface="Calibri" pitchFamily="34" charset="0"/>
                <a:ea typeface="Calibri" pitchFamily="34" charset="-122"/>
                <a:cs typeface="Calibri" pitchFamily="34" charset="-120"/>
              </a:rPr>
              <a:t>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332720" cy="566928"/>
          </a:xfrm>
          <a:prstGeom prst="rect">
            <a:avLst/>
          </a:prstGeom>
          <a:noFill/>
          <a:ln/>
        </p:spPr>
        <p:txBody>
          <a:bodyPr wrap="square" lIns="0" tIns="0" rIns="0" bIns="0" rtlCol="0" anchor="ctr"/>
          <a:lstStyle/>
          <a:p>
            <a:pPr marL="0" indent="0">
              <a:buNone/>
            </a:pPr>
            <a:r>
              <a:rPr lang="en-US" sz="3000" b="1" dirty="0">
                <a:solidFill>
                  <a:srgbClr val="0B0C0E"/>
                </a:solidFill>
                <a:latin typeface="Calibri" pitchFamily="34" charset="0"/>
                <a:ea typeface="Calibri" pitchFamily="34" charset="-122"/>
                <a:cs typeface="Calibri" pitchFamily="34" charset="-120"/>
              </a:rPr>
              <a:t>Significance of the Study</a:t>
            </a:r>
            <a:endParaRPr lang="en-US" sz="3000" dirty="0"/>
          </a:p>
        </p:txBody>
      </p:sp>
      <p:sp>
        <p:nvSpPr>
          <p:cNvPr id="3" name="Shape 1"/>
          <p:cNvSpPr/>
          <p:nvPr/>
        </p:nvSpPr>
        <p:spPr>
          <a:xfrm>
            <a:off x="548640" y="1234440"/>
            <a:ext cx="4983480" cy="2148840"/>
          </a:xfrm>
          <a:prstGeom prst="roundRect">
            <a:avLst>
              <a:gd name="adj" fmla="val 3404"/>
            </a:avLst>
          </a:prstGeom>
          <a:solidFill>
            <a:srgbClr val="FFFFFF"/>
          </a:solidFill>
          <a:ln w="12700">
            <a:solidFill>
              <a:srgbClr val="E6E4E0"/>
            </a:solidFill>
            <a:prstDash val="solid"/>
          </a:ln>
          <a:effectLst>
            <a:outerShdw blurRad="101600" dist="12700" dir="5400000" algn="bl" rotWithShape="0">
              <a:srgbClr val="9AA0AA">
                <a:alpha val="18000"/>
              </a:srgbClr>
            </a:outerShdw>
          </a:effectLst>
        </p:spPr>
      </p:sp>
      <p:sp>
        <p:nvSpPr>
          <p:cNvPr id="4" name="Text 2"/>
          <p:cNvSpPr/>
          <p:nvPr/>
        </p:nvSpPr>
        <p:spPr>
          <a:xfrm>
            <a:off x="822960" y="1435608"/>
            <a:ext cx="914400" cy="365760"/>
          </a:xfrm>
          <a:prstGeom prst="rect">
            <a:avLst/>
          </a:prstGeom>
          <a:noFill/>
          <a:ln/>
        </p:spPr>
        <p:txBody>
          <a:bodyPr wrap="square" lIns="0" tIns="0" rIns="0" bIns="0" rtlCol="0" anchor="ctr"/>
          <a:lstStyle/>
          <a:p>
            <a:pPr marL="0" indent="0">
              <a:buNone/>
            </a:pPr>
            <a:r>
              <a:rPr lang="en-US" sz="2200" b="1" dirty="0">
                <a:solidFill>
                  <a:srgbClr val="2B44E8"/>
                </a:solidFill>
                <a:latin typeface="Calibri" pitchFamily="34" charset="0"/>
                <a:ea typeface="Calibri" pitchFamily="34" charset="-122"/>
                <a:cs typeface="Calibri" pitchFamily="34" charset="-120"/>
              </a:rPr>
              <a:t>01</a:t>
            </a:r>
            <a:endParaRPr lang="en-US" sz="2200" dirty="0"/>
          </a:p>
        </p:txBody>
      </p:sp>
      <p:sp>
        <p:nvSpPr>
          <p:cNvPr id="5" name="Text 3"/>
          <p:cNvSpPr/>
          <p:nvPr/>
        </p:nvSpPr>
        <p:spPr>
          <a:xfrm>
            <a:off x="822960" y="1856232"/>
            <a:ext cx="4434840" cy="502920"/>
          </a:xfrm>
          <a:prstGeom prst="rect">
            <a:avLst/>
          </a:prstGeom>
          <a:noFill/>
          <a:ln/>
        </p:spPr>
        <p:txBody>
          <a:bodyPr wrap="square" lIns="0" tIns="0" rIns="0" bIns="0" rtlCol="0" anchor="ctr"/>
          <a:lstStyle/>
          <a:p>
            <a:pPr marL="0" indent="0">
              <a:lnSpc>
                <a:spcPts val="1900"/>
              </a:lnSpc>
              <a:buNone/>
            </a:pPr>
            <a:r>
              <a:rPr lang="en-US" sz="1500" b="1" dirty="0">
                <a:solidFill>
                  <a:srgbClr val="0B0C0E"/>
                </a:solidFill>
                <a:latin typeface="Calibri" pitchFamily="34" charset="0"/>
                <a:ea typeface="Calibri" pitchFamily="34" charset="-122"/>
                <a:cs typeface="Calibri" pitchFamily="34" charset="-120"/>
              </a:rPr>
              <a:t>Demonstrates the production architecture</a:t>
            </a:r>
            <a:endParaRPr lang="en-US" sz="1500" dirty="0"/>
          </a:p>
        </p:txBody>
      </p:sp>
      <p:sp>
        <p:nvSpPr>
          <p:cNvPr id="6" name="Text 4"/>
          <p:cNvSpPr/>
          <p:nvPr/>
        </p:nvSpPr>
        <p:spPr>
          <a:xfrm>
            <a:off x="822960" y="2377440"/>
            <a:ext cx="4434840" cy="868680"/>
          </a:xfrm>
          <a:prstGeom prst="rect">
            <a:avLst/>
          </a:prstGeom>
          <a:noFill/>
          <a:ln/>
        </p:spPr>
        <p:txBody>
          <a:bodyPr wrap="square" lIns="0" tIns="0" rIns="0" bIns="0" rtlCol="0" anchor="ctr"/>
          <a:lstStyle/>
          <a:p>
            <a:pPr marL="0" indent="0">
              <a:lnSpc>
                <a:spcPts val="1500"/>
              </a:lnSpc>
              <a:buNone/>
            </a:pPr>
            <a:r>
              <a:rPr lang="en-US" sz="1150" dirty="0">
                <a:solidFill>
                  <a:srgbClr val="6B7280"/>
                </a:solidFill>
                <a:latin typeface="Calibri" pitchFamily="34" charset="0"/>
                <a:ea typeface="Calibri" pitchFamily="34" charset="-122"/>
                <a:cs typeface="Calibri" pitchFamily="34" charset="-120"/>
              </a:rPr>
              <a:t>Machine learning classification over a real transaction graph, combined with network analysis and delivered into an analyst's workflow — the shape used by commercial platforms, built at academic scale.</a:t>
            </a:r>
            <a:endParaRPr lang="en-US" sz="1150" dirty="0"/>
          </a:p>
        </p:txBody>
      </p:sp>
      <p:sp>
        <p:nvSpPr>
          <p:cNvPr id="7" name="Shape 5"/>
          <p:cNvSpPr/>
          <p:nvPr/>
        </p:nvSpPr>
        <p:spPr>
          <a:xfrm>
            <a:off x="5806440" y="1234440"/>
            <a:ext cx="4983480" cy="2148840"/>
          </a:xfrm>
          <a:prstGeom prst="roundRect">
            <a:avLst>
              <a:gd name="adj" fmla="val 3404"/>
            </a:avLst>
          </a:prstGeom>
          <a:solidFill>
            <a:srgbClr val="FFFFFF"/>
          </a:solidFill>
          <a:ln w="12700">
            <a:solidFill>
              <a:srgbClr val="E6E4E0"/>
            </a:solidFill>
            <a:prstDash val="solid"/>
          </a:ln>
          <a:effectLst>
            <a:outerShdw blurRad="101600" dist="12700" dir="5400000" algn="bl" rotWithShape="0">
              <a:srgbClr val="9AA0AA">
                <a:alpha val="18000"/>
              </a:srgbClr>
            </a:outerShdw>
          </a:effectLst>
        </p:spPr>
      </p:sp>
      <p:sp>
        <p:nvSpPr>
          <p:cNvPr id="8" name="Text 6"/>
          <p:cNvSpPr/>
          <p:nvPr/>
        </p:nvSpPr>
        <p:spPr>
          <a:xfrm>
            <a:off x="6080760" y="1435608"/>
            <a:ext cx="914400" cy="365760"/>
          </a:xfrm>
          <a:prstGeom prst="rect">
            <a:avLst/>
          </a:prstGeom>
          <a:noFill/>
          <a:ln/>
        </p:spPr>
        <p:txBody>
          <a:bodyPr wrap="square" lIns="0" tIns="0" rIns="0" bIns="0" rtlCol="0" anchor="ctr"/>
          <a:lstStyle/>
          <a:p>
            <a:pPr marL="0" indent="0">
              <a:buNone/>
            </a:pPr>
            <a:r>
              <a:rPr lang="en-US" sz="2200" b="1" dirty="0">
                <a:solidFill>
                  <a:srgbClr val="E0870B"/>
                </a:solidFill>
                <a:latin typeface="Calibri" pitchFamily="34" charset="0"/>
                <a:ea typeface="Calibri" pitchFamily="34" charset="-122"/>
                <a:cs typeface="Calibri" pitchFamily="34" charset="-120"/>
              </a:rPr>
              <a:t>02</a:t>
            </a:r>
            <a:endParaRPr lang="en-US" sz="2200" dirty="0"/>
          </a:p>
        </p:txBody>
      </p:sp>
      <p:sp>
        <p:nvSpPr>
          <p:cNvPr id="9" name="Text 7"/>
          <p:cNvSpPr/>
          <p:nvPr/>
        </p:nvSpPr>
        <p:spPr>
          <a:xfrm>
            <a:off x="6080760" y="1856232"/>
            <a:ext cx="4434840" cy="502920"/>
          </a:xfrm>
          <a:prstGeom prst="rect">
            <a:avLst/>
          </a:prstGeom>
          <a:noFill/>
          <a:ln/>
        </p:spPr>
        <p:txBody>
          <a:bodyPr wrap="square" lIns="0" tIns="0" rIns="0" bIns="0" rtlCol="0" anchor="ctr"/>
          <a:lstStyle/>
          <a:p>
            <a:pPr marL="0" indent="0">
              <a:lnSpc>
                <a:spcPts val="1900"/>
              </a:lnSpc>
              <a:buNone/>
            </a:pPr>
            <a:r>
              <a:rPr lang="en-US" sz="1500" b="1" dirty="0">
                <a:solidFill>
                  <a:srgbClr val="0B0C0E"/>
                </a:solidFill>
                <a:latin typeface="Calibri" pitchFamily="34" charset="0"/>
                <a:ea typeface="Calibri" pitchFamily="34" charset="-122"/>
                <a:cs typeface="Calibri" pitchFamily="34" charset="-120"/>
              </a:rPr>
              <a:t>Reproduces a published benchmark</a:t>
            </a:r>
            <a:endParaRPr lang="en-US" sz="1500" dirty="0"/>
          </a:p>
        </p:txBody>
      </p:sp>
      <p:sp>
        <p:nvSpPr>
          <p:cNvPr id="10" name="Text 8"/>
          <p:cNvSpPr/>
          <p:nvPr/>
        </p:nvSpPr>
        <p:spPr>
          <a:xfrm>
            <a:off x="6080760" y="2377440"/>
            <a:ext cx="4434840" cy="868680"/>
          </a:xfrm>
          <a:prstGeom prst="rect">
            <a:avLst/>
          </a:prstGeom>
          <a:noFill/>
          <a:ln/>
        </p:spPr>
        <p:txBody>
          <a:bodyPr wrap="square" lIns="0" tIns="0" rIns="0" bIns="0" rtlCol="0" anchor="ctr"/>
          <a:lstStyle/>
          <a:p>
            <a:pPr marL="0" indent="0">
              <a:lnSpc>
                <a:spcPts val="1500"/>
              </a:lnSpc>
              <a:buNone/>
            </a:pPr>
            <a:r>
              <a:rPr lang="en-US" sz="1150" dirty="0">
                <a:solidFill>
                  <a:srgbClr val="6B7280"/>
                </a:solidFill>
                <a:latin typeface="Calibri" pitchFamily="34" charset="0"/>
                <a:ea typeface="Calibri" pitchFamily="34" charset="-122"/>
                <a:cs typeface="Calibri" pitchFamily="34" charset="-120"/>
              </a:rPr>
              <a:t>An empirical Random Forest versus GraphSAGE comparison on the Elliptic dataset under a leakage-free temporal protocol, matching the result reported by Weber et al. (2019).</a:t>
            </a:r>
            <a:endParaRPr lang="en-US" sz="1150" dirty="0"/>
          </a:p>
        </p:txBody>
      </p:sp>
      <p:sp>
        <p:nvSpPr>
          <p:cNvPr id="11" name="Shape 9"/>
          <p:cNvSpPr/>
          <p:nvPr/>
        </p:nvSpPr>
        <p:spPr>
          <a:xfrm>
            <a:off x="548640" y="3657600"/>
            <a:ext cx="4983480" cy="2148840"/>
          </a:xfrm>
          <a:prstGeom prst="roundRect">
            <a:avLst>
              <a:gd name="adj" fmla="val 3404"/>
            </a:avLst>
          </a:prstGeom>
          <a:solidFill>
            <a:srgbClr val="FFFFFF"/>
          </a:solidFill>
          <a:ln w="12700">
            <a:solidFill>
              <a:srgbClr val="E6E4E0"/>
            </a:solidFill>
            <a:prstDash val="solid"/>
          </a:ln>
          <a:effectLst>
            <a:outerShdw blurRad="101600" dist="12700" dir="5400000" algn="bl" rotWithShape="0">
              <a:srgbClr val="9AA0AA">
                <a:alpha val="18000"/>
              </a:srgbClr>
            </a:outerShdw>
          </a:effectLst>
        </p:spPr>
      </p:sp>
      <p:sp>
        <p:nvSpPr>
          <p:cNvPr id="12" name="Text 10"/>
          <p:cNvSpPr/>
          <p:nvPr/>
        </p:nvSpPr>
        <p:spPr>
          <a:xfrm>
            <a:off x="822960" y="3858768"/>
            <a:ext cx="914400" cy="365760"/>
          </a:xfrm>
          <a:prstGeom prst="rect">
            <a:avLst/>
          </a:prstGeom>
          <a:noFill/>
          <a:ln/>
        </p:spPr>
        <p:txBody>
          <a:bodyPr wrap="square" lIns="0" tIns="0" rIns="0" bIns="0" rtlCol="0" anchor="ctr"/>
          <a:lstStyle/>
          <a:p>
            <a:pPr marL="0" indent="0">
              <a:buNone/>
            </a:pPr>
            <a:r>
              <a:rPr lang="en-US" sz="2200" b="1" dirty="0">
                <a:solidFill>
                  <a:srgbClr val="E5484D"/>
                </a:solidFill>
                <a:latin typeface="Calibri" pitchFamily="34" charset="0"/>
                <a:ea typeface="Calibri" pitchFamily="34" charset="-122"/>
                <a:cs typeface="Calibri" pitchFamily="34" charset="-120"/>
              </a:rPr>
              <a:t>03</a:t>
            </a:r>
            <a:endParaRPr lang="en-US" sz="2200" dirty="0"/>
          </a:p>
        </p:txBody>
      </p:sp>
      <p:sp>
        <p:nvSpPr>
          <p:cNvPr id="13" name="Text 11"/>
          <p:cNvSpPr/>
          <p:nvPr/>
        </p:nvSpPr>
        <p:spPr>
          <a:xfrm>
            <a:off x="822960" y="4279392"/>
            <a:ext cx="4434840" cy="502920"/>
          </a:xfrm>
          <a:prstGeom prst="rect">
            <a:avLst/>
          </a:prstGeom>
          <a:noFill/>
          <a:ln/>
        </p:spPr>
        <p:txBody>
          <a:bodyPr wrap="square" lIns="0" tIns="0" rIns="0" bIns="0" rtlCol="0" anchor="ctr"/>
          <a:lstStyle/>
          <a:p>
            <a:pPr marL="0" indent="0">
              <a:lnSpc>
                <a:spcPts val="1900"/>
              </a:lnSpc>
              <a:buNone/>
            </a:pPr>
            <a:r>
              <a:rPr lang="en-US" sz="1500" b="1" dirty="0">
                <a:solidFill>
                  <a:srgbClr val="0B0C0E"/>
                </a:solidFill>
                <a:latin typeface="Calibri" pitchFamily="34" charset="0"/>
                <a:ea typeface="Calibri" pitchFamily="34" charset="-122"/>
                <a:cs typeface="Calibri" pitchFamily="34" charset="-120"/>
              </a:rPr>
              <a:t>Makes predictions explainable</a:t>
            </a:r>
            <a:endParaRPr lang="en-US" sz="1500" dirty="0"/>
          </a:p>
        </p:txBody>
      </p:sp>
      <p:sp>
        <p:nvSpPr>
          <p:cNvPr id="14" name="Text 12"/>
          <p:cNvSpPr/>
          <p:nvPr/>
        </p:nvSpPr>
        <p:spPr>
          <a:xfrm>
            <a:off x="822960" y="4800600"/>
            <a:ext cx="4434840" cy="868680"/>
          </a:xfrm>
          <a:prstGeom prst="rect">
            <a:avLst/>
          </a:prstGeom>
          <a:noFill/>
          <a:ln/>
        </p:spPr>
        <p:txBody>
          <a:bodyPr wrap="square" lIns="0" tIns="0" rIns="0" bIns="0" rtlCol="0" anchor="ctr"/>
          <a:lstStyle/>
          <a:p>
            <a:pPr marL="0" indent="0">
              <a:lnSpc>
                <a:spcPts val="1500"/>
              </a:lnSpc>
              <a:buNone/>
            </a:pPr>
            <a:r>
              <a:rPr lang="en-US" sz="1150" dirty="0">
                <a:solidFill>
                  <a:srgbClr val="6B7280"/>
                </a:solidFill>
                <a:latin typeface="Calibri" pitchFamily="34" charset="0"/>
                <a:ea typeface="Calibri" pitchFamily="34" charset="-122"/>
                <a:cs typeface="Calibri" pitchFamily="34" charset="-120"/>
              </a:rPr>
              <a:t>Regulators and investigators cannot act on scores they cannot interrogate. Every prediction is attributed to the feature groups that produced it.</a:t>
            </a:r>
            <a:endParaRPr lang="en-US" sz="1150" dirty="0"/>
          </a:p>
        </p:txBody>
      </p:sp>
      <p:sp>
        <p:nvSpPr>
          <p:cNvPr id="15" name="Shape 13"/>
          <p:cNvSpPr/>
          <p:nvPr/>
        </p:nvSpPr>
        <p:spPr>
          <a:xfrm>
            <a:off x="5806440" y="3657600"/>
            <a:ext cx="4983480" cy="2148840"/>
          </a:xfrm>
          <a:prstGeom prst="roundRect">
            <a:avLst>
              <a:gd name="adj" fmla="val 3404"/>
            </a:avLst>
          </a:prstGeom>
          <a:solidFill>
            <a:srgbClr val="FFFFFF"/>
          </a:solidFill>
          <a:ln w="12700">
            <a:solidFill>
              <a:srgbClr val="E6E4E0"/>
            </a:solidFill>
            <a:prstDash val="solid"/>
          </a:ln>
          <a:effectLst>
            <a:outerShdw blurRad="101600" dist="12700" dir="5400000" algn="bl" rotWithShape="0">
              <a:srgbClr val="9AA0AA">
                <a:alpha val="18000"/>
              </a:srgbClr>
            </a:outerShdw>
          </a:effectLst>
        </p:spPr>
      </p:sp>
      <p:sp>
        <p:nvSpPr>
          <p:cNvPr id="16" name="Text 14"/>
          <p:cNvSpPr/>
          <p:nvPr/>
        </p:nvSpPr>
        <p:spPr>
          <a:xfrm>
            <a:off x="6080760" y="3858768"/>
            <a:ext cx="914400" cy="365760"/>
          </a:xfrm>
          <a:prstGeom prst="rect">
            <a:avLst/>
          </a:prstGeom>
          <a:noFill/>
          <a:ln/>
        </p:spPr>
        <p:txBody>
          <a:bodyPr wrap="square" lIns="0" tIns="0" rIns="0" bIns="0" rtlCol="0" anchor="ctr"/>
          <a:lstStyle/>
          <a:p>
            <a:pPr marL="0" indent="0">
              <a:buNone/>
            </a:pPr>
            <a:r>
              <a:rPr lang="en-US" sz="2200" b="1" dirty="0">
                <a:solidFill>
                  <a:srgbClr val="4B5563"/>
                </a:solidFill>
                <a:latin typeface="Calibri" pitchFamily="34" charset="0"/>
                <a:ea typeface="Calibri" pitchFamily="34" charset="-122"/>
                <a:cs typeface="Calibri" pitchFamily="34" charset="-120"/>
              </a:rPr>
              <a:t>04</a:t>
            </a:r>
            <a:endParaRPr lang="en-US" sz="2200" dirty="0"/>
          </a:p>
        </p:txBody>
      </p:sp>
      <p:sp>
        <p:nvSpPr>
          <p:cNvPr id="17" name="Text 15"/>
          <p:cNvSpPr/>
          <p:nvPr/>
        </p:nvSpPr>
        <p:spPr>
          <a:xfrm>
            <a:off x="6080760" y="4279392"/>
            <a:ext cx="4434840" cy="502920"/>
          </a:xfrm>
          <a:prstGeom prst="rect">
            <a:avLst/>
          </a:prstGeom>
          <a:noFill/>
          <a:ln/>
        </p:spPr>
        <p:txBody>
          <a:bodyPr wrap="square" lIns="0" tIns="0" rIns="0" bIns="0" rtlCol="0" anchor="ctr"/>
          <a:lstStyle/>
          <a:p>
            <a:pPr marL="0" indent="0">
              <a:lnSpc>
                <a:spcPts val="1900"/>
              </a:lnSpc>
              <a:buNone/>
            </a:pPr>
            <a:r>
              <a:rPr lang="en-US" sz="1500" b="1" dirty="0">
                <a:solidFill>
                  <a:srgbClr val="0B0C0E"/>
                </a:solidFill>
                <a:latin typeface="Calibri" pitchFamily="34" charset="0"/>
                <a:ea typeface="Calibri" pitchFamily="34" charset="-122"/>
                <a:cs typeface="Calibri" pitchFamily="34" charset="-120"/>
              </a:rPr>
              <a:t>Documents an honest methodology</a:t>
            </a:r>
            <a:endParaRPr lang="en-US" sz="1500" dirty="0"/>
          </a:p>
        </p:txBody>
      </p:sp>
      <p:sp>
        <p:nvSpPr>
          <p:cNvPr id="18" name="Text 16"/>
          <p:cNvSpPr/>
          <p:nvPr/>
        </p:nvSpPr>
        <p:spPr>
          <a:xfrm>
            <a:off x="6080760" y="4800600"/>
            <a:ext cx="4434840" cy="868680"/>
          </a:xfrm>
          <a:prstGeom prst="rect">
            <a:avLst/>
          </a:prstGeom>
          <a:noFill/>
          <a:ln/>
        </p:spPr>
        <p:txBody>
          <a:bodyPr wrap="square" lIns="0" tIns="0" rIns="0" bIns="0" rtlCol="0" anchor="ctr"/>
          <a:lstStyle/>
          <a:p>
            <a:pPr marL="0" indent="0">
              <a:lnSpc>
                <a:spcPts val="1500"/>
              </a:lnSpc>
              <a:buNone/>
            </a:pPr>
            <a:r>
              <a:rPr lang="en-US" sz="1150" dirty="0">
                <a:solidFill>
                  <a:srgbClr val="6B7280"/>
                </a:solidFill>
                <a:latin typeface="Calibri" pitchFamily="34" charset="0"/>
                <a:ea typeface="Calibri" pitchFamily="34" charset="-122"/>
                <a:cs typeface="Calibri" pitchFamily="34" charset="-120"/>
              </a:rPr>
              <a:t>The move from synthetic data to a real transaction graph is recorded as it happened, as a realistic template for applied machine learning projects.</a:t>
            </a:r>
            <a:endParaRPr lang="en-US" sz="1150" dirty="0"/>
          </a:p>
        </p:txBody>
      </p:sp>
      <p:pic>
        <p:nvPicPr>
          <p:cNvPr id="19" name="Image 0" descr="C:\Users\brigh\Downloads\crescent logo.jpg"/>
          <p:cNvPicPr>
            <a:picLocks noChangeAspect="1"/>
          </p:cNvPicPr>
          <p:nvPr/>
        </p:nvPicPr>
        <p:blipFill>
          <a:blip r:embed="rId3"/>
          <a:stretch>
            <a:fillRect/>
          </a:stretch>
        </p:blipFill>
        <p:spPr>
          <a:xfrm>
            <a:off x="11155680" y="292608"/>
            <a:ext cx="685800" cy="536753"/>
          </a:xfrm>
          <a:prstGeom prst="rect">
            <a:avLst/>
          </a:prstGeom>
        </p:spPr>
      </p:pic>
      <p:sp>
        <p:nvSpPr>
          <p:cNvPr id="20" name="Text 17"/>
          <p:cNvSpPr/>
          <p:nvPr/>
        </p:nvSpPr>
        <p:spPr>
          <a:xfrm>
            <a:off x="11155680" y="6327648"/>
            <a:ext cx="685800" cy="274320"/>
          </a:xfrm>
          <a:prstGeom prst="rect">
            <a:avLst/>
          </a:prstGeom>
          <a:noFill/>
          <a:ln/>
        </p:spPr>
        <p:txBody>
          <a:bodyPr wrap="square" rtlCol="0" anchor="ctr"/>
          <a:lstStyle/>
          <a:p>
            <a:pPr marL="0" indent="0" algn="r">
              <a:buNone/>
            </a:pPr>
            <a:r>
              <a:rPr lang="en-US" sz="1100" dirty="0">
                <a:solidFill>
                  <a:srgbClr val="6B7280"/>
                </a:solidFill>
                <a:latin typeface="Calibri" pitchFamily="34" charset="0"/>
                <a:ea typeface="Calibri" pitchFamily="34" charset="-122"/>
                <a:cs typeface="Calibri" pitchFamily="34" charset="-120"/>
              </a:rPr>
              <a:t>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332720" cy="566928"/>
          </a:xfrm>
          <a:prstGeom prst="rect">
            <a:avLst/>
          </a:prstGeom>
          <a:noFill/>
          <a:ln/>
        </p:spPr>
        <p:txBody>
          <a:bodyPr wrap="square" lIns="0" tIns="0" rIns="0" bIns="0" rtlCol="0" anchor="ctr"/>
          <a:lstStyle/>
          <a:p>
            <a:pPr marL="0" indent="0">
              <a:buNone/>
            </a:pPr>
            <a:r>
              <a:rPr lang="en-US" sz="3000" b="1" dirty="0">
                <a:solidFill>
                  <a:srgbClr val="0B0C0E"/>
                </a:solidFill>
                <a:latin typeface="Calibri" pitchFamily="34" charset="0"/>
                <a:ea typeface="Calibri" pitchFamily="34" charset="-122"/>
                <a:cs typeface="Calibri" pitchFamily="34" charset="-120"/>
              </a:rPr>
              <a:t>Related Works</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11064240" cy="4069080"/>
        </p:xfrm>
        <a:graphic>
          <a:graphicData uri="http://schemas.openxmlformats.org/drawingml/2006/table">
            <a:tbl>
              <a:tblPr/>
              <a:tblGrid>
                <a:gridCol w="210312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4846320">
                  <a:extLst>
                    <a:ext uri="{9D8B030D-6E8A-4147-A177-3AD203B41FA5}">
                      <a16:colId xmlns:a16="http://schemas.microsoft.com/office/drawing/2014/main" val="20002"/>
                    </a:ext>
                  </a:extLst>
                </a:gridCol>
              </a:tblGrid>
              <a:tr h="365760">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Author(s)</a:t>
                      </a:r>
                      <a:endParaRPr lang="en-US" sz="1200" dirty="0">
                        <a:latin typeface="Calibri" charset="0"/>
                        <a:ea typeface="Calibri" charset="0"/>
                        <a:cs typeface="Calibri" charset="0"/>
                      </a:endParaRPr>
                    </a:p>
                  </a:txBody>
                  <a:tcPr marL="82296" marR="82296" marT="82296" marB="82296" anchor="ctr">
                    <a:lnL w="12700" cap="flat" cmpd="sng" algn="ctr">
                      <a:solidFill>
                        <a:srgbClr val="E6E4E0"/>
                      </a:solidFill>
                      <a:prstDash val="solid"/>
                      <a:round/>
                      <a:headEnd type="none" w="med" len="med"/>
                      <a:tailEnd type="none" w="med" len="med"/>
                    </a:lnL>
                    <a:lnR w="12700" cap="flat" cmpd="sng" algn="ctr">
                      <a:solidFill>
                        <a:srgbClr val="E6E4E0"/>
                      </a:solidFill>
                      <a:prstDash val="solid"/>
                      <a:round/>
                      <a:headEnd type="none" w="med" len="med"/>
                      <a:tailEnd type="none" w="med" len="med"/>
                    </a:lnR>
                    <a:lnT w="12700" cap="flat" cmpd="sng" algn="ctr">
                      <a:solidFill>
                        <a:srgbClr val="E6E4E0"/>
                      </a:solidFill>
                      <a:prstDash val="solid"/>
                      <a:round/>
                      <a:headEnd type="none" w="med" len="med"/>
                      <a:tailEnd type="none" w="med" len="med"/>
                    </a:lnT>
                    <a:lnB w="12700" cap="flat" cmpd="sng" algn="ctr">
                      <a:solidFill>
                        <a:srgbClr val="E6E4E0"/>
                      </a:solidFill>
                      <a:prstDash val="solid"/>
                      <a:round/>
                      <a:headEnd type="none" w="med" len="med"/>
                      <a:tailEnd type="none" w="med" len="med"/>
                    </a:lnB>
                    <a:solidFill>
                      <a:srgbClr val="0B1220"/>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Title</a:t>
                      </a:r>
                      <a:endParaRPr lang="en-US" sz="1200" dirty="0">
                        <a:latin typeface="Calibri" charset="0"/>
                        <a:ea typeface="Calibri" charset="0"/>
                        <a:cs typeface="Calibri" charset="0"/>
                      </a:endParaRPr>
                    </a:p>
                  </a:txBody>
                  <a:tcPr marL="82296" marR="82296" marT="82296" marB="82296" anchor="ctr">
                    <a:lnL w="12700" cap="flat" cmpd="sng" algn="ctr">
                      <a:solidFill>
                        <a:srgbClr val="E6E4E0"/>
                      </a:solidFill>
                      <a:prstDash val="solid"/>
                      <a:round/>
                      <a:headEnd type="none" w="med" len="med"/>
                      <a:tailEnd type="none" w="med" len="med"/>
                    </a:lnL>
                    <a:lnR w="12700" cap="flat" cmpd="sng" algn="ctr">
                      <a:solidFill>
                        <a:srgbClr val="E6E4E0"/>
                      </a:solidFill>
                      <a:prstDash val="solid"/>
                      <a:round/>
                      <a:headEnd type="none" w="med" len="med"/>
                      <a:tailEnd type="none" w="med" len="med"/>
                    </a:lnR>
                    <a:lnT w="12700" cap="flat" cmpd="sng" algn="ctr">
                      <a:solidFill>
                        <a:srgbClr val="E6E4E0"/>
                      </a:solidFill>
                      <a:prstDash val="solid"/>
                      <a:round/>
                      <a:headEnd type="none" w="med" len="med"/>
                      <a:tailEnd type="none" w="med" len="med"/>
                    </a:lnT>
                    <a:lnB w="12700" cap="flat" cmpd="sng" algn="ctr">
                      <a:solidFill>
                        <a:srgbClr val="E6E4E0"/>
                      </a:solidFill>
                      <a:prstDash val="solid"/>
                      <a:round/>
                      <a:headEnd type="none" w="med" len="med"/>
                      <a:tailEnd type="none" w="med" len="med"/>
                    </a:lnB>
                    <a:solidFill>
                      <a:srgbClr val="0B1220"/>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Key finding</a:t>
                      </a:r>
                      <a:endParaRPr lang="en-US" sz="1200" dirty="0">
                        <a:latin typeface="Calibri" charset="0"/>
                        <a:ea typeface="Calibri" charset="0"/>
                        <a:cs typeface="Calibri" charset="0"/>
                      </a:endParaRPr>
                    </a:p>
                  </a:txBody>
                  <a:tcPr marL="82296" marR="82296" marT="82296" marB="82296" anchor="ctr">
                    <a:lnL w="12700" cap="flat" cmpd="sng" algn="ctr">
                      <a:solidFill>
                        <a:srgbClr val="E6E4E0"/>
                      </a:solidFill>
                      <a:prstDash val="solid"/>
                      <a:round/>
                      <a:headEnd type="none" w="med" len="med"/>
                      <a:tailEnd type="none" w="med" len="med"/>
                    </a:lnL>
                    <a:lnR w="12700" cap="flat" cmpd="sng" algn="ctr">
                      <a:solidFill>
                        <a:srgbClr val="E6E4E0"/>
                      </a:solidFill>
                      <a:prstDash val="solid"/>
                      <a:round/>
                      <a:headEnd type="none" w="med" len="med"/>
                      <a:tailEnd type="none" w="med" len="med"/>
                    </a:lnR>
                    <a:lnT w="12700" cap="flat" cmpd="sng" algn="ctr">
                      <a:solidFill>
                        <a:srgbClr val="E6E4E0"/>
                      </a:solidFill>
                      <a:prstDash val="solid"/>
                      <a:round/>
                      <a:headEnd type="none" w="med" len="med"/>
                      <a:tailEnd type="none" w="med" len="med"/>
                    </a:lnT>
                    <a:lnB w="12700" cap="flat" cmpd="sng" algn="ctr">
                      <a:solidFill>
                        <a:srgbClr val="E6E4E0"/>
                      </a:solidFill>
                      <a:prstDash val="solid"/>
                      <a:round/>
                      <a:headEnd type="none" w="med" len="med"/>
                      <a:tailEnd type="none" w="med" len="med"/>
                    </a:lnB>
                    <a:solidFill>
                      <a:srgbClr val="0B1220"/>
                    </a:solidFill>
                  </a:tcPr>
                </a:tc>
                <a:extLst>
                  <a:ext uri="{0D108BD9-81ED-4DB2-BD59-A6C34878D82A}">
                    <a16:rowId xmlns:a16="http://schemas.microsoft.com/office/drawing/2014/main" val="10000"/>
                  </a:ext>
                </a:extLst>
              </a:tr>
              <a:tr h="960120">
                <a:tc>
                  <a:txBody>
                    <a:bodyPr/>
                    <a:lstStyle/>
                    <a:p>
                      <a:pPr marL="0" indent="0" algn="l">
                        <a:buNone/>
                      </a:pPr>
                      <a:r>
                        <a:rPr lang="en-US" sz="1150" dirty="0">
                          <a:solidFill>
                            <a:srgbClr val="0B0C0E"/>
                          </a:solidFill>
                          <a:latin typeface="Calibri" pitchFamily="34" charset="0"/>
                          <a:ea typeface="Calibri" pitchFamily="34" charset="-122"/>
                          <a:cs typeface="Calibri" pitchFamily="34" charset="-120"/>
                        </a:rPr>
                        <a:t>Weber et al. (2019)</a:t>
                      </a:r>
                      <a:endParaRPr lang="en-US" sz="1150" dirty="0">
                        <a:latin typeface="Calibri" charset="0"/>
                        <a:ea typeface="Calibri" charset="0"/>
                        <a:cs typeface="Calibri" charset="0"/>
                      </a:endParaRPr>
                    </a:p>
                  </a:txBody>
                  <a:tcPr marL="82296" marR="82296" marT="82296" marB="82296" anchor="ctr">
                    <a:lnL w="12700" cap="flat" cmpd="sng" algn="ctr">
                      <a:solidFill>
                        <a:srgbClr val="E6E4E0"/>
                      </a:solidFill>
                      <a:prstDash val="solid"/>
                      <a:round/>
                      <a:headEnd type="none" w="med" len="med"/>
                      <a:tailEnd type="none" w="med" len="med"/>
                    </a:lnL>
                    <a:lnR w="12700" cap="flat" cmpd="sng" algn="ctr">
                      <a:solidFill>
                        <a:srgbClr val="E6E4E0"/>
                      </a:solidFill>
                      <a:prstDash val="solid"/>
                      <a:round/>
                      <a:headEnd type="none" w="med" len="med"/>
                      <a:tailEnd type="none" w="med" len="med"/>
                    </a:lnR>
                    <a:lnT w="12700" cap="flat" cmpd="sng" algn="ctr">
                      <a:solidFill>
                        <a:srgbClr val="E6E4E0"/>
                      </a:solidFill>
                      <a:prstDash val="solid"/>
                      <a:round/>
                      <a:headEnd type="none" w="med" len="med"/>
                      <a:tailEnd type="none" w="med" len="med"/>
                    </a:lnT>
                    <a:lnB w="12700" cap="flat" cmpd="sng" algn="ctr">
                      <a:solidFill>
                        <a:srgbClr val="E6E4E0"/>
                      </a:solidFill>
                      <a:prstDash val="solid"/>
                      <a:round/>
                      <a:headEnd type="none" w="med" len="med"/>
                      <a:tailEnd type="none" w="med" len="med"/>
                    </a:lnB>
                  </a:tcPr>
                </a:tc>
                <a:tc>
                  <a:txBody>
                    <a:bodyPr/>
                    <a:lstStyle/>
                    <a:p>
                      <a:pPr marL="0" indent="0" algn="l">
                        <a:buNone/>
                      </a:pPr>
                      <a:r>
                        <a:rPr lang="en-US" sz="1150" dirty="0">
                          <a:solidFill>
                            <a:srgbClr val="0B0C0E"/>
                          </a:solidFill>
                          <a:latin typeface="Calibri" pitchFamily="34" charset="0"/>
                          <a:ea typeface="Calibri" pitchFamily="34" charset="-122"/>
                          <a:cs typeface="Calibri" pitchFamily="34" charset="-120"/>
                        </a:rPr>
                        <a:t>Anti-Money Laundering in Bitcoin: Experimenting with Graph Convolutional Networks for Financial Forensics</a:t>
                      </a:r>
                      <a:endParaRPr lang="en-US" sz="1150" dirty="0">
                        <a:latin typeface="Calibri" charset="0"/>
                        <a:ea typeface="Calibri" charset="0"/>
                        <a:cs typeface="Calibri" charset="0"/>
                      </a:endParaRPr>
                    </a:p>
                  </a:txBody>
                  <a:tcPr marL="82296" marR="82296" marT="82296" marB="82296" anchor="ctr">
                    <a:lnL w="12700" cap="flat" cmpd="sng" algn="ctr">
                      <a:solidFill>
                        <a:srgbClr val="E6E4E0"/>
                      </a:solidFill>
                      <a:prstDash val="solid"/>
                      <a:round/>
                      <a:headEnd type="none" w="med" len="med"/>
                      <a:tailEnd type="none" w="med" len="med"/>
                    </a:lnL>
                    <a:lnR w="12700" cap="flat" cmpd="sng" algn="ctr">
                      <a:solidFill>
                        <a:srgbClr val="E6E4E0"/>
                      </a:solidFill>
                      <a:prstDash val="solid"/>
                      <a:round/>
                      <a:headEnd type="none" w="med" len="med"/>
                      <a:tailEnd type="none" w="med" len="med"/>
                    </a:lnR>
                    <a:lnT w="12700" cap="flat" cmpd="sng" algn="ctr">
                      <a:solidFill>
                        <a:srgbClr val="E6E4E0"/>
                      </a:solidFill>
                      <a:prstDash val="solid"/>
                      <a:round/>
                      <a:headEnd type="none" w="med" len="med"/>
                      <a:tailEnd type="none" w="med" len="med"/>
                    </a:lnT>
                    <a:lnB w="12700" cap="flat" cmpd="sng" algn="ctr">
                      <a:solidFill>
                        <a:srgbClr val="E6E4E0"/>
                      </a:solidFill>
                      <a:prstDash val="solid"/>
                      <a:round/>
                      <a:headEnd type="none" w="med" len="med"/>
                      <a:tailEnd type="none" w="med" len="med"/>
                    </a:lnB>
                  </a:tcPr>
                </a:tc>
                <a:tc>
                  <a:txBody>
                    <a:bodyPr/>
                    <a:lstStyle/>
                    <a:p>
                      <a:pPr marL="0" indent="0" algn="l">
                        <a:buNone/>
                      </a:pPr>
                      <a:r>
                        <a:rPr lang="en-US" sz="1150" dirty="0">
                          <a:solidFill>
                            <a:srgbClr val="0B0C0E"/>
                          </a:solidFill>
                          <a:latin typeface="Calibri" pitchFamily="34" charset="0"/>
                          <a:ea typeface="Calibri" pitchFamily="34" charset="-122"/>
                          <a:cs typeface="Calibri" pitchFamily="34" charset="-120"/>
                        </a:rPr>
                        <a:t>Introduced the Elliptic dataset. Random Forest was the strongest model at an illicit F1 of ≈0.79, ahead of the graph convolutional network.</a:t>
                      </a:r>
                      <a:endParaRPr lang="en-US" sz="1150" dirty="0">
                        <a:latin typeface="Calibri" charset="0"/>
                        <a:ea typeface="Calibri" charset="0"/>
                        <a:cs typeface="Calibri" charset="0"/>
                      </a:endParaRPr>
                    </a:p>
                  </a:txBody>
                  <a:tcPr marL="82296" marR="82296" marT="82296" marB="82296" anchor="ctr">
                    <a:lnL w="12700" cap="flat" cmpd="sng" algn="ctr">
                      <a:solidFill>
                        <a:srgbClr val="E6E4E0"/>
                      </a:solidFill>
                      <a:prstDash val="solid"/>
                      <a:round/>
                      <a:headEnd type="none" w="med" len="med"/>
                      <a:tailEnd type="none" w="med" len="med"/>
                    </a:lnL>
                    <a:lnR w="12700" cap="flat" cmpd="sng" algn="ctr">
                      <a:solidFill>
                        <a:srgbClr val="E6E4E0"/>
                      </a:solidFill>
                      <a:prstDash val="solid"/>
                      <a:round/>
                      <a:headEnd type="none" w="med" len="med"/>
                      <a:tailEnd type="none" w="med" len="med"/>
                    </a:lnR>
                    <a:lnT w="12700" cap="flat" cmpd="sng" algn="ctr">
                      <a:solidFill>
                        <a:srgbClr val="E6E4E0"/>
                      </a:solidFill>
                      <a:prstDash val="solid"/>
                      <a:round/>
                      <a:headEnd type="none" w="med" len="med"/>
                      <a:tailEnd type="none" w="med" len="med"/>
                    </a:lnT>
                    <a:lnB w="12700" cap="flat" cmpd="sng" algn="ctr">
                      <a:solidFill>
                        <a:srgbClr val="E6E4E0"/>
                      </a:solidFill>
                      <a:prstDash val="solid"/>
                      <a:round/>
                      <a:headEnd type="none" w="med" len="med"/>
                      <a:tailEnd type="none" w="med" len="med"/>
                    </a:lnB>
                  </a:tcPr>
                </a:tc>
                <a:extLst>
                  <a:ext uri="{0D108BD9-81ED-4DB2-BD59-A6C34878D82A}">
                    <a16:rowId xmlns:a16="http://schemas.microsoft.com/office/drawing/2014/main" val="10001"/>
                  </a:ext>
                </a:extLst>
              </a:tr>
              <a:tr h="914400">
                <a:tc>
                  <a:txBody>
                    <a:bodyPr/>
                    <a:lstStyle/>
                    <a:p>
                      <a:pPr marL="0" indent="0" algn="l">
                        <a:buNone/>
                      </a:pPr>
                      <a:r>
                        <a:rPr lang="en-US" sz="1150" dirty="0">
                          <a:solidFill>
                            <a:srgbClr val="0B0C0E"/>
                          </a:solidFill>
                          <a:latin typeface="Calibri" pitchFamily="34" charset="0"/>
                          <a:ea typeface="Calibri" pitchFamily="34" charset="-122"/>
                          <a:cs typeface="Calibri" pitchFamily="34" charset="-120"/>
                        </a:rPr>
                        <a:t>Alarab, Prakoonwit &amp; Nacer (2020)</a:t>
                      </a:r>
                      <a:endParaRPr lang="en-US" sz="1150" dirty="0">
                        <a:latin typeface="Calibri" charset="0"/>
                        <a:ea typeface="Calibri" charset="0"/>
                        <a:cs typeface="Calibri" charset="0"/>
                      </a:endParaRPr>
                    </a:p>
                  </a:txBody>
                  <a:tcPr marL="82296" marR="82296" marT="82296" marB="82296" anchor="ctr">
                    <a:lnL w="12700" cap="flat" cmpd="sng" algn="ctr">
                      <a:solidFill>
                        <a:srgbClr val="E6E4E0"/>
                      </a:solidFill>
                      <a:prstDash val="solid"/>
                      <a:round/>
                      <a:headEnd type="none" w="med" len="med"/>
                      <a:tailEnd type="none" w="med" len="med"/>
                    </a:lnL>
                    <a:lnR w="12700" cap="flat" cmpd="sng" algn="ctr">
                      <a:solidFill>
                        <a:srgbClr val="E6E4E0"/>
                      </a:solidFill>
                      <a:prstDash val="solid"/>
                      <a:round/>
                      <a:headEnd type="none" w="med" len="med"/>
                      <a:tailEnd type="none" w="med" len="med"/>
                    </a:lnR>
                    <a:lnT w="12700" cap="flat" cmpd="sng" algn="ctr">
                      <a:solidFill>
                        <a:srgbClr val="E6E4E0"/>
                      </a:solidFill>
                      <a:prstDash val="solid"/>
                      <a:round/>
                      <a:headEnd type="none" w="med" len="med"/>
                      <a:tailEnd type="none" w="med" len="med"/>
                    </a:lnT>
                    <a:lnB w="12700" cap="flat" cmpd="sng" algn="ctr">
                      <a:solidFill>
                        <a:srgbClr val="E6E4E0"/>
                      </a:solidFill>
                      <a:prstDash val="solid"/>
                      <a:round/>
                      <a:headEnd type="none" w="med" len="med"/>
                      <a:tailEnd type="none" w="med" len="med"/>
                    </a:lnB>
                  </a:tcPr>
                </a:tc>
                <a:tc>
                  <a:txBody>
                    <a:bodyPr/>
                    <a:lstStyle/>
                    <a:p>
                      <a:pPr marL="0" indent="0" algn="l">
                        <a:buNone/>
                      </a:pPr>
                      <a:r>
                        <a:rPr lang="en-US" sz="1150" dirty="0">
                          <a:solidFill>
                            <a:srgbClr val="0B0C0E"/>
                          </a:solidFill>
                          <a:latin typeface="Calibri" pitchFamily="34" charset="0"/>
                          <a:ea typeface="Calibri" pitchFamily="34" charset="-122"/>
                          <a:cs typeface="Calibri" pitchFamily="34" charset="-120"/>
                        </a:rPr>
                        <a:t>Competence of Graph Convolutional Networks for Anti-Money Laundering in Bitcoin Blockchain</a:t>
                      </a:r>
                      <a:endParaRPr lang="en-US" sz="1150" dirty="0">
                        <a:latin typeface="Calibri" charset="0"/>
                        <a:ea typeface="Calibri" charset="0"/>
                        <a:cs typeface="Calibri" charset="0"/>
                      </a:endParaRPr>
                    </a:p>
                  </a:txBody>
                  <a:tcPr marL="82296" marR="82296" marT="82296" marB="82296" anchor="ctr">
                    <a:lnL w="12700" cap="flat" cmpd="sng" algn="ctr">
                      <a:solidFill>
                        <a:srgbClr val="E6E4E0"/>
                      </a:solidFill>
                      <a:prstDash val="solid"/>
                      <a:round/>
                      <a:headEnd type="none" w="med" len="med"/>
                      <a:tailEnd type="none" w="med" len="med"/>
                    </a:lnL>
                    <a:lnR w="12700" cap="flat" cmpd="sng" algn="ctr">
                      <a:solidFill>
                        <a:srgbClr val="E6E4E0"/>
                      </a:solidFill>
                      <a:prstDash val="solid"/>
                      <a:round/>
                      <a:headEnd type="none" w="med" len="med"/>
                      <a:tailEnd type="none" w="med" len="med"/>
                    </a:lnR>
                    <a:lnT w="12700" cap="flat" cmpd="sng" algn="ctr">
                      <a:solidFill>
                        <a:srgbClr val="E6E4E0"/>
                      </a:solidFill>
                      <a:prstDash val="solid"/>
                      <a:round/>
                      <a:headEnd type="none" w="med" len="med"/>
                      <a:tailEnd type="none" w="med" len="med"/>
                    </a:lnT>
                    <a:lnB w="12700" cap="flat" cmpd="sng" algn="ctr">
                      <a:solidFill>
                        <a:srgbClr val="E6E4E0"/>
                      </a:solidFill>
                      <a:prstDash val="solid"/>
                      <a:round/>
                      <a:headEnd type="none" w="med" len="med"/>
                      <a:tailEnd type="none" w="med" len="med"/>
                    </a:lnB>
                  </a:tcPr>
                </a:tc>
                <a:tc>
                  <a:txBody>
                    <a:bodyPr/>
                    <a:lstStyle/>
                    <a:p>
                      <a:pPr marL="0" indent="0" algn="l">
                        <a:buNone/>
                      </a:pPr>
                      <a:r>
                        <a:rPr lang="en-US" sz="1150" dirty="0">
                          <a:solidFill>
                            <a:srgbClr val="0B0C0E"/>
                          </a:solidFill>
                          <a:latin typeface="Calibri" pitchFamily="34" charset="0"/>
                          <a:ea typeface="Calibri" pitchFamily="34" charset="-122"/>
                          <a:cs typeface="Calibri" pitchFamily="34" charset="-120"/>
                        </a:rPr>
                        <a:t>Interleaving graph convolutional and linear layers outperformed the original GCN configuration on the same dataset.</a:t>
                      </a:r>
                      <a:endParaRPr lang="en-US" sz="1150" dirty="0">
                        <a:latin typeface="Calibri" charset="0"/>
                        <a:ea typeface="Calibri" charset="0"/>
                        <a:cs typeface="Calibri" charset="0"/>
                      </a:endParaRPr>
                    </a:p>
                  </a:txBody>
                  <a:tcPr marL="82296" marR="82296" marT="82296" marB="82296" anchor="ctr">
                    <a:lnL w="12700" cap="flat" cmpd="sng" algn="ctr">
                      <a:solidFill>
                        <a:srgbClr val="E6E4E0"/>
                      </a:solidFill>
                      <a:prstDash val="solid"/>
                      <a:round/>
                      <a:headEnd type="none" w="med" len="med"/>
                      <a:tailEnd type="none" w="med" len="med"/>
                    </a:lnL>
                    <a:lnR w="12700" cap="flat" cmpd="sng" algn="ctr">
                      <a:solidFill>
                        <a:srgbClr val="E6E4E0"/>
                      </a:solidFill>
                      <a:prstDash val="solid"/>
                      <a:round/>
                      <a:headEnd type="none" w="med" len="med"/>
                      <a:tailEnd type="none" w="med" len="med"/>
                    </a:lnR>
                    <a:lnT w="12700" cap="flat" cmpd="sng" algn="ctr">
                      <a:solidFill>
                        <a:srgbClr val="E6E4E0"/>
                      </a:solidFill>
                      <a:prstDash val="solid"/>
                      <a:round/>
                      <a:headEnd type="none" w="med" len="med"/>
                      <a:tailEnd type="none" w="med" len="med"/>
                    </a:lnT>
                    <a:lnB w="12700" cap="flat" cmpd="sng" algn="ctr">
                      <a:solidFill>
                        <a:srgbClr val="E6E4E0"/>
                      </a:solidFill>
                      <a:prstDash val="solid"/>
                      <a:round/>
                      <a:headEnd type="none" w="med" len="med"/>
                      <a:tailEnd type="none" w="med" len="med"/>
                    </a:lnB>
                  </a:tcPr>
                </a:tc>
                <a:extLst>
                  <a:ext uri="{0D108BD9-81ED-4DB2-BD59-A6C34878D82A}">
                    <a16:rowId xmlns:a16="http://schemas.microsoft.com/office/drawing/2014/main" val="10002"/>
                  </a:ext>
                </a:extLst>
              </a:tr>
              <a:tr h="868680">
                <a:tc>
                  <a:txBody>
                    <a:bodyPr/>
                    <a:lstStyle/>
                    <a:p>
                      <a:pPr marL="0" indent="0" algn="l">
                        <a:buNone/>
                      </a:pPr>
                      <a:r>
                        <a:rPr lang="en-US" sz="1150" dirty="0">
                          <a:solidFill>
                            <a:srgbClr val="0B0C0E"/>
                          </a:solidFill>
                          <a:latin typeface="Calibri" pitchFamily="34" charset="0"/>
                          <a:ea typeface="Calibri" pitchFamily="34" charset="-122"/>
                          <a:cs typeface="Calibri" pitchFamily="34" charset="-120"/>
                        </a:rPr>
                        <a:t>Pareja et al. (2020)</a:t>
                      </a:r>
                      <a:endParaRPr lang="en-US" sz="1150" dirty="0">
                        <a:latin typeface="Calibri" charset="0"/>
                        <a:ea typeface="Calibri" charset="0"/>
                        <a:cs typeface="Calibri" charset="0"/>
                      </a:endParaRPr>
                    </a:p>
                  </a:txBody>
                  <a:tcPr marL="82296" marR="82296" marT="82296" marB="82296" anchor="ctr">
                    <a:lnL w="12700" cap="flat" cmpd="sng" algn="ctr">
                      <a:solidFill>
                        <a:srgbClr val="E6E4E0"/>
                      </a:solidFill>
                      <a:prstDash val="solid"/>
                      <a:round/>
                      <a:headEnd type="none" w="med" len="med"/>
                      <a:tailEnd type="none" w="med" len="med"/>
                    </a:lnL>
                    <a:lnR w="12700" cap="flat" cmpd="sng" algn="ctr">
                      <a:solidFill>
                        <a:srgbClr val="E6E4E0"/>
                      </a:solidFill>
                      <a:prstDash val="solid"/>
                      <a:round/>
                      <a:headEnd type="none" w="med" len="med"/>
                      <a:tailEnd type="none" w="med" len="med"/>
                    </a:lnR>
                    <a:lnT w="12700" cap="flat" cmpd="sng" algn="ctr">
                      <a:solidFill>
                        <a:srgbClr val="E6E4E0"/>
                      </a:solidFill>
                      <a:prstDash val="solid"/>
                      <a:round/>
                      <a:headEnd type="none" w="med" len="med"/>
                      <a:tailEnd type="none" w="med" len="med"/>
                    </a:lnT>
                    <a:lnB w="12700" cap="flat" cmpd="sng" algn="ctr">
                      <a:solidFill>
                        <a:srgbClr val="E6E4E0"/>
                      </a:solidFill>
                      <a:prstDash val="solid"/>
                      <a:round/>
                      <a:headEnd type="none" w="med" len="med"/>
                      <a:tailEnd type="none" w="med" len="med"/>
                    </a:lnB>
                  </a:tcPr>
                </a:tc>
                <a:tc>
                  <a:txBody>
                    <a:bodyPr/>
                    <a:lstStyle/>
                    <a:p>
                      <a:pPr marL="0" indent="0" algn="l">
                        <a:buNone/>
                      </a:pPr>
                      <a:r>
                        <a:rPr lang="en-US" sz="1150" dirty="0">
                          <a:solidFill>
                            <a:srgbClr val="0B0C0E"/>
                          </a:solidFill>
                          <a:latin typeface="Calibri" pitchFamily="34" charset="0"/>
                          <a:ea typeface="Calibri" pitchFamily="34" charset="-122"/>
                          <a:cs typeface="Calibri" pitchFamily="34" charset="-120"/>
                        </a:rPr>
                        <a:t>EvolveGCN: Evolving Graph Convolutional Networks for Dynamic Graphs</a:t>
                      </a:r>
                      <a:endParaRPr lang="en-US" sz="1150" dirty="0">
                        <a:latin typeface="Calibri" charset="0"/>
                        <a:ea typeface="Calibri" charset="0"/>
                        <a:cs typeface="Calibri" charset="0"/>
                      </a:endParaRPr>
                    </a:p>
                  </a:txBody>
                  <a:tcPr marL="82296" marR="82296" marT="82296" marB="82296" anchor="ctr">
                    <a:lnL w="12700" cap="flat" cmpd="sng" algn="ctr">
                      <a:solidFill>
                        <a:srgbClr val="E6E4E0"/>
                      </a:solidFill>
                      <a:prstDash val="solid"/>
                      <a:round/>
                      <a:headEnd type="none" w="med" len="med"/>
                      <a:tailEnd type="none" w="med" len="med"/>
                    </a:lnL>
                    <a:lnR w="12700" cap="flat" cmpd="sng" algn="ctr">
                      <a:solidFill>
                        <a:srgbClr val="E6E4E0"/>
                      </a:solidFill>
                      <a:prstDash val="solid"/>
                      <a:round/>
                      <a:headEnd type="none" w="med" len="med"/>
                      <a:tailEnd type="none" w="med" len="med"/>
                    </a:lnR>
                    <a:lnT w="12700" cap="flat" cmpd="sng" algn="ctr">
                      <a:solidFill>
                        <a:srgbClr val="E6E4E0"/>
                      </a:solidFill>
                      <a:prstDash val="solid"/>
                      <a:round/>
                      <a:headEnd type="none" w="med" len="med"/>
                      <a:tailEnd type="none" w="med" len="med"/>
                    </a:lnT>
                    <a:lnB w="12700" cap="flat" cmpd="sng" algn="ctr">
                      <a:solidFill>
                        <a:srgbClr val="E6E4E0"/>
                      </a:solidFill>
                      <a:prstDash val="solid"/>
                      <a:round/>
                      <a:headEnd type="none" w="med" len="med"/>
                      <a:tailEnd type="none" w="med" len="med"/>
                    </a:lnB>
                  </a:tcPr>
                </a:tc>
                <a:tc>
                  <a:txBody>
                    <a:bodyPr/>
                    <a:lstStyle/>
                    <a:p>
                      <a:pPr marL="0" indent="0" algn="l">
                        <a:buNone/>
                      </a:pPr>
                      <a:r>
                        <a:rPr lang="en-US" sz="1150" dirty="0">
                          <a:solidFill>
                            <a:srgbClr val="0B0C0E"/>
                          </a:solidFill>
                          <a:latin typeface="Calibri" pitchFamily="34" charset="0"/>
                          <a:ea typeface="Calibri" pitchFamily="34" charset="-122"/>
                          <a:cs typeface="Calibri" pitchFamily="34" charset="-120"/>
                        </a:rPr>
                        <a:t>Using a recurrent network to evolve GCN weights across time steps beat the static GCN on evolving transaction graphs.</a:t>
                      </a:r>
                      <a:endParaRPr lang="en-US" sz="1150" dirty="0">
                        <a:latin typeface="Calibri" charset="0"/>
                        <a:ea typeface="Calibri" charset="0"/>
                        <a:cs typeface="Calibri" charset="0"/>
                      </a:endParaRPr>
                    </a:p>
                  </a:txBody>
                  <a:tcPr marL="82296" marR="82296" marT="82296" marB="82296" anchor="ctr">
                    <a:lnL w="12700" cap="flat" cmpd="sng" algn="ctr">
                      <a:solidFill>
                        <a:srgbClr val="E6E4E0"/>
                      </a:solidFill>
                      <a:prstDash val="solid"/>
                      <a:round/>
                      <a:headEnd type="none" w="med" len="med"/>
                      <a:tailEnd type="none" w="med" len="med"/>
                    </a:lnL>
                    <a:lnR w="12700" cap="flat" cmpd="sng" algn="ctr">
                      <a:solidFill>
                        <a:srgbClr val="E6E4E0"/>
                      </a:solidFill>
                      <a:prstDash val="solid"/>
                      <a:round/>
                      <a:headEnd type="none" w="med" len="med"/>
                      <a:tailEnd type="none" w="med" len="med"/>
                    </a:lnR>
                    <a:lnT w="12700" cap="flat" cmpd="sng" algn="ctr">
                      <a:solidFill>
                        <a:srgbClr val="E6E4E0"/>
                      </a:solidFill>
                      <a:prstDash val="solid"/>
                      <a:round/>
                      <a:headEnd type="none" w="med" len="med"/>
                      <a:tailEnd type="none" w="med" len="med"/>
                    </a:lnT>
                    <a:lnB w="12700" cap="flat" cmpd="sng" algn="ctr">
                      <a:solidFill>
                        <a:srgbClr val="E6E4E0"/>
                      </a:solidFill>
                      <a:prstDash val="solid"/>
                      <a:round/>
                      <a:headEnd type="none" w="med" len="med"/>
                      <a:tailEnd type="none" w="med" len="med"/>
                    </a:lnB>
                  </a:tcPr>
                </a:tc>
                <a:extLst>
                  <a:ext uri="{0D108BD9-81ED-4DB2-BD59-A6C34878D82A}">
                    <a16:rowId xmlns:a16="http://schemas.microsoft.com/office/drawing/2014/main" val="10003"/>
                  </a:ext>
                </a:extLst>
              </a:tr>
              <a:tr h="960120">
                <a:tc>
                  <a:txBody>
                    <a:bodyPr/>
                    <a:lstStyle/>
                    <a:p>
                      <a:pPr marL="0" indent="0" algn="l">
                        <a:buNone/>
                      </a:pPr>
                      <a:r>
                        <a:rPr lang="en-US" sz="1150" dirty="0">
                          <a:solidFill>
                            <a:srgbClr val="0B0C0E"/>
                          </a:solidFill>
                          <a:latin typeface="Calibri" pitchFamily="34" charset="0"/>
                          <a:ea typeface="Calibri" pitchFamily="34" charset="-122"/>
                          <a:cs typeface="Calibri" pitchFamily="34" charset="-120"/>
                        </a:rPr>
                        <a:t>Motie &amp; Raahemi (2024)</a:t>
                      </a:r>
                      <a:endParaRPr lang="en-US" sz="1150" dirty="0">
                        <a:latin typeface="Calibri" charset="0"/>
                        <a:ea typeface="Calibri" charset="0"/>
                        <a:cs typeface="Calibri" charset="0"/>
                      </a:endParaRPr>
                    </a:p>
                  </a:txBody>
                  <a:tcPr marL="82296" marR="82296" marT="82296" marB="82296" anchor="ctr">
                    <a:lnL w="12700" cap="flat" cmpd="sng" algn="ctr">
                      <a:solidFill>
                        <a:srgbClr val="E6E4E0"/>
                      </a:solidFill>
                      <a:prstDash val="solid"/>
                      <a:round/>
                      <a:headEnd type="none" w="med" len="med"/>
                      <a:tailEnd type="none" w="med" len="med"/>
                    </a:lnL>
                    <a:lnR w="12700" cap="flat" cmpd="sng" algn="ctr">
                      <a:solidFill>
                        <a:srgbClr val="E6E4E0"/>
                      </a:solidFill>
                      <a:prstDash val="solid"/>
                      <a:round/>
                      <a:headEnd type="none" w="med" len="med"/>
                      <a:tailEnd type="none" w="med" len="med"/>
                    </a:lnR>
                    <a:lnT w="12700" cap="flat" cmpd="sng" algn="ctr">
                      <a:solidFill>
                        <a:srgbClr val="E6E4E0"/>
                      </a:solidFill>
                      <a:prstDash val="solid"/>
                      <a:round/>
                      <a:headEnd type="none" w="med" len="med"/>
                      <a:tailEnd type="none" w="med" len="med"/>
                    </a:lnT>
                    <a:lnB w="12700" cap="flat" cmpd="sng" algn="ctr">
                      <a:solidFill>
                        <a:srgbClr val="E6E4E0"/>
                      </a:solidFill>
                      <a:prstDash val="solid"/>
                      <a:round/>
                      <a:headEnd type="none" w="med" len="med"/>
                      <a:tailEnd type="none" w="med" len="med"/>
                    </a:lnB>
                  </a:tcPr>
                </a:tc>
                <a:tc>
                  <a:txBody>
                    <a:bodyPr/>
                    <a:lstStyle/>
                    <a:p>
                      <a:pPr marL="0" indent="0" algn="l">
                        <a:buNone/>
                      </a:pPr>
                      <a:r>
                        <a:rPr lang="en-US" sz="1150" dirty="0">
                          <a:solidFill>
                            <a:srgbClr val="0B0C0E"/>
                          </a:solidFill>
                          <a:latin typeface="Calibri" pitchFamily="34" charset="0"/>
                          <a:ea typeface="Calibri" pitchFamily="34" charset="-122"/>
                          <a:cs typeface="Calibri" pitchFamily="34" charset="-120"/>
                        </a:rPr>
                        <a:t>Financial Fraud Detection Using Graph Neural Networks: A Systematic Review</a:t>
                      </a:r>
                      <a:endParaRPr lang="en-US" sz="1150" dirty="0">
                        <a:latin typeface="Calibri" charset="0"/>
                        <a:ea typeface="Calibri" charset="0"/>
                        <a:cs typeface="Calibri" charset="0"/>
                      </a:endParaRPr>
                    </a:p>
                  </a:txBody>
                  <a:tcPr marL="82296" marR="82296" marT="82296" marB="82296" anchor="ctr">
                    <a:lnL w="12700" cap="flat" cmpd="sng" algn="ctr">
                      <a:solidFill>
                        <a:srgbClr val="E6E4E0"/>
                      </a:solidFill>
                      <a:prstDash val="solid"/>
                      <a:round/>
                      <a:headEnd type="none" w="med" len="med"/>
                      <a:tailEnd type="none" w="med" len="med"/>
                    </a:lnL>
                    <a:lnR w="12700" cap="flat" cmpd="sng" algn="ctr">
                      <a:solidFill>
                        <a:srgbClr val="E6E4E0"/>
                      </a:solidFill>
                      <a:prstDash val="solid"/>
                      <a:round/>
                      <a:headEnd type="none" w="med" len="med"/>
                      <a:tailEnd type="none" w="med" len="med"/>
                    </a:lnR>
                    <a:lnT w="12700" cap="flat" cmpd="sng" algn="ctr">
                      <a:solidFill>
                        <a:srgbClr val="E6E4E0"/>
                      </a:solidFill>
                      <a:prstDash val="solid"/>
                      <a:round/>
                      <a:headEnd type="none" w="med" len="med"/>
                      <a:tailEnd type="none" w="med" len="med"/>
                    </a:lnT>
                    <a:lnB w="12700" cap="flat" cmpd="sng" algn="ctr">
                      <a:solidFill>
                        <a:srgbClr val="E6E4E0"/>
                      </a:solidFill>
                      <a:prstDash val="solid"/>
                      <a:round/>
                      <a:headEnd type="none" w="med" len="med"/>
                      <a:tailEnd type="none" w="med" len="med"/>
                    </a:lnB>
                  </a:tcPr>
                </a:tc>
                <a:tc>
                  <a:txBody>
                    <a:bodyPr/>
                    <a:lstStyle/>
                    <a:p>
                      <a:pPr marL="0" indent="0" algn="l">
                        <a:buNone/>
                      </a:pPr>
                      <a:r>
                        <a:rPr lang="en-US" sz="1150" dirty="0">
                          <a:solidFill>
                            <a:srgbClr val="0B0C0E"/>
                          </a:solidFill>
                          <a:latin typeface="Calibri" pitchFamily="34" charset="0"/>
                          <a:ea typeface="Calibri" pitchFamily="34" charset="-122"/>
                          <a:cs typeface="Calibri" pitchFamily="34" charset="-120"/>
                        </a:rPr>
                        <a:t>GNNs are consistently competitive with or superior to conventional baselines on relational fraud tasks; imbalance, drift and explainability remain open.</a:t>
                      </a:r>
                      <a:endParaRPr lang="en-US" sz="1150" dirty="0">
                        <a:latin typeface="Calibri" charset="0"/>
                        <a:ea typeface="Calibri" charset="0"/>
                        <a:cs typeface="Calibri" charset="0"/>
                      </a:endParaRPr>
                    </a:p>
                  </a:txBody>
                  <a:tcPr marL="82296" marR="82296" marT="82296" marB="82296" anchor="ctr">
                    <a:lnL w="12700" cap="flat" cmpd="sng" algn="ctr">
                      <a:solidFill>
                        <a:srgbClr val="E6E4E0"/>
                      </a:solidFill>
                      <a:prstDash val="solid"/>
                      <a:round/>
                      <a:headEnd type="none" w="med" len="med"/>
                      <a:tailEnd type="none" w="med" len="med"/>
                    </a:lnL>
                    <a:lnR w="12700" cap="flat" cmpd="sng" algn="ctr">
                      <a:solidFill>
                        <a:srgbClr val="E6E4E0"/>
                      </a:solidFill>
                      <a:prstDash val="solid"/>
                      <a:round/>
                      <a:headEnd type="none" w="med" len="med"/>
                      <a:tailEnd type="none" w="med" len="med"/>
                    </a:lnR>
                    <a:lnT w="12700" cap="flat" cmpd="sng" algn="ctr">
                      <a:solidFill>
                        <a:srgbClr val="E6E4E0"/>
                      </a:solidFill>
                      <a:prstDash val="solid"/>
                      <a:round/>
                      <a:headEnd type="none" w="med" len="med"/>
                      <a:tailEnd type="none" w="med" len="med"/>
                    </a:lnT>
                    <a:lnB w="12700" cap="flat" cmpd="sng" algn="ctr">
                      <a:solidFill>
                        <a:srgbClr val="E6E4E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4" name="Text 1"/>
          <p:cNvSpPr/>
          <p:nvPr/>
        </p:nvSpPr>
        <p:spPr>
          <a:xfrm>
            <a:off x="548640" y="5806440"/>
            <a:ext cx="11064240" cy="457200"/>
          </a:xfrm>
          <a:prstGeom prst="rect">
            <a:avLst/>
          </a:prstGeom>
          <a:noFill/>
          <a:ln/>
        </p:spPr>
        <p:txBody>
          <a:bodyPr wrap="square" lIns="0" tIns="0" rIns="0" bIns="0" rtlCol="0" anchor="ctr"/>
          <a:lstStyle/>
          <a:p>
            <a:pPr marL="0" indent="0">
              <a:lnSpc>
                <a:spcPts val="1800"/>
              </a:lnSpc>
              <a:buNone/>
            </a:pPr>
            <a:r>
              <a:rPr lang="en-US" sz="1300" b="1" dirty="0">
                <a:solidFill>
                  <a:srgbClr val="2B44E8"/>
                </a:solidFill>
                <a:latin typeface="Calibri" pitchFamily="34" charset="0"/>
                <a:ea typeface="Calibri" pitchFamily="34" charset="-122"/>
                <a:cs typeface="Calibri" pitchFamily="34" charset="-120"/>
              </a:rPr>
              <a:t>Common gap: these are model experiments. None delivers an operational system in which predictions are explained, monitored continuously and tracked to resolution.</a:t>
            </a:r>
            <a:endParaRPr lang="en-US" sz="1300" dirty="0"/>
          </a:p>
        </p:txBody>
      </p:sp>
      <p:pic>
        <p:nvPicPr>
          <p:cNvPr id="5" name="Image 0" descr="C:\Users\brigh\Downloads\crescent logo.jpg"/>
          <p:cNvPicPr>
            <a:picLocks noChangeAspect="1"/>
          </p:cNvPicPr>
          <p:nvPr/>
        </p:nvPicPr>
        <p:blipFill>
          <a:blip r:embed="rId3"/>
          <a:stretch>
            <a:fillRect/>
          </a:stretch>
        </p:blipFill>
        <p:spPr>
          <a:xfrm>
            <a:off x="11155680" y="292608"/>
            <a:ext cx="685800" cy="536753"/>
          </a:xfrm>
          <a:prstGeom prst="rect">
            <a:avLst/>
          </a:prstGeom>
        </p:spPr>
      </p:pic>
      <p:sp>
        <p:nvSpPr>
          <p:cNvPr id="6" name="Text 2"/>
          <p:cNvSpPr/>
          <p:nvPr/>
        </p:nvSpPr>
        <p:spPr>
          <a:xfrm>
            <a:off x="11155680" y="6327648"/>
            <a:ext cx="685800" cy="274320"/>
          </a:xfrm>
          <a:prstGeom prst="rect">
            <a:avLst/>
          </a:prstGeom>
          <a:noFill/>
          <a:ln/>
        </p:spPr>
        <p:txBody>
          <a:bodyPr wrap="square" rtlCol="0" anchor="ctr"/>
          <a:lstStyle/>
          <a:p>
            <a:pPr marL="0" indent="0" algn="r">
              <a:buNone/>
            </a:pPr>
            <a:r>
              <a:rPr lang="en-US" sz="1100" dirty="0">
                <a:solidFill>
                  <a:srgbClr val="6B7280"/>
                </a:solidFill>
                <a:latin typeface="Calibri" pitchFamily="34" charset="0"/>
                <a:ea typeface="Calibri" pitchFamily="34" charset="-122"/>
                <a:cs typeface="Calibri" pitchFamily="34" charset="-120"/>
              </a:rPr>
              <a:t>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332720" cy="566928"/>
          </a:xfrm>
          <a:prstGeom prst="rect">
            <a:avLst/>
          </a:prstGeom>
          <a:noFill/>
          <a:ln/>
        </p:spPr>
        <p:txBody>
          <a:bodyPr wrap="square" lIns="0" tIns="0" rIns="0" bIns="0" rtlCol="0" anchor="ctr"/>
          <a:lstStyle/>
          <a:p>
            <a:pPr marL="0" indent="0">
              <a:buNone/>
            </a:pPr>
            <a:r>
              <a:rPr lang="en-US" sz="3000" b="1" dirty="0">
                <a:solidFill>
                  <a:srgbClr val="0B0C0E"/>
                </a:solidFill>
                <a:latin typeface="Calibri" pitchFamily="34" charset="0"/>
                <a:ea typeface="Calibri" pitchFamily="34" charset="-122"/>
                <a:cs typeface="Calibri" pitchFamily="34" charset="-120"/>
              </a:rPr>
              <a:t>Summary of the Work</a:t>
            </a:r>
            <a:endParaRPr lang="en-US" sz="3000" dirty="0"/>
          </a:p>
        </p:txBody>
      </p:sp>
      <p:sp>
        <p:nvSpPr>
          <p:cNvPr id="3" name="Text 1"/>
          <p:cNvSpPr/>
          <p:nvPr/>
        </p:nvSpPr>
        <p:spPr>
          <a:xfrm>
            <a:off x="548640" y="969264"/>
            <a:ext cx="10058400" cy="292608"/>
          </a:xfrm>
          <a:prstGeom prst="rect">
            <a:avLst/>
          </a:prstGeom>
          <a:noFill/>
          <a:ln/>
        </p:spPr>
        <p:txBody>
          <a:bodyPr wrap="square" lIns="0" tIns="0" rIns="0" bIns="0" rtlCol="0" anchor="ctr"/>
          <a:lstStyle/>
          <a:p>
            <a:pPr marL="0" indent="0">
              <a:buNone/>
            </a:pPr>
            <a:r>
              <a:rPr lang="en-US" sz="1400" dirty="0">
                <a:solidFill>
                  <a:srgbClr val="6B7280"/>
                </a:solidFill>
                <a:latin typeface="Calibri" pitchFamily="34" charset="0"/>
                <a:ea typeface="Calibri" pitchFamily="34" charset="-122"/>
                <a:cs typeface="Calibri" pitchFamily="34" charset="-120"/>
              </a:rPr>
              <a:t>The data and the three models</a:t>
            </a:r>
            <a:endParaRPr lang="en-US" sz="1400" dirty="0"/>
          </a:p>
        </p:txBody>
      </p:sp>
      <p:sp>
        <p:nvSpPr>
          <p:cNvPr id="4" name="Shape 2"/>
          <p:cNvSpPr/>
          <p:nvPr/>
        </p:nvSpPr>
        <p:spPr>
          <a:xfrm>
            <a:off x="548640" y="1536192"/>
            <a:ext cx="4983480" cy="4480560"/>
          </a:xfrm>
          <a:prstGeom prst="roundRect">
            <a:avLst>
              <a:gd name="adj" fmla="val 1633"/>
            </a:avLst>
          </a:prstGeom>
          <a:solidFill>
            <a:srgbClr val="FFFFFF"/>
          </a:solidFill>
          <a:ln w="12700">
            <a:solidFill>
              <a:srgbClr val="E6E4E0"/>
            </a:solidFill>
            <a:prstDash val="solid"/>
          </a:ln>
          <a:effectLst>
            <a:outerShdw blurRad="101600" dist="12700" dir="5400000" algn="bl" rotWithShape="0">
              <a:srgbClr val="9AA0AA">
                <a:alpha val="18000"/>
              </a:srgbClr>
            </a:outerShdw>
          </a:effectLst>
        </p:spPr>
      </p:sp>
      <p:sp>
        <p:nvSpPr>
          <p:cNvPr id="5" name="Text 3"/>
          <p:cNvSpPr/>
          <p:nvPr/>
        </p:nvSpPr>
        <p:spPr>
          <a:xfrm>
            <a:off x="822960" y="1737360"/>
            <a:ext cx="4480560" cy="274320"/>
          </a:xfrm>
          <a:prstGeom prst="rect">
            <a:avLst/>
          </a:prstGeom>
          <a:noFill/>
          <a:ln/>
        </p:spPr>
        <p:txBody>
          <a:bodyPr wrap="square" lIns="0" tIns="0" rIns="0" bIns="0" rtlCol="0" anchor="ctr"/>
          <a:lstStyle/>
          <a:p>
            <a:pPr marL="0" indent="0">
              <a:buNone/>
            </a:pPr>
            <a:r>
              <a:rPr lang="en-US" sz="1100" b="1" kern="0" spc="120" dirty="0">
                <a:solidFill>
                  <a:srgbClr val="2B44E8"/>
                </a:solidFill>
                <a:latin typeface="Calibri" pitchFamily="34" charset="0"/>
                <a:ea typeface="Calibri" pitchFamily="34" charset="-122"/>
                <a:cs typeface="Calibri" pitchFamily="34" charset="-120"/>
              </a:rPr>
              <a:t>THE ELLIPTIC DATASET</a:t>
            </a:r>
            <a:endParaRPr lang="en-US" sz="1100" dirty="0"/>
          </a:p>
        </p:txBody>
      </p:sp>
      <p:sp>
        <p:nvSpPr>
          <p:cNvPr id="6" name="Text 4"/>
          <p:cNvSpPr/>
          <p:nvPr/>
        </p:nvSpPr>
        <p:spPr>
          <a:xfrm>
            <a:off x="822960" y="2057400"/>
            <a:ext cx="4480560" cy="548640"/>
          </a:xfrm>
          <a:prstGeom prst="rect">
            <a:avLst/>
          </a:prstGeom>
          <a:noFill/>
          <a:ln/>
        </p:spPr>
        <p:txBody>
          <a:bodyPr wrap="square" lIns="0" tIns="0" rIns="0" bIns="0" rtlCol="0" anchor="ctr"/>
          <a:lstStyle/>
          <a:p>
            <a:pPr marL="0" indent="0">
              <a:lnSpc>
                <a:spcPts val="1700"/>
              </a:lnSpc>
              <a:buNone/>
            </a:pPr>
            <a:r>
              <a:rPr lang="en-US" sz="1250" dirty="0">
                <a:solidFill>
                  <a:srgbClr val="6B7280"/>
                </a:solidFill>
                <a:latin typeface="Calibri" pitchFamily="34" charset="0"/>
                <a:ea typeface="Calibri" pitchFamily="34" charset="-122"/>
                <a:cs typeface="Calibri" pitchFamily="34" charset="-120"/>
              </a:rPr>
              <a:t>A labelled subgraph of the real Bitcoin blockchain, published by Elliptic Ltd. with the MIT-IBM Watson AI Lab.</a:t>
            </a:r>
            <a:endParaRPr lang="en-US" sz="1250" dirty="0"/>
          </a:p>
        </p:txBody>
      </p:sp>
      <p:sp>
        <p:nvSpPr>
          <p:cNvPr id="7" name="Text 5"/>
          <p:cNvSpPr/>
          <p:nvPr/>
        </p:nvSpPr>
        <p:spPr>
          <a:xfrm>
            <a:off x="822960" y="2743200"/>
            <a:ext cx="1554480" cy="320040"/>
          </a:xfrm>
          <a:prstGeom prst="rect">
            <a:avLst/>
          </a:prstGeom>
          <a:noFill/>
          <a:ln/>
        </p:spPr>
        <p:txBody>
          <a:bodyPr wrap="square" lIns="0" tIns="0" rIns="0" bIns="0" rtlCol="0" anchor="ctr"/>
          <a:lstStyle/>
          <a:p>
            <a:pPr marL="0" indent="0">
              <a:buNone/>
            </a:pPr>
            <a:r>
              <a:rPr lang="en-US" sz="1800" b="1" dirty="0">
                <a:solidFill>
                  <a:srgbClr val="0B0C0E"/>
                </a:solidFill>
                <a:latin typeface="Calibri" pitchFamily="34" charset="0"/>
                <a:ea typeface="Calibri" pitchFamily="34" charset="-122"/>
                <a:cs typeface="Calibri" pitchFamily="34" charset="-120"/>
              </a:rPr>
              <a:t>203,769</a:t>
            </a:r>
            <a:endParaRPr lang="en-US" sz="1800" dirty="0"/>
          </a:p>
        </p:txBody>
      </p:sp>
      <p:sp>
        <p:nvSpPr>
          <p:cNvPr id="8" name="Text 6"/>
          <p:cNvSpPr/>
          <p:nvPr/>
        </p:nvSpPr>
        <p:spPr>
          <a:xfrm>
            <a:off x="2423160" y="2807208"/>
            <a:ext cx="2926080" cy="27432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transactions (nodes)</a:t>
            </a:r>
            <a:endParaRPr lang="en-US" sz="1200" dirty="0"/>
          </a:p>
        </p:txBody>
      </p:sp>
      <p:sp>
        <p:nvSpPr>
          <p:cNvPr id="9" name="Text 7"/>
          <p:cNvSpPr/>
          <p:nvPr/>
        </p:nvSpPr>
        <p:spPr>
          <a:xfrm>
            <a:off x="822960" y="3346704"/>
            <a:ext cx="1554480" cy="320040"/>
          </a:xfrm>
          <a:prstGeom prst="rect">
            <a:avLst/>
          </a:prstGeom>
          <a:noFill/>
          <a:ln/>
        </p:spPr>
        <p:txBody>
          <a:bodyPr wrap="square" lIns="0" tIns="0" rIns="0" bIns="0" rtlCol="0" anchor="ctr"/>
          <a:lstStyle/>
          <a:p>
            <a:pPr marL="0" indent="0">
              <a:buNone/>
            </a:pPr>
            <a:r>
              <a:rPr lang="en-US" sz="1800" b="1" dirty="0">
                <a:solidFill>
                  <a:srgbClr val="0B0C0E"/>
                </a:solidFill>
                <a:latin typeface="Calibri" pitchFamily="34" charset="0"/>
                <a:ea typeface="Calibri" pitchFamily="34" charset="-122"/>
                <a:cs typeface="Calibri" pitchFamily="34" charset="-120"/>
              </a:rPr>
              <a:t>234,355</a:t>
            </a:r>
            <a:endParaRPr lang="en-US" sz="1800" dirty="0"/>
          </a:p>
        </p:txBody>
      </p:sp>
      <p:sp>
        <p:nvSpPr>
          <p:cNvPr id="10" name="Text 8"/>
          <p:cNvSpPr/>
          <p:nvPr/>
        </p:nvSpPr>
        <p:spPr>
          <a:xfrm>
            <a:off x="2423160" y="3410712"/>
            <a:ext cx="2926080" cy="27432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payment flows (edges)</a:t>
            </a:r>
            <a:endParaRPr lang="en-US" sz="1200" dirty="0"/>
          </a:p>
        </p:txBody>
      </p:sp>
      <p:sp>
        <p:nvSpPr>
          <p:cNvPr id="11" name="Text 9"/>
          <p:cNvSpPr/>
          <p:nvPr/>
        </p:nvSpPr>
        <p:spPr>
          <a:xfrm>
            <a:off x="822960" y="3950208"/>
            <a:ext cx="1554480" cy="320040"/>
          </a:xfrm>
          <a:prstGeom prst="rect">
            <a:avLst/>
          </a:prstGeom>
          <a:noFill/>
          <a:ln/>
        </p:spPr>
        <p:txBody>
          <a:bodyPr wrap="square" lIns="0" tIns="0" rIns="0" bIns="0" rtlCol="0" anchor="ctr"/>
          <a:lstStyle/>
          <a:p>
            <a:pPr marL="0" indent="0">
              <a:buNone/>
            </a:pPr>
            <a:r>
              <a:rPr lang="en-US" sz="1800" b="1" dirty="0">
                <a:solidFill>
                  <a:srgbClr val="0B0C0E"/>
                </a:solidFill>
                <a:latin typeface="Calibri" pitchFamily="34" charset="0"/>
                <a:ea typeface="Calibri" pitchFamily="34" charset="-122"/>
                <a:cs typeface="Calibri" pitchFamily="34" charset="-120"/>
              </a:rPr>
              <a:t>165</a:t>
            </a:r>
            <a:endParaRPr lang="en-US" sz="1800" dirty="0"/>
          </a:p>
        </p:txBody>
      </p:sp>
      <p:sp>
        <p:nvSpPr>
          <p:cNvPr id="12" name="Text 10"/>
          <p:cNvSpPr/>
          <p:nvPr/>
        </p:nvSpPr>
        <p:spPr>
          <a:xfrm>
            <a:off x="2423160" y="4014216"/>
            <a:ext cx="2926080" cy="27432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features per transaction</a:t>
            </a:r>
            <a:endParaRPr lang="en-US" sz="1200" dirty="0"/>
          </a:p>
        </p:txBody>
      </p:sp>
      <p:sp>
        <p:nvSpPr>
          <p:cNvPr id="13" name="Text 11"/>
          <p:cNvSpPr/>
          <p:nvPr/>
        </p:nvSpPr>
        <p:spPr>
          <a:xfrm>
            <a:off x="822960" y="4553712"/>
            <a:ext cx="1554480" cy="320040"/>
          </a:xfrm>
          <a:prstGeom prst="rect">
            <a:avLst/>
          </a:prstGeom>
          <a:noFill/>
          <a:ln/>
        </p:spPr>
        <p:txBody>
          <a:bodyPr wrap="square" lIns="0" tIns="0" rIns="0" bIns="0" rtlCol="0" anchor="ctr"/>
          <a:lstStyle/>
          <a:p>
            <a:pPr marL="0" indent="0">
              <a:buNone/>
            </a:pPr>
            <a:r>
              <a:rPr lang="en-US" sz="1800" b="1" dirty="0">
                <a:solidFill>
                  <a:srgbClr val="0B0C0E"/>
                </a:solidFill>
                <a:latin typeface="Calibri" pitchFamily="34" charset="0"/>
                <a:ea typeface="Calibri" pitchFamily="34" charset="-122"/>
                <a:cs typeface="Calibri" pitchFamily="34" charset="-120"/>
              </a:rPr>
              <a:t>49</a:t>
            </a:r>
            <a:endParaRPr lang="en-US" sz="1800" dirty="0"/>
          </a:p>
        </p:txBody>
      </p:sp>
      <p:sp>
        <p:nvSpPr>
          <p:cNvPr id="14" name="Text 12"/>
          <p:cNvSpPr/>
          <p:nvPr/>
        </p:nvSpPr>
        <p:spPr>
          <a:xfrm>
            <a:off x="2423160" y="4617720"/>
            <a:ext cx="2926080" cy="27432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time steps of ~2 weeks</a:t>
            </a:r>
            <a:endParaRPr lang="en-US" sz="1200" dirty="0"/>
          </a:p>
        </p:txBody>
      </p:sp>
      <p:sp>
        <p:nvSpPr>
          <p:cNvPr id="15" name="Text 13"/>
          <p:cNvSpPr/>
          <p:nvPr/>
        </p:nvSpPr>
        <p:spPr>
          <a:xfrm>
            <a:off x="822960" y="5157216"/>
            <a:ext cx="1554480" cy="320040"/>
          </a:xfrm>
          <a:prstGeom prst="rect">
            <a:avLst/>
          </a:prstGeom>
          <a:noFill/>
          <a:ln/>
        </p:spPr>
        <p:txBody>
          <a:bodyPr wrap="square" lIns="0" tIns="0" rIns="0" bIns="0" rtlCol="0" anchor="ctr"/>
          <a:lstStyle/>
          <a:p>
            <a:pPr marL="0" indent="0">
              <a:buNone/>
            </a:pPr>
            <a:r>
              <a:rPr lang="en-US" sz="1800" b="1" dirty="0">
                <a:solidFill>
                  <a:srgbClr val="0B0C0E"/>
                </a:solidFill>
                <a:latin typeface="Calibri" pitchFamily="34" charset="0"/>
                <a:ea typeface="Calibri" pitchFamily="34" charset="-122"/>
                <a:cs typeface="Calibri" pitchFamily="34" charset="-120"/>
              </a:rPr>
              <a:t>46,564</a:t>
            </a:r>
            <a:endParaRPr lang="en-US" sz="1800" dirty="0"/>
          </a:p>
        </p:txBody>
      </p:sp>
      <p:sp>
        <p:nvSpPr>
          <p:cNvPr id="16" name="Text 14"/>
          <p:cNvSpPr/>
          <p:nvPr/>
        </p:nvSpPr>
        <p:spPr>
          <a:xfrm>
            <a:off x="2423160" y="5221224"/>
            <a:ext cx="2926080" cy="27432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labelled — 9.76% illicit</a:t>
            </a:r>
            <a:endParaRPr lang="en-US" sz="1200" dirty="0"/>
          </a:p>
        </p:txBody>
      </p:sp>
      <p:sp>
        <p:nvSpPr>
          <p:cNvPr id="17" name="Text 15"/>
          <p:cNvSpPr/>
          <p:nvPr/>
        </p:nvSpPr>
        <p:spPr>
          <a:xfrm>
            <a:off x="822960" y="5559552"/>
            <a:ext cx="4480560" cy="320040"/>
          </a:xfrm>
          <a:prstGeom prst="rect">
            <a:avLst/>
          </a:prstGeom>
          <a:noFill/>
          <a:ln/>
        </p:spPr>
        <p:txBody>
          <a:bodyPr wrap="square" lIns="0" tIns="0" rIns="0" bIns="0" rtlCol="0" anchor="ctr"/>
          <a:lstStyle/>
          <a:p>
            <a:pPr marL="0" indent="0">
              <a:lnSpc>
                <a:spcPts val="1400"/>
              </a:lnSpc>
              <a:buNone/>
            </a:pPr>
            <a:r>
              <a:rPr lang="en-US" sz="1100" i="1" dirty="0">
                <a:solidFill>
                  <a:srgbClr val="E0870B"/>
                </a:solidFill>
                <a:latin typeface="Calibri" pitchFamily="34" charset="0"/>
                <a:ea typeface="Calibri" pitchFamily="34" charset="-122"/>
                <a:cs typeface="Calibri" pitchFamily="34" charset="-120"/>
              </a:rPr>
              <a:t>77% of transactions carry no label — the models score them, but no ground truth exists.</a:t>
            </a:r>
            <a:endParaRPr lang="en-US" sz="1100" dirty="0"/>
          </a:p>
        </p:txBody>
      </p:sp>
      <p:sp>
        <p:nvSpPr>
          <p:cNvPr id="18" name="Shape 16"/>
          <p:cNvSpPr/>
          <p:nvPr/>
        </p:nvSpPr>
        <p:spPr>
          <a:xfrm>
            <a:off x="5806440" y="1536192"/>
            <a:ext cx="4983480" cy="4480560"/>
          </a:xfrm>
          <a:prstGeom prst="roundRect">
            <a:avLst>
              <a:gd name="adj" fmla="val 1633"/>
            </a:avLst>
          </a:prstGeom>
          <a:solidFill>
            <a:srgbClr val="FFFFFF"/>
          </a:solidFill>
          <a:ln w="12700">
            <a:solidFill>
              <a:srgbClr val="E6E4E0"/>
            </a:solidFill>
            <a:prstDash val="solid"/>
          </a:ln>
          <a:effectLst>
            <a:outerShdw blurRad="101600" dist="12700" dir="5400000" algn="bl" rotWithShape="0">
              <a:srgbClr val="9AA0AA">
                <a:alpha val="18000"/>
              </a:srgbClr>
            </a:outerShdw>
          </a:effectLst>
        </p:spPr>
      </p:sp>
      <p:sp>
        <p:nvSpPr>
          <p:cNvPr id="19" name="Text 17"/>
          <p:cNvSpPr/>
          <p:nvPr/>
        </p:nvSpPr>
        <p:spPr>
          <a:xfrm>
            <a:off x="6080760" y="1737360"/>
            <a:ext cx="4480560" cy="274320"/>
          </a:xfrm>
          <a:prstGeom prst="rect">
            <a:avLst/>
          </a:prstGeom>
          <a:noFill/>
          <a:ln/>
        </p:spPr>
        <p:txBody>
          <a:bodyPr wrap="square" lIns="0" tIns="0" rIns="0" bIns="0" rtlCol="0" anchor="ctr"/>
          <a:lstStyle/>
          <a:p>
            <a:pPr marL="0" indent="0">
              <a:buNone/>
            </a:pPr>
            <a:r>
              <a:rPr lang="en-US" sz="1100" b="1" kern="0" spc="120" dirty="0">
                <a:solidFill>
                  <a:srgbClr val="2B44E8"/>
                </a:solidFill>
                <a:latin typeface="Calibri" pitchFamily="34" charset="0"/>
                <a:ea typeface="Calibri" pitchFamily="34" charset="-122"/>
                <a:cs typeface="Calibri" pitchFamily="34" charset="-120"/>
              </a:rPr>
              <a:t>THE MODELS</a:t>
            </a:r>
            <a:endParaRPr lang="en-US" sz="1100" dirty="0"/>
          </a:p>
        </p:txBody>
      </p:sp>
      <p:sp>
        <p:nvSpPr>
          <p:cNvPr id="20" name="Shape 18"/>
          <p:cNvSpPr/>
          <p:nvPr/>
        </p:nvSpPr>
        <p:spPr>
          <a:xfrm>
            <a:off x="6080760" y="2167128"/>
            <a:ext cx="201168" cy="201168"/>
          </a:xfrm>
          <a:prstGeom prst="ellipse">
            <a:avLst/>
          </a:prstGeom>
          <a:solidFill>
            <a:srgbClr val="2B44E8"/>
          </a:solidFill>
          <a:ln/>
        </p:spPr>
      </p:sp>
      <p:sp>
        <p:nvSpPr>
          <p:cNvPr id="21" name="Text 19"/>
          <p:cNvSpPr/>
          <p:nvPr/>
        </p:nvSpPr>
        <p:spPr>
          <a:xfrm>
            <a:off x="6419088" y="2103120"/>
            <a:ext cx="4114800" cy="274320"/>
          </a:xfrm>
          <a:prstGeom prst="rect">
            <a:avLst/>
          </a:prstGeom>
          <a:noFill/>
          <a:ln/>
        </p:spPr>
        <p:txBody>
          <a:bodyPr wrap="square" lIns="0" tIns="0" rIns="0" bIns="0" rtlCol="0" anchor="ctr"/>
          <a:lstStyle/>
          <a:p>
            <a:pPr marL="0" indent="0">
              <a:buNone/>
            </a:pPr>
            <a:r>
              <a:rPr lang="en-US" sz="1450" b="1" dirty="0">
                <a:solidFill>
                  <a:srgbClr val="0B0C0E"/>
                </a:solidFill>
                <a:latin typeface="Calibri" pitchFamily="34" charset="0"/>
                <a:ea typeface="Calibri" pitchFamily="34" charset="-122"/>
                <a:cs typeface="Calibri" pitchFamily="34" charset="-120"/>
              </a:rPr>
              <a:t>Random Forest</a:t>
            </a:r>
            <a:endParaRPr lang="en-US" sz="1450" dirty="0"/>
          </a:p>
        </p:txBody>
      </p:sp>
      <p:sp>
        <p:nvSpPr>
          <p:cNvPr id="22" name="Text 20"/>
          <p:cNvSpPr/>
          <p:nvPr/>
        </p:nvSpPr>
        <p:spPr>
          <a:xfrm>
            <a:off x="6419088" y="2404872"/>
            <a:ext cx="4114800" cy="685800"/>
          </a:xfrm>
          <a:prstGeom prst="rect">
            <a:avLst/>
          </a:prstGeom>
          <a:noFill/>
          <a:ln/>
        </p:spPr>
        <p:txBody>
          <a:bodyPr wrap="square" lIns="0" tIns="0" rIns="0" bIns="0" rtlCol="0" anchor="ctr"/>
          <a:lstStyle/>
          <a:p>
            <a:pPr marL="0" indent="0">
              <a:lnSpc>
                <a:spcPts val="1500"/>
              </a:lnSpc>
              <a:buNone/>
            </a:pPr>
            <a:r>
              <a:rPr lang="en-US" sz="1150" dirty="0">
                <a:solidFill>
                  <a:srgbClr val="6B7280"/>
                </a:solidFill>
                <a:latin typeface="Calibri" pitchFamily="34" charset="0"/>
                <a:ea typeface="Calibri" pitchFamily="34" charset="-122"/>
                <a:cs typeface="Calibri" pitchFamily="34" charset="-120"/>
              </a:rPr>
              <a:t>200 decision trees voting on the transaction's own 165 features.</a:t>
            </a:r>
            <a:endParaRPr lang="en-US" sz="1150" dirty="0"/>
          </a:p>
        </p:txBody>
      </p:sp>
      <p:sp>
        <p:nvSpPr>
          <p:cNvPr id="23" name="Shape 21"/>
          <p:cNvSpPr/>
          <p:nvPr/>
        </p:nvSpPr>
        <p:spPr>
          <a:xfrm>
            <a:off x="6080760" y="3218688"/>
            <a:ext cx="201168" cy="201168"/>
          </a:xfrm>
          <a:prstGeom prst="ellipse">
            <a:avLst/>
          </a:prstGeom>
          <a:solidFill>
            <a:srgbClr val="E0870B"/>
          </a:solidFill>
          <a:ln/>
        </p:spPr>
      </p:sp>
      <p:sp>
        <p:nvSpPr>
          <p:cNvPr id="24" name="Text 22"/>
          <p:cNvSpPr/>
          <p:nvPr/>
        </p:nvSpPr>
        <p:spPr>
          <a:xfrm>
            <a:off x="6419088" y="3154680"/>
            <a:ext cx="4114800" cy="274320"/>
          </a:xfrm>
          <a:prstGeom prst="rect">
            <a:avLst/>
          </a:prstGeom>
          <a:noFill/>
          <a:ln/>
        </p:spPr>
        <p:txBody>
          <a:bodyPr wrap="square" lIns="0" tIns="0" rIns="0" bIns="0" rtlCol="0" anchor="ctr"/>
          <a:lstStyle/>
          <a:p>
            <a:pPr marL="0" indent="0">
              <a:buNone/>
            </a:pPr>
            <a:r>
              <a:rPr lang="en-US" sz="1450" b="1" dirty="0">
                <a:solidFill>
                  <a:srgbClr val="0B0C0E"/>
                </a:solidFill>
                <a:latin typeface="Calibri" pitchFamily="34" charset="0"/>
                <a:ea typeface="Calibri" pitchFamily="34" charset="-122"/>
                <a:cs typeface="Calibri" pitchFamily="34" charset="-120"/>
              </a:rPr>
              <a:t>GraphSAGE</a:t>
            </a:r>
            <a:endParaRPr lang="en-US" sz="1450" dirty="0"/>
          </a:p>
        </p:txBody>
      </p:sp>
      <p:sp>
        <p:nvSpPr>
          <p:cNvPr id="25" name="Text 23"/>
          <p:cNvSpPr/>
          <p:nvPr/>
        </p:nvSpPr>
        <p:spPr>
          <a:xfrm>
            <a:off x="6419088" y="3456432"/>
            <a:ext cx="4114800" cy="685800"/>
          </a:xfrm>
          <a:prstGeom prst="rect">
            <a:avLst/>
          </a:prstGeom>
          <a:noFill/>
          <a:ln/>
        </p:spPr>
        <p:txBody>
          <a:bodyPr wrap="square" lIns="0" tIns="0" rIns="0" bIns="0" rtlCol="0" anchor="ctr"/>
          <a:lstStyle/>
          <a:p>
            <a:pPr marL="0" indent="0">
              <a:lnSpc>
                <a:spcPts val="1500"/>
              </a:lnSpc>
              <a:buNone/>
            </a:pPr>
            <a:r>
              <a:rPr lang="en-US" sz="1150" dirty="0">
                <a:solidFill>
                  <a:srgbClr val="6B7280"/>
                </a:solidFill>
                <a:latin typeface="Calibri" pitchFamily="34" charset="0"/>
                <a:ea typeface="Calibri" pitchFamily="34" charset="-122"/>
                <a:cs typeface="Calibri" pitchFamily="34" charset="-120"/>
              </a:rPr>
              <a:t>Two message-passing layers, hidden dimension 128. Learns from each transaction's two-hop neighbourhood in the payment graph.</a:t>
            </a:r>
            <a:endParaRPr lang="en-US" sz="1150" dirty="0"/>
          </a:p>
        </p:txBody>
      </p:sp>
      <p:sp>
        <p:nvSpPr>
          <p:cNvPr id="26" name="Shape 24"/>
          <p:cNvSpPr/>
          <p:nvPr/>
        </p:nvSpPr>
        <p:spPr>
          <a:xfrm>
            <a:off x="6080760" y="4270248"/>
            <a:ext cx="201168" cy="201168"/>
          </a:xfrm>
          <a:prstGeom prst="ellipse">
            <a:avLst/>
          </a:prstGeom>
          <a:solidFill>
            <a:srgbClr val="E5484D"/>
          </a:solidFill>
          <a:ln/>
        </p:spPr>
      </p:sp>
      <p:sp>
        <p:nvSpPr>
          <p:cNvPr id="27" name="Text 25"/>
          <p:cNvSpPr/>
          <p:nvPr/>
        </p:nvSpPr>
        <p:spPr>
          <a:xfrm>
            <a:off x="6419088" y="4206240"/>
            <a:ext cx="4114800" cy="274320"/>
          </a:xfrm>
          <a:prstGeom prst="rect">
            <a:avLst/>
          </a:prstGeom>
          <a:noFill/>
          <a:ln/>
        </p:spPr>
        <p:txBody>
          <a:bodyPr wrap="square" lIns="0" tIns="0" rIns="0" bIns="0" rtlCol="0" anchor="ctr"/>
          <a:lstStyle/>
          <a:p>
            <a:pPr marL="0" indent="0">
              <a:buNone/>
            </a:pPr>
            <a:r>
              <a:rPr lang="en-US" sz="1450" b="1" dirty="0">
                <a:solidFill>
                  <a:srgbClr val="0B0C0E"/>
                </a:solidFill>
                <a:latin typeface="Calibri" pitchFamily="34" charset="0"/>
                <a:ea typeface="Calibri" pitchFamily="34" charset="-122"/>
                <a:cs typeface="Calibri" pitchFamily="34" charset="-120"/>
              </a:rPr>
              <a:t>Combined variant</a:t>
            </a:r>
            <a:endParaRPr lang="en-US" sz="1450" dirty="0"/>
          </a:p>
        </p:txBody>
      </p:sp>
      <p:sp>
        <p:nvSpPr>
          <p:cNvPr id="28" name="Text 26"/>
          <p:cNvSpPr/>
          <p:nvPr/>
        </p:nvSpPr>
        <p:spPr>
          <a:xfrm>
            <a:off x="6419088" y="4507992"/>
            <a:ext cx="4114800" cy="685800"/>
          </a:xfrm>
          <a:prstGeom prst="rect">
            <a:avLst/>
          </a:prstGeom>
          <a:noFill/>
          <a:ln/>
        </p:spPr>
        <p:txBody>
          <a:bodyPr wrap="square" lIns="0" tIns="0" rIns="0" bIns="0" rtlCol="0" anchor="ctr"/>
          <a:lstStyle/>
          <a:p>
            <a:pPr marL="0" indent="0">
              <a:lnSpc>
                <a:spcPts val="1500"/>
              </a:lnSpc>
              <a:buNone/>
            </a:pPr>
            <a:r>
              <a:rPr lang="en-US" sz="1150" dirty="0">
                <a:solidFill>
                  <a:srgbClr val="6B7280"/>
                </a:solidFill>
                <a:latin typeface="Calibri" pitchFamily="34" charset="0"/>
                <a:ea typeface="Calibri" pitchFamily="34" charset="-122"/>
                <a:cs typeface="Calibri" pitchFamily="34" charset="-120"/>
              </a:rPr>
              <a:t>Random Forest trained on the features plus the GraphSAGE embeddings.</a:t>
            </a:r>
            <a:endParaRPr lang="en-US" sz="1150" dirty="0"/>
          </a:p>
        </p:txBody>
      </p:sp>
      <p:sp>
        <p:nvSpPr>
          <p:cNvPr id="29" name="Shape 27"/>
          <p:cNvSpPr/>
          <p:nvPr/>
        </p:nvSpPr>
        <p:spPr>
          <a:xfrm>
            <a:off x="6080760" y="5257800"/>
            <a:ext cx="4434840" cy="566928"/>
          </a:xfrm>
          <a:prstGeom prst="roundRect">
            <a:avLst>
              <a:gd name="adj" fmla="val 12903"/>
            </a:avLst>
          </a:prstGeom>
          <a:solidFill>
            <a:srgbClr val="EEF1FE"/>
          </a:solidFill>
          <a:ln w="12700">
            <a:solidFill>
              <a:srgbClr val="E6E4E0"/>
            </a:solidFill>
            <a:prstDash val="solid"/>
          </a:ln>
          <a:effectLst>
            <a:outerShdw blurRad="101600" dist="12700" dir="5400000" algn="bl" rotWithShape="0">
              <a:srgbClr val="9AA0AA">
                <a:alpha val="18000"/>
              </a:srgbClr>
            </a:outerShdw>
          </a:effectLst>
        </p:spPr>
      </p:sp>
      <p:sp>
        <p:nvSpPr>
          <p:cNvPr id="30" name="Text 28"/>
          <p:cNvSpPr/>
          <p:nvPr/>
        </p:nvSpPr>
        <p:spPr>
          <a:xfrm>
            <a:off x="6263640" y="5394960"/>
            <a:ext cx="4114800" cy="320040"/>
          </a:xfrm>
          <a:prstGeom prst="rect">
            <a:avLst/>
          </a:prstGeom>
          <a:noFill/>
          <a:ln/>
        </p:spPr>
        <p:txBody>
          <a:bodyPr wrap="square" lIns="0" tIns="0" rIns="0" bIns="0" rtlCol="0" anchor="ctr"/>
          <a:lstStyle/>
          <a:p>
            <a:pPr marL="0" indent="0">
              <a:buNone/>
            </a:pPr>
            <a:r>
              <a:rPr lang="en-US" sz="1250" b="1" dirty="0">
                <a:solidFill>
                  <a:srgbClr val="2B44E8"/>
                </a:solidFill>
                <a:latin typeface="Calibri" pitchFamily="34" charset="0"/>
                <a:ea typeface="Calibri" pitchFamily="34" charset="-122"/>
                <a:cs typeface="Calibri" pitchFamily="34" charset="-120"/>
              </a:rPr>
              <a:t>Trained on time steps 1–34  ·  tested on 35–49</a:t>
            </a:r>
            <a:endParaRPr lang="en-US" sz="1250" dirty="0"/>
          </a:p>
        </p:txBody>
      </p:sp>
      <p:pic>
        <p:nvPicPr>
          <p:cNvPr id="31" name="Image 0" descr="C:\Users\brigh\Downloads\crescent logo.jpg"/>
          <p:cNvPicPr>
            <a:picLocks noChangeAspect="1"/>
          </p:cNvPicPr>
          <p:nvPr/>
        </p:nvPicPr>
        <p:blipFill>
          <a:blip r:embed="rId3"/>
          <a:stretch>
            <a:fillRect/>
          </a:stretch>
        </p:blipFill>
        <p:spPr>
          <a:xfrm>
            <a:off x="11155680" y="292608"/>
            <a:ext cx="685800" cy="536753"/>
          </a:xfrm>
          <a:prstGeom prst="rect">
            <a:avLst/>
          </a:prstGeom>
        </p:spPr>
      </p:pic>
      <p:sp>
        <p:nvSpPr>
          <p:cNvPr id="32" name="Text 29"/>
          <p:cNvSpPr/>
          <p:nvPr/>
        </p:nvSpPr>
        <p:spPr>
          <a:xfrm>
            <a:off x="11155680" y="6327648"/>
            <a:ext cx="685800" cy="274320"/>
          </a:xfrm>
          <a:prstGeom prst="rect">
            <a:avLst/>
          </a:prstGeom>
          <a:noFill/>
          <a:ln/>
        </p:spPr>
        <p:txBody>
          <a:bodyPr wrap="square" rtlCol="0" anchor="ctr"/>
          <a:lstStyle/>
          <a:p>
            <a:pPr marL="0" indent="0" algn="r">
              <a:buNone/>
            </a:pPr>
            <a:r>
              <a:rPr lang="en-US" sz="1100" dirty="0">
                <a:solidFill>
                  <a:srgbClr val="6B7280"/>
                </a:solidFill>
                <a:latin typeface="Calibri" pitchFamily="34" charset="0"/>
                <a:ea typeface="Calibri" pitchFamily="34" charset="-122"/>
                <a:cs typeface="Calibri" pitchFamily="34" charset="-120"/>
              </a:rPr>
              <a:t>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332720" cy="566928"/>
          </a:xfrm>
          <a:prstGeom prst="rect">
            <a:avLst/>
          </a:prstGeom>
          <a:noFill/>
          <a:ln/>
        </p:spPr>
        <p:txBody>
          <a:bodyPr wrap="square" lIns="0" tIns="0" rIns="0" bIns="0" rtlCol="0" anchor="ctr"/>
          <a:lstStyle/>
          <a:p>
            <a:pPr marL="0" indent="0">
              <a:buNone/>
            </a:pPr>
            <a:r>
              <a:rPr lang="en-US" sz="3000" b="1" dirty="0">
                <a:solidFill>
                  <a:srgbClr val="0B0C0E"/>
                </a:solidFill>
                <a:latin typeface="Calibri" pitchFamily="34" charset="0"/>
                <a:ea typeface="Calibri" pitchFamily="34" charset="-122"/>
                <a:cs typeface="Calibri" pitchFamily="34" charset="-120"/>
              </a:rPr>
              <a:t>Summary of the Work</a:t>
            </a:r>
            <a:endParaRPr lang="en-US" sz="3000" dirty="0"/>
          </a:p>
        </p:txBody>
      </p:sp>
      <p:sp>
        <p:nvSpPr>
          <p:cNvPr id="3" name="Text 1"/>
          <p:cNvSpPr/>
          <p:nvPr/>
        </p:nvSpPr>
        <p:spPr>
          <a:xfrm>
            <a:off x="548640" y="969264"/>
            <a:ext cx="10058400" cy="292608"/>
          </a:xfrm>
          <a:prstGeom prst="rect">
            <a:avLst/>
          </a:prstGeom>
          <a:noFill/>
          <a:ln/>
        </p:spPr>
        <p:txBody>
          <a:bodyPr wrap="square" lIns="0" tIns="0" rIns="0" bIns="0" rtlCol="0" anchor="ctr"/>
          <a:lstStyle/>
          <a:p>
            <a:pPr marL="0" indent="0">
              <a:buNone/>
            </a:pPr>
            <a:r>
              <a:rPr lang="en-US" sz="1400" dirty="0">
                <a:solidFill>
                  <a:srgbClr val="6B7280"/>
                </a:solidFill>
                <a:latin typeface="Calibri" pitchFamily="34" charset="0"/>
                <a:ea typeface="Calibri" pitchFamily="34" charset="-122"/>
                <a:cs typeface="Calibri" pitchFamily="34" charset="-120"/>
              </a:rPr>
              <a:t>Results on the held-out test period (time steps 35–49)</a:t>
            </a:r>
            <a:endParaRPr lang="en-US" sz="1400" dirty="0"/>
          </a:p>
        </p:txBody>
      </p:sp>
      <p:graphicFrame>
        <p:nvGraphicFramePr>
          <p:cNvPr id="4" name="Chart 0"/>
          <p:cNvGraphicFramePr/>
          <p:nvPr/>
        </p:nvGraphicFramePr>
        <p:xfrm>
          <a:off x="548640" y="1554480"/>
          <a:ext cx="6035040"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6858000" y="1737360"/>
            <a:ext cx="2011680" cy="1051560"/>
          </a:xfrm>
          <a:prstGeom prst="roundRect">
            <a:avLst>
              <a:gd name="adj" fmla="val 6957"/>
            </a:avLst>
          </a:prstGeom>
          <a:solidFill>
            <a:srgbClr val="FFFFFF"/>
          </a:solidFill>
          <a:ln w="12700">
            <a:solidFill>
              <a:srgbClr val="E6E4E0"/>
            </a:solidFill>
            <a:prstDash val="solid"/>
          </a:ln>
          <a:effectLst>
            <a:outerShdw blurRad="101600" dist="12700" dir="5400000" algn="bl" rotWithShape="0">
              <a:srgbClr val="9AA0AA">
                <a:alpha val="18000"/>
              </a:srgbClr>
            </a:outerShdw>
          </a:effectLst>
        </p:spPr>
      </p:sp>
      <p:sp>
        <p:nvSpPr>
          <p:cNvPr id="6" name="Text 3"/>
          <p:cNvSpPr/>
          <p:nvPr/>
        </p:nvSpPr>
        <p:spPr>
          <a:xfrm>
            <a:off x="7022592" y="1883664"/>
            <a:ext cx="1737360" cy="457200"/>
          </a:xfrm>
          <a:prstGeom prst="rect">
            <a:avLst/>
          </a:prstGeom>
          <a:noFill/>
          <a:ln/>
        </p:spPr>
        <p:txBody>
          <a:bodyPr wrap="square" lIns="0" tIns="0" rIns="0" bIns="0" rtlCol="0" anchor="ctr"/>
          <a:lstStyle/>
          <a:p>
            <a:pPr marL="0" indent="0">
              <a:buNone/>
            </a:pPr>
            <a:r>
              <a:rPr lang="en-US" sz="2400" b="1" dirty="0">
                <a:solidFill>
                  <a:srgbClr val="2B44E8"/>
                </a:solidFill>
                <a:latin typeface="Calibri" pitchFamily="34" charset="0"/>
                <a:ea typeface="Calibri" pitchFamily="34" charset="-122"/>
                <a:cs typeface="Calibri" pitchFamily="34" charset="-120"/>
              </a:rPr>
              <a:t>92.5%</a:t>
            </a:r>
            <a:endParaRPr lang="en-US" sz="2400" dirty="0"/>
          </a:p>
        </p:txBody>
      </p:sp>
      <p:sp>
        <p:nvSpPr>
          <p:cNvPr id="7" name="Text 4"/>
          <p:cNvSpPr/>
          <p:nvPr/>
        </p:nvSpPr>
        <p:spPr>
          <a:xfrm>
            <a:off x="7022592" y="2377440"/>
            <a:ext cx="1737360" cy="274320"/>
          </a:xfrm>
          <a:prstGeom prst="rect">
            <a:avLst/>
          </a:prstGeom>
          <a:noFill/>
          <a:ln/>
        </p:spPr>
        <p:txBody>
          <a:bodyPr wrap="square" lIns="0" tIns="0" rIns="0" bIns="0" rtlCol="0" anchor="ctr"/>
          <a:lstStyle/>
          <a:p>
            <a:pPr marL="0" indent="0">
              <a:buNone/>
            </a:pPr>
            <a:r>
              <a:rPr lang="en-US" sz="1150" dirty="0">
                <a:solidFill>
                  <a:srgbClr val="6B7280"/>
                </a:solidFill>
                <a:latin typeface="Calibri" pitchFamily="34" charset="0"/>
                <a:ea typeface="Calibri" pitchFamily="34" charset="-122"/>
                <a:cs typeface="Calibri" pitchFamily="34" charset="-120"/>
              </a:rPr>
              <a:t>Precision</a:t>
            </a:r>
            <a:endParaRPr lang="en-US" sz="1150" dirty="0"/>
          </a:p>
        </p:txBody>
      </p:sp>
      <p:sp>
        <p:nvSpPr>
          <p:cNvPr id="8" name="Shape 5"/>
          <p:cNvSpPr/>
          <p:nvPr/>
        </p:nvSpPr>
        <p:spPr>
          <a:xfrm>
            <a:off x="9006840" y="1737360"/>
            <a:ext cx="2011680" cy="1051560"/>
          </a:xfrm>
          <a:prstGeom prst="roundRect">
            <a:avLst>
              <a:gd name="adj" fmla="val 6957"/>
            </a:avLst>
          </a:prstGeom>
          <a:solidFill>
            <a:srgbClr val="FFFFFF"/>
          </a:solidFill>
          <a:ln w="12700">
            <a:solidFill>
              <a:srgbClr val="E6E4E0"/>
            </a:solidFill>
            <a:prstDash val="solid"/>
          </a:ln>
          <a:effectLst>
            <a:outerShdw blurRad="101600" dist="12700" dir="5400000" algn="bl" rotWithShape="0">
              <a:srgbClr val="9AA0AA">
                <a:alpha val="18000"/>
              </a:srgbClr>
            </a:outerShdw>
          </a:effectLst>
        </p:spPr>
      </p:sp>
      <p:sp>
        <p:nvSpPr>
          <p:cNvPr id="9" name="Text 6"/>
          <p:cNvSpPr/>
          <p:nvPr/>
        </p:nvSpPr>
        <p:spPr>
          <a:xfrm>
            <a:off x="9171432" y="1883664"/>
            <a:ext cx="1737360" cy="457200"/>
          </a:xfrm>
          <a:prstGeom prst="rect">
            <a:avLst/>
          </a:prstGeom>
          <a:noFill/>
          <a:ln/>
        </p:spPr>
        <p:txBody>
          <a:bodyPr wrap="square" lIns="0" tIns="0" rIns="0" bIns="0" rtlCol="0" anchor="ctr"/>
          <a:lstStyle/>
          <a:p>
            <a:pPr marL="0" indent="0">
              <a:buNone/>
            </a:pPr>
            <a:r>
              <a:rPr lang="en-US" sz="2400" b="1" dirty="0">
                <a:solidFill>
                  <a:srgbClr val="E0870B"/>
                </a:solidFill>
                <a:latin typeface="Calibri" pitchFamily="34" charset="0"/>
                <a:ea typeface="Calibri" pitchFamily="34" charset="-122"/>
                <a:cs typeface="Calibri" pitchFamily="34" charset="-120"/>
              </a:rPr>
              <a:t>71.6%</a:t>
            </a:r>
            <a:endParaRPr lang="en-US" sz="2400" dirty="0"/>
          </a:p>
        </p:txBody>
      </p:sp>
      <p:sp>
        <p:nvSpPr>
          <p:cNvPr id="10" name="Text 7"/>
          <p:cNvSpPr/>
          <p:nvPr/>
        </p:nvSpPr>
        <p:spPr>
          <a:xfrm>
            <a:off x="9171432" y="2377440"/>
            <a:ext cx="1737360" cy="274320"/>
          </a:xfrm>
          <a:prstGeom prst="rect">
            <a:avLst/>
          </a:prstGeom>
          <a:noFill/>
          <a:ln/>
        </p:spPr>
        <p:txBody>
          <a:bodyPr wrap="square" lIns="0" tIns="0" rIns="0" bIns="0" rtlCol="0" anchor="ctr"/>
          <a:lstStyle/>
          <a:p>
            <a:pPr marL="0" indent="0">
              <a:buNone/>
            </a:pPr>
            <a:r>
              <a:rPr lang="en-US" sz="1150" dirty="0">
                <a:solidFill>
                  <a:srgbClr val="6B7280"/>
                </a:solidFill>
                <a:latin typeface="Calibri" pitchFamily="34" charset="0"/>
                <a:ea typeface="Calibri" pitchFamily="34" charset="-122"/>
                <a:cs typeface="Calibri" pitchFamily="34" charset="-120"/>
              </a:rPr>
              <a:t>Recall</a:t>
            </a:r>
            <a:endParaRPr lang="en-US" sz="1150" dirty="0"/>
          </a:p>
        </p:txBody>
      </p:sp>
      <p:sp>
        <p:nvSpPr>
          <p:cNvPr id="11" name="Shape 8"/>
          <p:cNvSpPr/>
          <p:nvPr/>
        </p:nvSpPr>
        <p:spPr>
          <a:xfrm>
            <a:off x="6858000" y="2971800"/>
            <a:ext cx="2011680" cy="1051560"/>
          </a:xfrm>
          <a:prstGeom prst="roundRect">
            <a:avLst>
              <a:gd name="adj" fmla="val 6957"/>
            </a:avLst>
          </a:prstGeom>
          <a:solidFill>
            <a:srgbClr val="FFFFFF"/>
          </a:solidFill>
          <a:ln w="12700">
            <a:solidFill>
              <a:srgbClr val="E6E4E0"/>
            </a:solidFill>
            <a:prstDash val="solid"/>
          </a:ln>
          <a:effectLst>
            <a:outerShdw blurRad="101600" dist="12700" dir="5400000" algn="bl" rotWithShape="0">
              <a:srgbClr val="9AA0AA">
                <a:alpha val="18000"/>
              </a:srgbClr>
            </a:outerShdw>
          </a:effectLst>
        </p:spPr>
      </p:sp>
      <p:sp>
        <p:nvSpPr>
          <p:cNvPr id="12" name="Text 9"/>
          <p:cNvSpPr/>
          <p:nvPr/>
        </p:nvSpPr>
        <p:spPr>
          <a:xfrm>
            <a:off x="7022592" y="3118104"/>
            <a:ext cx="1737360" cy="457200"/>
          </a:xfrm>
          <a:prstGeom prst="rect">
            <a:avLst/>
          </a:prstGeom>
          <a:noFill/>
          <a:ln/>
        </p:spPr>
        <p:txBody>
          <a:bodyPr wrap="square" lIns="0" tIns="0" rIns="0" bIns="0" rtlCol="0" anchor="ctr"/>
          <a:lstStyle/>
          <a:p>
            <a:pPr marL="0" indent="0">
              <a:buNone/>
            </a:pPr>
            <a:r>
              <a:rPr lang="en-US" sz="2400" b="1" dirty="0">
                <a:solidFill>
                  <a:srgbClr val="2B44E8"/>
                </a:solidFill>
                <a:latin typeface="Calibri" pitchFamily="34" charset="0"/>
                <a:ea typeface="Calibri" pitchFamily="34" charset="-122"/>
                <a:cs typeface="Calibri" pitchFamily="34" charset="-120"/>
              </a:rPr>
              <a:t>0.944</a:t>
            </a:r>
            <a:endParaRPr lang="en-US" sz="2400" dirty="0"/>
          </a:p>
        </p:txBody>
      </p:sp>
      <p:sp>
        <p:nvSpPr>
          <p:cNvPr id="13" name="Text 10"/>
          <p:cNvSpPr/>
          <p:nvPr/>
        </p:nvSpPr>
        <p:spPr>
          <a:xfrm>
            <a:off x="7022592" y="3611880"/>
            <a:ext cx="1737360" cy="274320"/>
          </a:xfrm>
          <a:prstGeom prst="rect">
            <a:avLst/>
          </a:prstGeom>
          <a:noFill/>
          <a:ln/>
        </p:spPr>
        <p:txBody>
          <a:bodyPr wrap="square" lIns="0" tIns="0" rIns="0" bIns="0" rtlCol="0" anchor="ctr"/>
          <a:lstStyle/>
          <a:p>
            <a:pPr marL="0" indent="0">
              <a:buNone/>
            </a:pPr>
            <a:r>
              <a:rPr lang="en-US" sz="1150" dirty="0">
                <a:solidFill>
                  <a:srgbClr val="6B7280"/>
                </a:solidFill>
                <a:latin typeface="Calibri" pitchFamily="34" charset="0"/>
                <a:ea typeface="Calibri" pitchFamily="34" charset="-122"/>
                <a:cs typeface="Calibri" pitchFamily="34" charset="-120"/>
              </a:rPr>
              <a:t>AUC-ROC</a:t>
            </a:r>
            <a:endParaRPr lang="en-US" sz="1150" dirty="0"/>
          </a:p>
        </p:txBody>
      </p:sp>
      <p:sp>
        <p:nvSpPr>
          <p:cNvPr id="14" name="Text 11"/>
          <p:cNvSpPr/>
          <p:nvPr/>
        </p:nvSpPr>
        <p:spPr>
          <a:xfrm>
            <a:off x="9189720" y="3108960"/>
            <a:ext cx="2011680" cy="822960"/>
          </a:xfrm>
          <a:prstGeom prst="rect">
            <a:avLst/>
          </a:prstGeom>
          <a:noFill/>
          <a:ln/>
        </p:spPr>
        <p:txBody>
          <a:bodyPr wrap="square" lIns="0" tIns="0" rIns="0" bIns="0" rtlCol="0" anchor="ctr"/>
          <a:lstStyle/>
          <a:p>
            <a:pPr marL="0" indent="0">
              <a:lnSpc>
                <a:spcPts val="1700"/>
              </a:lnSpc>
              <a:buNone/>
            </a:pPr>
            <a:r>
              <a:rPr lang="en-US" sz="1300" b="1" dirty="0">
                <a:solidFill>
                  <a:srgbClr val="0B0C0E"/>
                </a:solidFill>
                <a:latin typeface="Calibri" pitchFamily="34" charset="0"/>
                <a:ea typeface="Calibri" pitchFamily="34" charset="-122"/>
                <a:cs typeface="Calibri" pitchFamily="34" charset="-120"/>
              </a:rPr>
              <a:t>Best model:</a:t>
            </a:r>
            <a:endParaRPr lang="en-US" sz="1300" dirty="0"/>
          </a:p>
          <a:p>
            <a:pPr marL="0" indent="0">
              <a:lnSpc>
                <a:spcPts val="1700"/>
              </a:lnSpc>
              <a:buNone/>
            </a:pPr>
            <a:r>
              <a:rPr lang="en-US" sz="1300" b="1" dirty="0">
                <a:solidFill>
                  <a:srgbClr val="0B0C0E"/>
                </a:solidFill>
                <a:latin typeface="Calibri" pitchFamily="34" charset="0"/>
                <a:ea typeface="Calibri" pitchFamily="34" charset="-122"/>
                <a:cs typeface="Calibri" pitchFamily="34" charset="-120"/>
              </a:rPr>
              <a:t>Random Forest</a:t>
            </a:r>
            <a:endParaRPr lang="en-US" sz="1300" dirty="0"/>
          </a:p>
        </p:txBody>
      </p:sp>
      <p:sp>
        <p:nvSpPr>
          <p:cNvPr id="15" name="Shape 12"/>
          <p:cNvSpPr/>
          <p:nvPr/>
        </p:nvSpPr>
        <p:spPr>
          <a:xfrm>
            <a:off x="6858000" y="4343400"/>
            <a:ext cx="4343400" cy="1371600"/>
          </a:xfrm>
          <a:prstGeom prst="roundRect">
            <a:avLst>
              <a:gd name="adj" fmla="val 5333"/>
            </a:avLst>
          </a:prstGeom>
          <a:solidFill>
            <a:srgbClr val="EEF1FE"/>
          </a:solidFill>
          <a:ln w="12700">
            <a:solidFill>
              <a:srgbClr val="E6E4E0"/>
            </a:solidFill>
            <a:prstDash val="solid"/>
          </a:ln>
          <a:effectLst>
            <a:outerShdw blurRad="101600" dist="12700" dir="5400000" algn="bl" rotWithShape="0">
              <a:srgbClr val="9AA0AA">
                <a:alpha val="18000"/>
              </a:srgbClr>
            </a:outerShdw>
          </a:effectLst>
        </p:spPr>
      </p:sp>
      <p:sp>
        <p:nvSpPr>
          <p:cNvPr id="16" name="Text 13"/>
          <p:cNvSpPr/>
          <p:nvPr/>
        </p:nvSpPr>
        <p:spPr>
          <a:xfrm>
            <a:off x="7086600" y="4526280"/>
            <a:ext cx="3931920" cy="274320"/>
          </a:xfrm>
          <a:prstGeom prst="rect">
            <a:avLst/>
          </a:prstGeom>
          <a:noFill/>
          <a:ln/>
        </p:spPr>
        <p:txBody>
          <a:bodyPr wrap="square" lIns="0" tIns="0" rIns="0" bIns="0" rtlCol="0" anchor="ctr"/>
          <a:lstStyle/>
          <a:p>
            <a:pPr marL="0" indent="0">
              <a:buNone/>
            </a:pPr>
            <a:r>
              <a:rPr lang="en-US" sz="1300" b="1" dirty="0">
                <a:solidFill>
                  <a:srgbClr val="2B44E8"/>
                </a:solidFill>
                <a:latin typeface="Calibri" pitchFamily="34" charset="0"/>
                <a:ea typeface="Calibri" pitchFamily="34" charset="-122"/>
                <a:cs typeface="Calibri" pitchFamily="34" charset="-120"/>
              </a:rPr>
              <a:t>Benchmark reproduced</a:t>
            </a:r>
            <a:endParaRPr lang="en-US" sz="1300" dirty="0"/>
          </a:p>
        </p:txBody>
      </p:sp>
      <p:sp>
        <p:nvSpPr>
          <p:cNvPr id="17" name="Text 14"/>
          <p:cNvSpPr/>
          <p:nvPr/>
        </p:nvSpPr>
        <p:spPr>
          <a:xfrm>
            <a:off x="7086600" y="4828032"/>
            <a:ext cx="3931920" cy="777240"/>
          </a:xfrm>
          <a:prstGeom prst="rect">
            <a:avLst/>
          </a:prstGeom>
          <a:noFill/>
          <a:ln/>
        </p:spPr>
        <p:txBody>
          <a:bodyPr wrap="square" lIns="0" tIns="0" rIns="0" bIns="0" rtlCol="0" anchor="ctr"/>
          <a:lstStyle/>
          <a:p>
            <a:pPr marL="0" indent="0">
              <a:lnSpc>
                <a:spcPts val="1500"/>
              </a:lnSpc>
              <a:buNone/>
            </a:pPr>
            <a:r>
              <a:rPr lang="en-US" sz="1150" dirty="0">
                <a:solidFill>
                  <a:srgbClr val="0B0C0E"/>
                </a:solidFill>
                <a:latin typeface="Calibri" pitchFamily="34" charset="0"/>
                <a:ea typeface="Calibri" pitchFamily="34" charset="-122"/>
                <a:cs typeface="Calibri" pitchFamily="34" charset="-120"/>
              </a:rPr>
              <a:t>Weber et al. (2019) report an illicit F1 of ≈0.79 for Random Forest under the same dataset and temporal protocol. This project reached 0.807.</a:t>
            </a:r>
            <a:endParaRPr lang="en-US" sz="1150" dirty="0"/>
          </a:p>
        </p:txBody>
      </p:sp>
      <p:sp>
        <p:nvSpPr>
          <p:cNvPr id="18" name="Text 15"/>
          <p:cNvSpPr/>
          <p:nvPr/>
        </p:nvSpPr>
        <p:spPr>
          <a:xfrm>
            <a:off x="548640" y="5029200"/>
            <a:ext cx="6035040" cy="960120"/>
          </a:xfrm>
          <a:prstGeom prst="rect">
            <a:avLst/>
          </a:prstGeom>
          <a:noFill/>
          <a:ln/>
        </p:spPr>
        <p:txBody>
          <a:bodyPr wrap="square" lIns="0" tIns="0" rIns="0" bIns="0" rtlCol="0" anchor="ctr"/>
          <a:lstStyle/>
          <a:p>
            <a:pPr marL="0" indent="0">
              <a:lnSpc>
                <a:spcPts val="1700"/>
              </a:lnSpc>
              <a:buNone/>
            </a:pPr>
            <a:r>
              <a:rPr lang="en-US" sz="1200" dirty="0">
                <a:solidFill>
                  <a:srgbClr val="6B7280"/>
                </a:solidFill>
                <a:latin typeface="Calibri" pitchFamily="34" charset="0"/>
                <a:ea typeface="Calibri" pitchFamily="34" charset="-122"/>
                <a:cs typeface="Calibri" pitchFamily="34" charset="-120"/>
              </a:rPr>
              <a:t>Of 1,083 illicit transactions in the test period the Random Forest caught 776 and raised only 65 false alarms across 15,587 legitimate transactions. The recall shortfall coincides with a dark-market shutdown inside the test window — a documented case of concept drift.</a:t>
            </a:r>
            <a:endParaRPr lang="en-US" sz="1200" dirty="0"/>
          </a:p>
        </p:txBody>
      </p:sp>
      <p:pic>
        <p:nvPicPr>
          <p:cNvPr id="19" name="Image 0" descr="C:\Users\brigh\Downloads\crescent logo.jpg"/>
          <p:cNvPicPr>
            <a:picLocks noChangeAspect="1"/>
          </p:cNvPicPr>
          <p:nvPr/>
        </p:nvPicPr>
        <p:blipFill>
          <a:blip r:embed="rId4"/>
          <a:stretch>
            <a:fillRect/>
          </a:stretch>
        </p:blipFill>
        <p:spPr>
          <a:xfrm>
            <a:off x="11155680" y="292608"/>
            <a:ext cx="685800" cy="536753"/>
          </a:xfrm>
          <a:prstGeom prst="rect">
            <a:avLst/>
          </a:prstGeom>
        </p:spPr>
      </p:pic>
      <p:sp>
        <p:nvSpPr>
          <p:cNvPr id="20" name="Text 16"/>
          <p:cNvSpPr/>
          <p:nvPr/>
        </p:nvSpPr>
        <p:spPr>
          <a:xfrm>
            <a:off x="11155680" y="6327648"/>
            <a:ext cx="685800" cy="274320"/>
          </a:xfrm>
          <a:prstGeom prst="rect">
            <a:avLst/>
          </a:prstGeom>
          <a:noFill/>
          <a:ln/>
        </p:spPr>
        <p:txBody>
          <a:bodyPr wrap="square" rtlCol="0" anchor="ctr"/>
          <a:lstStyle/>
          <a:p>
            <a:pPr marL="0" indent="0" algn="r">
              <a:buNone/>
            </a:pPr>
            <a:r>
              <a:rPr lang="en-US" sz="1100" dirty="0">
                <a:solidFill>
                  <a:srgbClr val="6B7280"/>
                </a:solidFill>
                <a:latin typeface="Calibri" pitchFamily="34" charset="0"/>
                <a:ea typeface="Calibri" pitchFamily="34" charset="-122"/>
                <a:cs typeface="Calibri" pitchFamily="34" charset="-120"/>
              </a:rPr>
              <a:t>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332720" cy="566928"/>
          </a:xfrm>
          <a:prstGeom prst="rect">
            <a:avLst/>
          </a:prstGeom>
          <a:noFill/>
          <a:ln/>
        </p:spPr>
        <p:txBody>
          <a:bodyPr wrap="square" lIns="0" tIns="0" rIns="0" bIns="0" rtlCol="0" anchor="ctr"/>
          <a:lstStyle/>
          <a:p>
            <a:pPr marL="0" indent="0">
              <a:buNone/>
            </a:pPr>
            <a:r>
              <a:rPr lang="en-US" sz="3000" b="1" dirty="0">
                <a:solidFill>
                  <a:srgbClr val="0B0C0E"/>
                </a:solidFill>
                <a:latin typeface="Calibri" pitchFamily="34" charset="0"/>
                <a:ea typeface="Calibri" pitchFamily="34" charset="-122"/>
                <a:cs typeface="Calibri" pitchFamily="34" charset="-120"/>
              </a:rPr>
              <a:t>Methodology</a:t>
            </a:r>
            <a:endParaRPr lang="en-US" sz="3000" dirty="0"/>
          </a:p>
        </p:txBody>
      </p:sp>
      <p:sp>
        <p:nvSpPr>
          <p:cNvPr id="3" name="Text 1"/>
          <p:cNvSpPr/>
          <p:nvPr/>
        </p:nvSpPr>
        <p:spPr>
          <a:xfrm>
            <a:off x="548640" y="969264"/>
            <a:ext cx="10058400" cy="292608"/>
          </a:xfrm>
          <a:prstGeom prst="rect">
            <a:avLst/>
          </a:prstGeom>
          <a:noFill/>
          <a:ln/>
        </p:spPr>
        <p:txBody>
          <a:bodyPr wrap="square" lIns="0" tIns="0" rIns="0" bIns="0" rtlCol="0" anchor="ctr"/>
          <a:lstStyle/>
          <a:p>
            <a:pPr marL="0" indent="0">
              <a:buNone/>
            </a:pPr>
            <a:r>
              <a:rPr lang="en-US" sz="1400" dirty="0">
                <a:solidFill>
                  <a:srgbClr val="6B7280"/>
                </a:solidFill>
                <a:latin typeface="Calibri" pitchFamily="34" charset="0"/>
                <a:ea typeface="Calibri" pitchFamily="34" charset="-122"/>
                <a:cs typeface="Calibri" pitchFamily="34" charset="-120"/>
              </a:rPr>
              <a:t>Iterative and incremental development, with CRISP-DM for the machine learning</a:t>
            </a:r>
            <a:endParaRPr lang="en-US" sz="1400" dirty="0"/>
          </a:p>
        </p:txBody>
      </p:sp>
      <p:sp>
        <p:nvSpPr>
          <p:cNvPr id="4" name="Shape 2"/>
          <p:cNvSpPr/>
          <p:nvPr/>
        </p:nvSpPr>
        <p:spPr>
          <a:xfrm>
            <a:off x="548640" y="1554480"/>
            <a:ext cx="4983480" cy="1371600"/>
          </a:xfrm>
          <a:prstGeom prst="roundRect">
            <a:avLst>
              <a:gd name="adj" fmla="val 5333"/>
            </a:avLst>
          </a:prstGeom>
          <a:solidFill>
            <a:srgbClr val="FFFFFF"/>
          </a:solidFill>
          <a:ln w="12700">
            <a:solidFill>
              <a:srgbClr val="E6E4E0"/>
            </a:solidFill>
            <a:prstDash val="solid"/>
          </a:ln>
          <a:effectLst>
            <a:outerShdw blurRad="101600" dist="12700" dir="5400000" algn="bl" rotWithShape="0">
              <a:srgbClr val="9AA0AA">
                <a:alpha val="18000"/>
              </a:srgbClr>
            </a:outerShdw>
          </a:effectLst>
        </p:spPr>
      </p:sp>
      <p:sp>
        <p:nvSpPr>
          <p:cNvPr id="5" name="Text 3"/>
          <p:cNvSpPr/>
          <p:nvPr/>
        </p:nvSpPr>
        <p:spPr>
          <a:xfrm>
            <a:off x="822960" y="1737360"/>
            <a:ext cx="4480560" cy="274320"/>
          </a:xfrm>
          <a:prstGeom prst="rect">
            <a:avLst/>
          </a:prstGeom>
          <a:noFill/>
          <a:ln/>
        </p:spPr>
        <p:txBody>
          <a:bodyPr wrap="square" lIns="0" tIns="0" rIns="0" bIns="0" rtlCol="0" anchor="ctr"/>
          <a:lstStyle/>
          <a:p>
            <a:pPr marL="0" indent="0">
              <a:buNone/>
            </a:pPr>
            <a:r>
              <a:rPr lang="en-US" sz="1200" b="1" kern="0" spc="100" dirty="0">
                <a:solidFill>
                  <a:srgbClr val="6B7280"/>
                </a:solidFill>
                <a:latin typeface="Calibri" pitchFamily="34" charset="0"/>
                <a:ea typeface="Calibri" pitchFamily="34" charset="-122"/>
                <a:cs typeface="Calibri" pitchFamily="34" charset="-120"/>
              </a:rPr>
              <a:t>ITERATION 1  ·  PaySim</a:t>
            </a:r>
            <a:endParaRPr lang="en-US" sz="1200" dirty="0"/>
          </a:p>
        </p:txBody>
      </p:sp>
      <p:sp>
        <p:nvSpPr>
          <p:cNvPr id="6" name="Text 4"/>
          <p:cNvSpPr/>
          <p:nvPr/>
        </p:nvSpPr>
        <p:spPr>
          <a:xfrm>
            <a:off x="822960" y="2039112"/>
            <a:ext cx="4480560" cy="731520"/>
          </a:xfrm>
          <a:prstGeom prst="rect">
            <a:avLst/>
          </a:prstGeom>
          <a:noFill/>
          <a:ln/>
        </p:spPr>
        <p:txBody>
          <a:bodyPr wrap="square" lIns="0" tIns="0" rIns="0" bIns="0" rtlCol="0" anchor="ctr"/>
          <a:lstStyle/>
          <a:p>
            <a:pPr marL="0" indent="0">
              <a:lnSpc>
                <a:spcPts val="1600"/>
              </a:lnSpc>
              <a:buNone/>
            </a:pPr>
            <a:r>
              <a:rPr lang="en-US" sz="1200" dirty="0">
                <a:solidFill>
                  <a:srgbClr val="6B7280"/>
                </a:solidFill>
                <a:latin typeface="Calibri" pitchFamily="34" charset="0"/>
                <a:ea typeface="Calibri" pitchFamily="34" charset="-122"/>
                <a:cs typeface="Calibri" pitchFamily="34" charset="-120"/>
              </a:rPr>
              <a:t>Synthetic mobile-money data. Established the pipeline, but contained no transaction network to analyse — which prompted the change of dataset.</a:t>
            </a:r>
            <a:endParaRPr lang="en-US" sz="1200" dirty="0"/>
          </a:p>
        </p:txBody>
      </p:sp>
      <p:sp>
        <p:nvSpPr>
          <p:cNvPr id="7" name="Shape 5"/>
          <p:cNvSpPr/>
          <p:nvPr/>
        </p:nvSpPr>
        <p:spPr>
          <a:xfrm>
            <a:off x="5806440" y="1554480"/>
            <a:ext cx="4983480" cy="1371600"/>
          </a:xfrm>
          <a:prstGeom prst="roundRect">
            <a:avLst>
              <a:gd name="adj" fmla="val 5333"/>
            </a:avLst>
          </a:prstGeom>
          <a:solidFill>
            <a:srgbClr val="EEF1FE"/>
          </a:solidFill>
          <a:ln w="12700">
            <a:solidFill>
              <a:srgbClr val="E6E4E0"/>
            </a:solidFill>
            <a:prstDash val="solid"/>
          </a:ln>
          <a:effectLst>
            <a:outerShdw blurRad="101600" dist="12700" dir="5400000" algn="bl" rotWithShape="0">
              <a:srgbClr val="9AA0AA">
                <a:alpha val="18000"/>
              </a:srgbClr>
            </a:outerShdw>
          </a:effectLst>
        </p:spPr>
      </p:sp>
      <p:sp>
        <p:nvSpPr>
          <p:cNvPr id="8" name="Text 6"/>
          <p:cNvSpPr/>
          <p:nvPr/>
        </p:nvSpPr>
        <p:spPr>
          <a:xfrm>
            <a:off x="6080760" y="1737360"/>
            <a:ext cx="4480560" cy="274320"/>
          </a:xfrm>
          <a:prstGeom prst="rect">
            <a:avLst/>
          </a:prstGeom>
          <a:noFill/>
          <a:ln/>
        </p:spPr>
        <p:txBody>
          <a:bodyPr wrap="square" lIns="0" tIns="0" rIns="0" bIns="0" rtlCol="0" anchor="ctr"/>
          <a:lstStyle/>
          <a:p>
            <a:pPr marL="0" indent="0">
              <a:buNone/>
            </a:pPr>
            <a:r>
              <a:rPr lang="en-US" sz="1200" b="1" kern="0" spc="100" dirty="0">
                <a:solidFill>
                  <a:srgbClr val="2B44E8"/>
                </a:solidFill>
                <a:latin typeface="Calibri" pitchFamily="34" charset="0"/>
                <a:ea typeface="Calibri" pitchFamily="34" charset="-122"/>
                <a:cs typeface="Calibri" pitchFamily="34" charset="-120"/>
              </a:rPr>
              <a:t>ITERATION 2  ·  Elliptic</a:t>
            </a:r>
            <a:endParaRPr lang="en-US" sz="1200" dirty="0"/>
          </a:p>
        </p:txBody>
      </p:sp>
      <p:sp>
        <p:nvSpPr>
          <p:cNvPr id="9" name="Text 7"/>
          <p:cNvSpPr/>
          <p:nvPr/>
        </p:nvSpPr>
        <p:spPr>
          <a:xfrm>
            <a:off x="6080760" y="2039112"/>
            <a:ext cx="4480560" cy="731520"/>
          </a:xfrm>
          <a:prstGeom prst="rect">
            <a:avLst/>
          </a:prstGeom>
          <a:noFill/>
          <a:ln/>
        </p:spPr>
        <p:txBody>
          <a:bodyPr wrap="square" lIns="0" tIns="0" rIns="0" bIns="0" rtlCol="0" anchor="ctr"/>
          <a:lstStyle/>
          <a:p>
            <a:pPr marL="0" indent="0">
              <a:lnSpc>
                <a:spcPts val="1600"/>
              </a:lnSpc>
              <a:buNone/>
            </a:pPr>
            <a:r>
              <a:rPr lang="en-US" sz="1200" dirty="0">
                <a:solidFill>
                  <a:srgbClr val="0B0C0E"/>
                </a:solidFill>
                <a:latin typeface="Calibri" pitchFamily="34" charset="0"/>
                <a:ea typeface="Calibri" pitchFamily="34" charset="-122"/>
                <a:cs typeface="Calibri" pitchFamily="34" charset="-120"/>
              </a:rPr>
              <a:t>Real Bitcoin transaction graph. The final system: both models, the analyst console, and the full evaluation.</a:t>
            </a:r>
            <a:endParaRPr lang="en-US" sz="1200" dirty="0"/>
          </a:p>
        </p:txBody>
      </p:sp>
      <p:sp>
        <p:nvSpPr>
          <p:cNvPr id="10" name="Text 8"/>
          <p:cNvSpPr/>
          <p:nvPr/>
        </p:nvSpPr>
        <p:spPr>
          <a:xfrm>
            <a:off x="548640" y="3154680"/>
            <a:ext cx="2743200" cy="274320"/>
          </a:xfrm>
          <a:prstGeom prst="rect">
            <a:avLst/>
          </a:prstGeom>
          <a:noFill/>
          <a:ln/>
        </p:spPr>
        <p:txBody>
          <a:bodyPr wrap="square" lIns="0" tIns="0" rIns="0" bIns="0" rtlCol="0" anchor="ctr"/>
          <a:lstStyle/>
          <a:p>
            <a:pPr marL="0" indent="0">
              <a:buNone/>
            </a:pPr>
            <a:r>
              <a:rPr lang="en-US" sz="1100" b="1" kern="0" spc="120" dirty="0">
                <a:solidFill>
                  <a:srgbClr val="6B7280"/>
                </a:solidFill>
                <a:latin typeface="Calibri" pitchFamily="34" charset="0"/>
                <a:ea typeface="Calibri" pitchFamily="34" charset="-122"/>
                <a:cs typeface="Calibri" pitchFamily="34" charset="-120"/>
              </a:rPr>
              <a:t>THE PIPELINE</a:t>
            </a:r>
            <a:endParaRPr lang="en-US" sz="1100" dirty="0"/>
          </a:p>
        </p:txBody>
      </p:sp>
      <p:sp>
        <p:nvSpPr>
          <p:cNvPr id="11" name="Shape 9"/>
          <p:cNvSpPr/>
          <p:nvPr/>
        </p:nvSpPr>
        <p:spPr>
          <a:xfrm>
            <a:off x="548640" y="3520440"/>
            <a:ext cx="1572768" cy="1371600"/>
          </a:xfrm>
          <a:prstGeom prst="roundRect">
            <a:avLst>
              <a:gd name="adj" fmla="val 5333"/>
            </a:avLst>
          </a:prstGeom>
          <a:solidFill>
            <a:srgbClr val="FFFFFF"/>
          </a:solidFill>
          <a:ln w="12700">
            <a:solidFill>
              <a:srgbClr val="E6E4E0"/>
            </a:solidFill>
            <a:prstDash val="solid"/>
          </a:ln>
          <a:effectLst>
            <a:outerShdw blurRad="101600" dist="12700" dir="5400000" algn="bl" rotWithShape="0">
              <a:srgbClr val="9AA0AA">
                <a:alpha val="18000"/>
              </a:srgbClr>
            </a:outerShdw>
          </a:effectLst>
        </p:spPr>
      </p:sp>
      <p:sp>
        <p:nvSpPr>
          <p:cNvPr id="12" name="Shape 10"/>
          <p:cNvSpPr/>
          <p:nvPr/>
        </p:nvSpPr>
        <p:spPr>
          <a:xfrm>
            <a:off x="676656" y="3666744"/>
            <a:ext cx="329184" cy="329184"/>
          </a:xfrm>
          <a:prstGeom prst="ellipse">
            <a:avLst/>
          </a:prstGeom>
          <a:solidFill>
            <a:srgbClr val="2B44E8"/>
          </a:solidFill>
          <a:ln/>
        </p:spPr>
      </p:sp>
      <p:sp>
        <p:nvSpPr>
          <p:cNvPr id="13" name="Text 11"/>
          <p:cNvSpPr/>
          <p:nvPr/>
        </p:nvSpPr>
        <p:spPr>
          <a:xfrm>
            <a:off x="676656" y="3666744"/>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4" name="Text 12"/>
          <p:cNvSpPr/>
          <p:nvPr/>
        </p:nvSpPr>
        <p:spPr>
          <a:xfrm>
            <a:off x="676656" y="4069080"/>
            <a:ext cx="1325880" cy="256032"/>
          </a:xfrm>
          <a:prstGeom prst="rect">
            <a:avLst/>
          </a:prstGeom>
          <a:noFill/>
          <a:ln/>
        </p:spPr>
        <p:txBody>
          <a:bodyPr wrap="square" lIns="0" tIns="0" rIns="0" bIns="0" rtlCol="0" anchor="ctr"/>
          <a:lstStyle/>
          <a:p>
            <a:pPr marL="0" indent="0">
              <a:buNone/>
            </a:pPr>
            <a:r>
              <a:rPr lang="en-US" sz="1300" b="1" dirty="0">
                <a:solidFill>
                  <a:srgbClr val="0B0C0E"/>
                </a:solidFill>
                <a:latin typeface="Calibri" pitchFamily="34" charset="0"/>
                <a:ea typeface="Calibri" pitchFamily="34" charset="-122"/>
                <a:cs typeface="Calibri" pitchFamily="34" charset="-120"/>
              </a:rPr>
              <a:t>Explore</a:t>
            </a:r>
            <a:endParaRPr lang="en-US" sz="1300" dirty="0"/>
          </a:p>
        </p:txBody>
      </p:sp>
      <p:sp>
        <p:nvSpPr>
          <p:cNvPr id="15" name="Text 13"/>
          <p:cNvSpPr/>
          <p:nvPr/>
        </p:nvSpPr>
        <p:spPr>
          <a:xfrm>
            <a:off x="676656" y="4343400"/>
            <a:ext cx="1325880" cy="457200"/>
          </a:xfrm>
          <a:prstGeom prst="rect">
            <a:avLst/>
          </a:prstGeom>
          <a:noFill/>
          <a:ln/>
        </p:spPr>
        <p:txBody>
          <a:bodyPr wrap="square" lIns="0" tIns="0" rIns="0" bIns="0" rtlCol="0" anchor="ctr"/>
          <a:lstStyle/>
          <a:p>
            <a:pPr marL="0" indent="0">
              <a:lnSpc>
                <a:spcPts val="1250"/>
              </a:lnSpc>
              <a:buNone/>
            </a:pPr>
            <a:r>
              <a:rPr lang="en-US" sz="1000" dirty="0">
                <a:solidFill>
                  <a:srgbClr val="6B7280"/>
                </a:solidFill>
                <a:latin typeface="Calibri" pitchFamily="34" charset="0"/>
                <a:ea typeface="Calibri" pitchFamily="34" charset="-122"/>
                <a:cs typeface="Calibri" pitchFamily="34" charset="-120"/>
              </a:rPr>
              <a:t>Profile both</a:t>
            </a:r>
            <a:endParaRPr lang="en-US" sz="1000" dirty="0"/>
          </a:p>
          <a:p>
            <a:pPr marL="0" indent="0">
              <a:lnSpc>
                <a:spcPts val="1250"/>
              </a:lnSpc>
              <a:buNone/>
            </a:pPr>
            <a:r>
              <a:rPr lang="en-US" sz="1000" dirty="0">
                <a:solidFill>
                  <a:srgbClr val="6B7280"/>
                </a:solidFill>
                <a:latin typeface="Calibri" pitchFamily="34" charset="0"/>
                <a:ea typeface="Calibri" pitchFamily="34" charset="-122"/>
                <a:cs typeface="Calibri" pitchFamily="34" charset="-120"/>
              </a:rPr>
              <a:t>datasets</a:t>
            </a:r>
            <a:endParaRPr lang="en-US" sz="1000" dirty="0"/>
          </a:p>
        </p:txBody>
      </p:sp>
      <p:sp>
        <p:nvSpPr>
          <p:cNvPr id="16" name="Shape 14"/>
          <p:cNvSpPr/>
          <p:nvPr/>
        </p:nvSpPr>
        <p:spPr>
          <a:xfrm>
            <a:off x="2157984" y="4178808"/>
            <a:ext cx="118872" cy="32004"/>
          </a:xfrm>
          <a:prstGeom prst="rect">
            <a:avLst/>
          </a:prstGeom>
          <a:solidFill>
            <a:srgbClr val="E6E4E0"/>
          </a:solidFill>
          <a:ln/>
        </p:spPr>
      </p:sp>
      <p:sp>
        <p:nvSpPr>
          <p:cNvPr id="17" name="Shape 15"/>
          <p:cNvSpPr/>
          <p:nvPr/>
        </p:nvSpPr>
        <p:spPr>
          <a:xfrm>
            <a:off x="2313432" y="3520440"/>
            <a:ext cx="1572768" cy="1371600"/>
          </a:xfrm>
          <a:prstGeom prst="roundRect">
            <a:avLst>
              <a:gd name="adj" fmla="val 5333"/>
            </a:avLst>
          </a:prstGeom>
          <a:solidFill>
            <a:srgbClr val="FFFFFF"/>
          </a:solidFill>
          <a:ln w="12700">
            <a:solidFill>
              <a:srgbClr val="E6E4E0"/>
            </a:solidFill>
            <a:prstDash val="solid"/>
          </a:ln>
          <a:effectLst>
            <a:outerShdw blurRad="101600" dist="12700" dir="5400000" algn="bl" rotWithShape="0">
              <a:srgbClr val="9AA0AA">
                <a:alpha val="18000"/>
              </a:srgbClr>
            </a:outerShdw>
          </a:effectLst>
        </p:spPr>
      </p:sp>
      <p:sp>
        <p:nvSpPr>
          <p:cNvPr id="18" name="Shape 16"/>
          <p:cNvSpPr/>
          <p:nvPr/>
        </p:nvSpPr>
        <p:spPr>
          <a:xfrm>
            <a:off x="2441448" y="3666744"/>
            <a:ext cx="329184" cy="329184"/>
          </a:xfrm>
          <a:prstGeom prst="ellipse">
            <a:avLst/>
          </a:prstGeom>
          <a:solidFill>
            <a:srgbClr val="2B44E8"/>
          </a:solidFill>
          <a:ln/>
        </p:spPr>
      </p:sp>
      <p:sp>
        <p:nvSpPr>
          <p:cNvPr id="19" name="Text 17"/>
          <p:cNvSpPr/>
          <p:nvPr/>
        </p:nvSpPr>
        <p:spPr>
          <a:xfrm>
            <a:off x="2441448" y="3666744"/>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0" name="Text 18"/>
          <p:cNvSpPr/>
          <p:nvPr/>
        </p:nvSpPr>
        <p:spPr>
          <a:xfrm>
            <a:off x="2441448" y="4069080"/>
            <a:ext cx="1325880" cy="256032"/>
          </a:xfrm>
          <a:prstGeom prst="rect">
            <a:avLst/>
          </a:prstGeom>
          <a:noFill/>
          <a:ln/>
        </p:spPr>
        <p:txBody>
          <a:bodyPr wrap="square" lIns="0" tIns="0" rIns="0" bIns="0" rtlCol="0" anchor="ctr"/>
          <a:lstStyle/>
          <a:p>
            <a:pPr marL="0" indent="0">
              <a:buNone/>
            </a:pPr>
            <a:r>
              <a:rPr lang="en-US" sz="1300" b="1" dirty="0">
                <a:solidFill>
                  <a:srgbClr val="0B0C0E"/>
                </a:solidFill>
                <a:latin typeface="Calibri" pitchFamily="34" charset="0"/>
                <a:ea typeface="Calibri" pitchFamily="34" charset="-122"/>
                <a:cs typeface="Calibri" pitchFamily="34" charset="-120"/>
              </a:rPr>
              <a:t>Prepare</a:t>
            </a:r>
            <a:endParaRPr lang="en-US" sz="1300" dirty="0"/>
          </a:p>
        </p:txBody>
      </p:sp>
      <p:sp>
        <p:nvSpPr>
          <p:cNvPr id="21" name="Text 19"/>
          <p:cNvSpPr/>
          <p:nvPr/>
        </p:nvSpPr>
        <p:spPr>
          <a:xfrm>
            <a:off x="2441448" y="4343400"/>
            <a:ext cx="1325880" cy="457200"/>
          </a:xfrm>
          <a:prstGeom prst="rect">
            <a:avLst/>
          </a:prstGeom>
          <a:noFill/>
          <a:ln/>
        </p:spPr>
        <p:txBody>
          <a:bodyPr wrap="square" lIns="0" tIns="0" rIns="0" bIns="0" rtlCol="0" anchor="ctr"/>
          <a:lstStyle/>
          <a:p>
            <a:pPr marL="0" indent="0">
              <a:lnSpc>
                <a:spcPts val="1250"/>
              </a:lnSpc>
              <a:buNone/>
            </a:pPr>
            <a:r>
              <a:rPr lang="en-US" sz="1000" dirty="0">
                <a:solidFill>
                  <a:srgbClr val="6B7280"/>
                </a:solidFill>
                <a:latin typeface="Calibri" pitchFamily="34" charset="0"/>
                <a:ea typeface="Calibri" pitchFamily="34" charset="-122"/>
                <a:cs typeface="Calibri" pitchFamily="34" charset="-120"/>
              </a:rPr>
              <a:t>Encode labels,</a:t>
            </a:r>
            <a:endParaRPr lang="en-US" sz="1000" dirty="0"/>
          </a:p>
          <a:p>
            <a:pPr marL="0" indent="0">
              <a:lnSpc>
                <a:spcPts val="1250"/>
              </a:lnSpc>
              <a:buNone/>
            </a:pPr>
            <a:r>
              <a:rPr lang="en-US" sz="1000" dirty="0">
                <a:solidFill>
                  <a:srgbClr val="6B7280"/>
                </a:solidFill>
                <a:latin typeface="Calibri" pitchFamily="34" charset="0"/>
                <a:ea typeface="Calibri" pitchFamily="34" charset="-122"/>
                <a:cs typeface="Calibri" pitchFamily="34" charset="-120"/>
              </a:rPr>
              <a:t>drop identifiers</a:t>
            </a:r>
            <a:endParaRPr lang="en-US" sz="1000" dirty="0"/>
          </a:p>
        </p:txBody>
      </p:sp>
      <p:sp>
        <p:nvSpPr>
          <p:cNvPr id="22" name="Shape 20"/>
          <p:cNvSpPr/>
          <p:nvPr/>
        </p:nvSpPr>
        <p:spPr>
          <a:xfrm>
            <a:off x="3922776" y="4178808"/>
            <a:ext cx="118872" cy="32004"/>
          </a:xfrm>
          <a:prstGeom prst="rect">
            <a:avLst/>
          </a:prstGeom>
          <a:solidFill>
            <a:srgbClr val="E6E4E0"/>
          </a:solidFill>
          <a:ln/>
        </p:spPr>
      </p:sp>
      <p:sp>
        <p:nvSpPr>
          <p:cNvPr id="23" name="Shape 21"/>
          <p:cNvSpPr/>
          <p:nvPr/>
        </p:nvSpPr>
        <p:spPr>
          <a:xfrm>
            <a:off x="4078224" y="3520440"/>
            <a:ext cx="1572768" cy="1371600"/>
          </a:xfrm>
          <a:prstGeom prst="roundRect">
            <a:avLst>
              <a:gd name="adj" fmla="val 5333"/>
            </a:avLst>
          </a:prstGeom>
          <a:solidFill>
            <a:srgbClr val="FFFFFF"/>
          </a:solidFill>
          <a:ln w="12700">
            <a:solidFill>
              <a:srgbClr val="E6E4E0"/>
            </a:solidFill>
            <a:prstDash val="solid"/>
          </a:ln>
          <a:effectLst>
            <a:outerShdw blurRad="101600" dist="12700" dir="5400000" algn="bl" rotWithShape="0">
              <a:srgbClr val="9AA0AA">
                <a:alpha val="18000"/>
              </a:srgbClr>
            </a:outerShdw>
          </a:effectLst>
        </p:spPr>
      </p:sp>
      <p:sp>
        <p:nvSpPr>
          <p:cNvPr id="24" name="Shape 22"/>
          <p:cNvSpPr/>
          <p:nvPr/>
        </p:nvSpPr>
        <p:spPr>
          <a:xfrm>
            <a:off x="4206240" y="3666744"/>
            <a:ext cx="329184" cy="329184"/>
          </a:xfrm>
          <a:prstGeom prst="ellipse">
            <a:avLst/>
          </a:prstGeom>
          <a:solidFill>
            <a:srgbClr val="2B44E8"/>
          </a:solidFill>
          <a:ln/>
        </p:spPr>
      </p:sp>
      <p:sp>
        <p:nvSpPr>
          <p:cNvPr id="25" name="Text 23"/>
          <p:cNvSpPr/>
          <p:nvPr/>
        </p:nvSpPr>
        <p:spPr>
          <a:xfrm>
            <a:off x="4206240" y="3666744"/>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6" name="Text 24"/>
          <p:cNvSpPr/>
          <p:nvPr/>
        </p:nvSpPr>
        <p:spPr>
          <a:xfrm>
            <a:off x="4206240" y="4069080"/>
            <a:ext cx="1325880" cy="256032"/>
          </a:xfrm>
          <a:prstGeom prst="rect">
            <a:avLst/>
          </a:prstGeom>
          <a:noFill/>
          <a:ln/>
        </p:spPr>
        <p:txBody>
          <a:bodyPr wrap="square" lIns="0" tIns="0" rIns="0" bIns="0" rtlCol="0" anchor="ctr"/>
          <a:lstStyle/>
          <a:p>
            <a:pPr marL="0" indent="0">
              <a:buNone/>
            </a:pPr>
            <a:r>
              <a:rPr lang="en-US" sz="1300" b="1" dirty="0">
                <a:solidFill>
                  <a:srgbClr val="0B0C0E"/>
                </a:solidFill>
                <a:latin typeface="Calibri" pitchFamily="34" charset="0"/>
                <a:ea typeface="Calibri" pitchFamily="34" charset="-122"/>
                <a:cs typeface="Calibri" pitchFamily="34" charset="-120"/>
              </a:rPr>
              <a:t>Split</a:t>
            </a:r>
            <a:endParaRPr lang="en-US" sz="1300" dirty="0"/>
          </a:p>
        </p:txBody>
      </p:sp>
      <p:sp>
        <p:nvSpPr>
          <p:cNvPr id="27" name="Text 25"/>
          <p:cNvSpPr/>
          <p:nvPr/>
        </p:nvSpPr>
        <p:spPr>
          <a:xfrm>
            <a:off x="4206240" y="4343400"/>
            <a:ext cx="1325880" cy="457200"/>
          </a:xfrm>
          <a:prstGeom prst="rect">
            <a:avLst/>
          </a:prstGeom>
          <a:noFill/>
          <a:ln/>
        </p:spPr>
        <p:txBody>
          <a:bodyPr wrap="square" lIns="0" tIns="0" rIns="0" bIns="0" rtlCol="0" anchor="ctr"/>
          <a:lstStyle/>
          <a:p>
            <a:pPr marL="0" indent="0">
              <a:lnSpc>
                <a:spcPts val="1250"/>
              </a:lnSpc>
              <a:buNone/>
            </a:pPr>
            <a:r>
              <a:rPr lang="en-US" sz="1000" dirty="0">
                <a:solidFill>
                  <a:srgbClr val="6B7280"/>
                </a:solidFill>
                <a:latin typeface="Calibri" pitchFamily="34" charset="0"/>
                <a:ea typeface="Calibri" pitchFamily="34" charset="-122"/>
                <a:cs typeface="Calibri" pitchFamily="34" charset="-120"/>
              </a:rPr>
              <a:t>Temporal:</a:t>
            </a:r>
            <a:endParaRPr lang="en-US" sz="1000" dirty="0"/>
          </a:p>
          <a:p>
            <a:pPr marL="0" indent="0">
              <a:lnSpc>
                <a:spcPts val="1250"/>
              </a:lnSpc>
              <a:buNone/>
            </a:pPr>
            <a:r>
              <a:rPr lang="en-US" sz="1000" dirty="0">
                <a:solidFill>
                  <a:srgbClr val="6B7280"/>
                </a:solidFill>
                <a:latin typeface="Calibri" pitchFamily="34" charset="0"/>
                <a:ea typeface="Calibri" pitchFamily="34" charset="-122"/>
                <a:cs typeface="Calibri" pitchFamily="34" charset="-120"/>
              </a:rPr>
              <a:t>train 1–34</a:t>
            </a:r>
            <a:endParaRPr lang="en-US" sz="1000" dirty="0"/>
          </a:p>
        </p:txBody>
      </p:sp>
      <p:sp>
        <p:nvSpPr>
          <p:cNvPr id="28" name="Shape 26"/>
          <p:cNvSpPr/>
          <p:nvPr/>
        </p:nvSpPr>
        <p:spPr>
          <a:xfrm>
            <a:off x="5687568" y="4178808"/>
            <a:ext cx="118872" cy="32004"/>
          </a:xfrm>
          <a:prstGeom prst="rect">
            <a:avLst/>
          </a:prstGeom>
          <a:solidFill>
            <a:srgbClr val="E6E4E0"/>
          </a:solidFill>
          <a:ln/>
        </p:spPr>
      </p:sp>
      <p:sp>
        <p:nvSpPr>
          <p:cNvPr id="29" name="Shape 27"/>
          <p:cNvSpPr/>
          <p:nvPr/>
        </p:nvSpPr>
        <p:spPr>
          <a:xfrm>
            <a:off x="5843016" y="3520440"/>
            <a:ext cx="1572768" cy="1371600"/>
          </a:xfrm>
          <a:prstGeom prst="roundRect">
            <a:avLst>
              <a:gd name="adj" fmla="val 5333"/>
            </a:avLst>
          </a:prstGeom>
          <a:solidFill>
            <a:srgbClr val="FFFFFF"/>
          </a:solidFill>
          <a:ln w="12700">
            <a:solidFill>
              <a:srgbClr val="E6E4E0"/>
            </a:solidFill>
            <a:prstDash val="solid"/>
          </a:ln>
          <a:effectLst>
            <a:outerShdw blurRad="101600" dist="12700" dir="5400000" algn="bl" rotWithShape="0">
              <a:srgbClr val="9AA0AA">
                <a:alpha val="18000"/>
              </a:srgbClr>
            </a:outerShdw>
          </a:effectLst>
        </p:spPr>
      </p:sp>
      <p:sp>
        <p:nvSpPr>
          <p:cNvPr id="30" name="Shape 28"/>
          <p:cNvSpPr/>
          <p:nvPr/>
        </p:nvSpPr>
        <p:spPr>
          <a:xfrm>
            <a:off x="5971032" y="3666744"/>
            <a:ext cx="329184" cy="329184"/>
          </a:xfrm>
          <a:prstGeom prst="ellipse">
            <a:avLst/>
          </a:prstGeom>
          <a:solidFill>
            <a:srgbClr val="2B44E8"/>
          </a:solidFill>
          <a:ln/>
        </p:spPr>
      </p:sp>
      <p:sp>
        <p:nvSpPr>
          <p:cNvPr id="31" name="Text 29"/>
          <p:cNvSpPr/>
          <p:nvPr/>
        </p:nvSpPr>
        <p:spPr>
          <a:xfrm>
            <a:off x="5971032" y="3666744"/>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32" name="Text 30"/>
          <p:cNvSpPr/>
          <p:nvPr/>
        </p:nvSpPr>
        <p:spPr>
          <a:xfrm>
            <a:off x="5971032" y="4069080"/>
            <a:ext cx="1325880" cy="256032"/>
          </a:xfrm>
          <a:prstGeom prst="rect">
            <a:avLst/>
          </a:prstGeom>
          <a:noFill/>
          <a:ln/>
        </p:spPr>
        <p:txBody>
          <a:bodyPr wrap="square" lIns="0" tIns="0" rIns="0" bIns="0" rtlCol="0" anchor="ctr"/>
          <a:lstStyle/>
          <a:p>
            <a:pPr marL="0" indent="0">
              <a:buNone/>
            </a:pPr>
            <a:r>
              <a:rPr lang="en-US" sz="1300" b="1" dirty="0">
                <a:solidFill>
                  <a:srgbClr val="0B0C0E"/>
                </a:solidFill>
                <a:latin typeface="Calibri" pitchFamily="34" charset="0"/>
                <a:ea typeface="Calibri" pitchFamily="34" charset="-122"/>
                <a:cs typeface="Calibri" pitchFamily="34" charset="-120"/>
              </a:rPr>
              <a:t>Balance</a:t>
            </a:r>
            <a:endParaRPr lang="en-US" sz="1300" dirty="0"/>
          </a:p>
        </p:txBody>
      </p:sp>
      <p:sp>
        <p:nvSpPr>
          <p:cNvPr id="33" name="Text 31"/>
          <p:cNvSpPr/>
          <p:nvPr/>
        </p:nvSpPr>
        <p:spPr>
          <a:xfrm>
            <a:off x="5971032" y="4343400"/>
            <a:ext cx="1325880" cy="457200"/>
          </a:xfrm>
          <a:prstGeom prst="rect">
            <a:avLst/>
          </a:prstGeom>
          <a:noFill/>
          <a:ln/>
        </p:spPr>
        <p:txBody>
          <a:bodyPr wrap="square" lIns="0" tIns="0" rIns="0" bIns="0" rtlCol="0" anchor="ctr"/>
          <a:lstStyle/>
          <a:p>
            <a:pPr marL="0" indent="0">
              <a:lnSpc>
                <a:spcPts val="1250"/>
              </a:lnSpc>
              <a:buNone/>
            </a:pPr>
            <a:r>
              <a:rPr lang="en-US" sz="1000" dirty="0">
                <a:solidFill>
                  <a:srgbClr val="6B7280"/>
                </a:solidFill>
                <a:latin typeface="Calibri" pitchFamily="34" charset="0"/>
                <a:ea typeface="Calibri" pitchFamily="34" charset="-122"/>
                <a:cs typeface="Calibri" pitchFamily="34" charset="-120"/>
              </a:rPr>
              <a:t>SMOTE on the</a:t>
            </a:r>
            <a:endParaRPr lang="en-US" sz="1000" dirty="0"/>
          </a:p>
          <a:p>
            <a:pPr marL="0" indent="0">
              <a:lnSpc>
                <a:spcPts val="1250"/>
              </a:lnSpc>
              <a:buNone/>
            </a:pPr>
            <a:r>
              <a:rPr lang="en-US" sz="1000" dirty="0">
                <a:solidFill>
                  <a:srgbClr val="6B7280"/>
                </a:solidFill>
                <a:latin typeface="Calibri" pitchFamily="34" charset="0"/>
                <a:ea typeface="Calibri" pitchFamily="34" charset="-122"/>
                <a:cs typeface="Calibri" pitchFamily="34" charset="-120"/>
              </a:rPr>
              <a:t>training set only</a:t>
            </a:r>
            <a:endParaRPr lang="en-US" sz="1000" dirty="0"/>
          </a:p>
        </p:txBody>
      </p:sp>
      <p:sp>
        <p:nvSpPr>
          <p:cNvPr id="34" name="Shape 32"/>
          <p:cNvSpPr/>
          <p:nvPr/>
        </p:nvSpPr>
        <p:spPr>
          <a:xfrm>
            <a:off x="7452360" y="4178808"/>
            <a:ext cx="118872" cy="32004"/>
          </a:xfrm>
          <a:prstGeom prst="rect">
            <a:avLst/>
          </a:prstGeom>
          <a:solidFill>
            <a:srgbClr val="E6E4E0"/>
          </a:solidFill>
          <a:ln/>
        </p:spPr>
      </p:sp>
      <p:sp>
        <p:nvSpPr>
          <p:cNvPr id="35" name="Shape 33"/>
          <p:cNvSpPr/>
          <p:nvPr/>
        </p:nvSpPr>
        <p:spPr>
          <a:xfrm>
            <a:off x="7607808" y="3520440"/>
            <a:ext cx="1572768" cy="1371600"/>
          </a:xfrm>
          <a:prstGeom prst="roundRect">
            <a:avLst>
              <a:gd name="adj" fmla="val 5333"/>
            </a:avLst>
          </a:prstGeom>
          <a:solidFill>
            <a:srgbClr val="FFFFFF"/>
          </a:solidFill>
          <a:ln w="12700">
            <a:solidFill>
              <a:srgbClr val="E6E4E0"/>
            </a:solidFill>
            <a:prstDash val="solid"/>
          </a:ln>
          <a:effectLst>
            <a:outerShdw blurRad="101600" dist="12700" dir="5400000" algn="bl" rotWithShape="0">
              <a:srgbClr val="9AA0AA">
                <a:alpha val="18000"/>
              </a:srgbClr>
            </a:outerShdw>
          </a:effectLst>
        </p:spPr>
      </p:sp>
      <p:sp>
        <p:nvSpPr>
          <p:cNvPr id="36" name="Shape 34"/>
          <p:cNvSpPr/>
          <p:nvPr/>
        </p:nvSpPr>
        <p:spPr>
          <a:xfrm>
            <a:off x="7735824" y="3666744"/>
            <a:ext cx="329184" cy="329184"/>
          </a:xfrm>
          <a:prstGeom prst="ellipse">
            <a:avLst/>
          </a:prstGeom>
          <a:solidFill>
            <a:srgbClr val="2B44E8"/>
          </a:solidFill>
          <a:ln/>
        </p:spPr>
      </p:sp>
      <p:sp>
        <p:nvSpPr>
          <p:cNvPr id="37" name="Text 35"/>
          <p:cNvSpPr/>
          <p:nvPr/>
        </p:nvSpPr>
        <p:spPr>
          <a:xfrm>
            <a:off x="7735824" y="3666744"/>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8" name="Text 36"/>
          <p:cNvSpPr/>
          <p:nvPr/>
        </p:nvSpPr>
        <p:spPr>
          <a:xfrm>
            <a:off x="7735824" y="4069080"/>
            <a:ext cx="1325880" cy="256032"/>
          </a:xfrm>
          <a:prstGeom prst="rect">
            <a:avLst/>
          </a:prstGeom>
          <a:noFill/>
          <a:ln/>
        </p:spPr>
        <p:txBody>
          <a:bodyPr wrap="square" lIns="0" tIns="0" rIns="0" bIns="0" rtlCol="0" anchor="ctr"/>
          <a:lstStyle/>
          <a:p>
            <a:pPr marL="0" indent="0">
              <a:buNone/>
            </a:pPr>
            <a:r>
              <a:rPr lang="en-US" sz="1300" b="1" dirty="0">
                <a:solidFill>
                  <a:srgbClr val="0B0C0E"/>
                </a:solidFill>
                <a:latin typeface="Calibri" pitchFamily="34" charset="0"/>
                <a:ea typeface="Calibri" pitchFamily="34" charset="-122"/>
                <a:cs typeface="Calibri" pitchFamily="34" charset="-120"/>
              </a:rPr>
              <a:t>Train</a:t>
            </a:r>
            <a:endParaRPr lang="en-US" sz="1300" dirty="0"/>
          </a:p>
        </p:txBody>
      </p:sp>
      <p:sp>
        <p:nvSpPr>
          <p:cNvPr id="39" name="Text 37"/>
          <p:cNvSpPr/>
          <p:nvPr/>
        </p:nvSpPr>
        <p:spPr>
          <a:xfrm>
            <a:off x="7735824" y="4343400"/>
            <a:ext cx="1325880" cy="457200"/>
          </a:xfrm>
          <a:prstGeom prst="rect">
            <a:avLst/>
          </a:prstGeom>
          <a:noFill/>
          <a:ln/>
        </p:spPr>
        <p:txBody>
          <a:bodyPr wrap="square" lIns="0" tIns="0" rIns="0" bIns="0" rtlCol="0" anchor="ctr"/>
          <a:lstStyle/>
          <a:p>
            <a:pPr marL="0" indent="0">
              <a:lnSpc>
                <a:spcPts val="1250"/>
              </a:lnSpc>
              <a:buNone/>
            </a:pPr>
            <a:r>
              <a:rPr lang="en-US" sz="1000" dirty="0">
                <a:solidFill>
                  <a:srgbClr val="6B7280"/>
                </a:solidFill>
                <a:latin typeface="Calibri" pitchFamily="34" charset="0"/>
                <a:ea typeface="Calibri" pitchFamily="34" charset="-122"/>
                <a:cs typeface="Calibri" pitchFamily="34" charset="-120"/>
              </a:rPr>
              <a:t>Random Forest</a:t>
            </a:r>
            <a:endParaRPr lang="en-US" sz="1000" dirty="0"/>
          </a:p>
          <a:p>
            <a:pPr marL="0" indent="0">
              <a:lnSpc>
                <a:spcPts val="1250"/>
              </a:lnSpc>
              <a:buNone/>
            </a:pPr>
            <a:r>
              <a:rPr lang="en-US" sz="1000" dirty="0">
                <a:solidFill>
                  <a:srgbClr val="6B7280"/>
                </a:solidFill>
                <a:latin typeface="Calibri" pitchFamily="34" charset="0"/>
                <a:ea typeface="Calibri" pitchFamily="34" charset="-122"/>
                <a:cs typeface="Calibri" pitchFamily="34" charset="-120"/>
              </a:rPr>
              <a:t>+ GraphSAGE</a:t>
            </a:r>
            <a:endParaRPr lang="en-US" sz="1000" dirty="0"/>
          </a:p>
        </p:txBody>
      </p:sp>
      <p:sp>
        <p:nvSpPr>
          <p:cNvPr id="40" name="Shape 38"/>
          <p:cNvSpPr/>
          <p:nvPr/>
        </p:nvSpPr>
        <p:spPr>
          <a:xfrm>
            <a:off x="9217152" y="4178808"/>
            <a:ext cx="118872" cy="32004"/>
          </a:xfrm>
          <a:prstGeom prst="rect">
            <a:avLst/>
          </a:prstGeom>
          <a:solidFill>
            <a:srgbClr val="E6E4E0"/>
          </a:solidFill>
          <a:ln/>
        </p:spPr>
      </p:sp>
      <p:sp>
        <p:nvSpPr>
          <p:cNvPr id="41" name="Shape 39"/>
          <p:cNvSpPr/>
          <p:nvPr/>
        </p:nvSpPr>
        <p:spPr>
          <a:xfrm>
            <a:off x="9372600" y="3520440"/>
            <a:ext cx="1572768" cy="1371600"/>
          </a:xfrm>
          <a:prstGeom prst="roundRect">
            <a:avLst>
              <a:gd name="adj" fmla="val 5333"/>
            </a:avLst>
          </a:prstGeom>
          <a:solidFill>
            <a:srgbClr val="FFFFFF"/>
          </a:solidFill>
          <a:ln w="12700">
            <a:solidFill>
              <a:srgbClr val="E6E4E0"/>
            </a:solidFill>
            <a:prstDash val="solid"/>
          </a:ln>
          <a:effectLst>
            <a:outerShdw blurRad="101600" dist="12700" dir="5400000" algn="bl" rotWithShape="0">
              <a:srgbClr val="9AA0AA">
                <a:alpha val="18000"/>
              </a:srgbClr>
            </a:outerShdw>
          </a:effectLst>
        </p:spPr>
      </p:sp>
      <p:sp>
        <p:nvSpPr>
          <p:cNvPr id="42" name="Shape 40"/>
          <p:cNvSpPr/>
          <p:nvPr/>
        </p:nvSpPr>
        <p:spPr>
          <a:xfrm>
            <a:off x="9500616" y="3666744"/>
            <a:ext cx="329184" cy="329184"/>
          </a:xfrm>
          <a:prstGeom prst="ellipse">
            <a:avLst/>
          </a:prstGeom>
          <a:solidFill>
            <a:srgbClr val="2B44E8"/>
          </a:solidFill>
          <a:ln/>
        </p:spPr>
      </p:sp>
      <p:sp>
        <p:nvSpPr>
          <p:cNvPr id="43" name="Text 41"/>
          <p:cNvSpPr/>
          <p:nvPr/>
        </p:nvSpPr>
        <p:spPr>
          <a:xfrm>
            <a:off x="9500616" y="3666744"/>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44" name="Text 42"/>
          <p:cNvSpPr/>
          <p:nvPr/>
        </p:nvSpPr>
        <p:spPr>
          <a:xfrm>
            <a:off x="9500616" y="4069080"/>
            <a:ext cx="1325880" cy="256032"/>
          </a:xfrm>
          <a:prstGeom prst="rect">
            <a:avLst/>
          </a:prstGeom>
          <a:noFill/>
          <a:ln/>
        </p:spPr>
        <p:txBody>
          <a:bodyPr wrap="square" lIns="0" tIns="0" rIns="0" bIns="0" rtlCol="0" anchor="ctr"/>
          <a:lstStyle/>
          <a:p>
            <a:pPr marL="0" indent="0">
              <a:buNone/>
            </a:pPr>
            <a:r>
              <a:rPr lang="en-US" sz="1300" b="1" dirty="0">
                <a:solidFill>
                  <a:srgbClr val="0B0C0E"/>
                </a:solidFill>
                <a:latin typeface="Calibri" pitchFamily="34" charset="0"/>
                <a:ea typeface="Calibri" pitchFamily="34" charset="-122"/>
                <a:cs typeface="Calibri" pitchFamily="34" charset="-120"/>
              </a:rPr>
              <a:t>Evaluate</a:t>
            </a:r>
            <a:endParaRPr lang="en-US" sz="1300" dirty="0"/>
          </a:p>
        </p:txBody>
      </p:sp>
      <p:sp>
        <p:nvSpPr>
          <p:cNvPr id="45" name="Text 43"/>
          <p:cNvSpPr/>
          <p:nvPr/>
        </p:nvSpPr>
        <p:spPr>
          <a:xfrm>
            <a:off x="9500616" y="4343400"/>
            <a:ext cx="1325880" cy="457200"/>
          </a:xfrm>
          <a:prstGeom prst="rect">
            <a:avLst/>
          </a:prstGeom>
          <a:noFill/>
          <a:ln/>
        </p:spPr>
        <p:txBody>
          <a:bodyPr wrap="square" lIns="0" tIns="0" rIns="0" bIns="0" rtlCol="0" anchor="ctr"/>
          <a:lstStyle/>
          <a:p>
            <a:pPr marL="0" indent="0">
              <a:lnSpc>
                <a:spcPts val="1250"/>
              </a:lnSpc>
              <a:buNone/>
            </a:pPr>
            <a:r>
              <a:rPr lang="en-US" sz="1000" dirty="0">
                <a:solidFill>
                  <a:srgbClr val="6B7280"/>
                </a:solidFill>
                <a:latin typeface="Calibri" pitchFamily="34" charset="0"/>
                <a:ea typeface="Calibri" pitchFamily="34" charset="-122"/>
                <a:cs typeface="Calibri" pitchFamily="34" charset="-120"/>
              </a:rPr>
              <a:t>Test on</a:t>
            </a:r>
            <a:endParaRPr lang="en-US" sz="1000" dirty="0"/>
          </a:p>
          <a:p>
            <a:pPr marL="0" indent="0">
              <a:lnSpc>
                <a:spcPts val="1250"/>
              </a:lnSpc>
              <a:buNone/>
            </a:pPr>
            <a:r>
              <a:rPr lang="en-US" sz="1000" dirty="0">
                <a:solidFill>
                  <a:srgbClr val="6B7280"/>
                </a:solidFill>
                <a:latin typeface="Calibri" pitchFamily="34" charset="0"/>
                <a:ea typeface="Calibri" pitchFamily="34" charset="-122"/>
                <a:cs typeface="Calibri" pitchFamily="34" charset="-120"/>
              </a:rPr>
              <a:t>steps 35–49</a:t>
            </a:r>
            <a:endParaRPr lang="en-US" sz="1000" dirty="0"/>
          </a:p>
        </p:txBody>
      </p:sp>
      <p:sp>
        <p:nvSpPr>
          <p:cNvPr id="46" name="Shape 44"/>
          <p:cNvSpPr/>
          <p:nvPr/>
        </p:nvSpPr>
        <p:spPr>
          <a:xfrm>
            <a:off x="548640" y="5148072"/>
            <a:ext cx="10241280" cy="960120"/>
          </a:xfrm>
          <a:prstGeom prst="roundRect">
            <a:avLst>
              <a:gd name="adj" fmla="val 7619"/>
            </a:avLst>
          </a:prstGeom>
          <a:solidFill>
            <a:srgbClr val="EEF1FE"/>
          </a:solidFill>
          <a:ln w="12700">
            <a:solidFill>
              <a:srgbClr val="E6E4E0"/>
            </a:solidFill>
            <a:prstDash val="solid"/>
          </a:ln>
          <a:effectLst>
            <a:outerShdw blurRad="101600" dist="12700" dir="5400000" algn="bl" rotWithShape="0">
              <a:srgbClr val="9AA0AA">
                <a:alpha val="18000"/>
              </a:srgbClr>
            </a:outerShdw>
          </a:effectLst>
        </p:spPr>
      </p:sp>
      <p:sp>
        <p:nvSpPr>
          <p:cNvPr id="47" name="Text 45"/>
          <p:cNvSpPr/>
          <p:nvPr/>
        </p:nvSpPr>
        <p:spPr>
          <a:xfrm>
            <a:off x="868680" y="5303520"/>
            <a:ext cx="9601200" cy="685800"/>
          </a:xfrm>
          <a:prstGeom prst="rect">
            <a:avLst/>
          </a:prstGeom>
          <a:noFill/>
          <a:ln/>
        </p:spPr>
        <p:txBody>
          <a:bodyPr wrap="square" lIns="0" tIns="0" rIns="0" bIns="0" rtlCol="0" anchor="ctr"/>
          <a:lstStyle/>
          <a:p>
            <a:pPr marL="0" indent="0">
              <a:lnSpc>
                <a:spcPts val="1700"/>
              </a:lnSpc>
              <a:buNone/>
            </a:pPr>
            <a:r>
              <a:rPr lang="en-US" sz="1250" b="1" dirty="0">
                <a:solidFill>
                  <a:srgbClr val="2B44E8"/>
                </a:solidFill>
                <a:latin typeface="Calibri" pitchFamily="34" charset="0"/>
                <a:ea typeface="Calibri" pitchFamily="34" charset="-122"/>
                <a:cs typeface="Calibri" pitchFamily="34" charset="-120"/>
              </a:rPr>
              <a:t>Why split by time?  </a:t>
            </a:r>
            <a:r>
              <a:rPr lang="en-US" sz="1250" dirty="0">
                <a:solidFill>
                  <a:srgbClr val="0B0C0E"/>
                </a:solidFill>
                <a:latin typeface="Calibri" pitchFamily="34" charset="0"/>
                <a:ea typeface="Calibri" pitchFamily="34" charset="-122"/>
                <a:cs typeface="Calibri" pitchFamily="34" charset="-120"/>
              </a:rPr>
              <a:t>A random split would put transactions from the same period — and even direct neighbours in the graph — on both sides, letting information leak from test into training. Training on the past and testing on the future is also how the system would actually be deployed.</a:t>
            </a:r>
            <a:endParaRPr lang="en-US" sz="1250" dirty="0"/>
          </a:p>
        </p:txBody>
      </p:sp>
      <p:pic>
        <p:nvPicPr>
          <p:cNvPr id="48" name="Image 0" descr="C:\Users\brigh\Downloads\crescent logo.jpg"/>
          <p:cNvPicPr>
            <a:picLocks noChangeAspect="1"/>
          </p:cNvPicPr>
          <p:nvPr/>
        </p:nvPicPr>
        <p:blipFill>
          <a:blip r:embed="rId3"/>
          <a:stretch>
            <a:fillRect/>
          </a:stretch>
        </p:blipFill>
        <p:spPr>
          <a:xfrm>
            <a:off x="11155680" y="292608"/>
            <a:ext cx="685800" cy="536753"/>
          </a:xfrm>
          <a:prstGeom prst="rect">
            <a:avLst/>
          </a:prstGeom>
        </p:spPr>
      </p:pic>
      <p:sp>
        <p:nvSpPr>
          <p:cNvPr id="49" name="Text 46"/>
          <p:cNvSpPr/>
          <p:nvPr/>
        </p:nvSpPr>
        <p:spPr>
          <a:xfrm>
            <a:off x="11155680" y="6327648"/>
            <a:ext cx="685800" cy="274320"/>
          </a:xfrm>
          <a:prstGeom prst="rect">
            <a:avLst/>
          </a:prstGeom>
          <a:noFill/>
          <a:ln/>
        </p:spPr>
        <p:txBody>
          <a:bodyPr wrap="square" rtlCol="0" anchor="ctr"/>
          <a:lstStyle/>
          <a:p>
            <a:pPr marL="0" indent="0" algn="r">
              <a:buNone/>
            </a:pPr>
            <a:r>
              <a:rPr lang="en-US" sz="1100" dirty="0">
                <a:solidFill>
                  <a:srgbClr val="6B7280"/>
                </a:solidFill>
                <a:latin typeface="Calibri" pitchFamily="34" charset="0"/>
                <a:ea typeface="Calibri" pitchFamily="34" charset="-122"/>
                <a:cs typeface="Calibri"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332720" cy="566928"/>
          </a:xfrm>
          <a:prstGeom prst="rect">
            <a:avLst/>
          </a:prstGeom>
          <a:noFill/>
          <a:ln/>
        </p:spPr>
        <p:txBody>
          <a:bodyPr wrap="square" lIns="0" tIns="0" rIns="0" bIns="0" rtlCol="0" anchor="ctr"/>
          <a:lstStyle/>
          <a:p>
            <a:pPr marL="0" indent="0">
              <a:buNone/>
            </a:pPr>
            <a:r>
              <a:rPr lang="en-US" sz="3000" b="1" dirty="0">
                <a:solidFill>
                  <a:srgbClr val="0B0C0E"/>
                </a:solidFill>
                <a:latin typeface="Calibri" pitchFamily="34" charset="0"/>
                <a:ea typeface="Calibri" pitchFamily="34" charset="-122"/>
                <a:cs typeface="Calibri" pitchFamily="34" charset="-120"/>
              </a:rPr>
              <a:t>Implementation</a:t>
            </a:r>
            <a:endParaRPr lang="en-US" sz="3000" dirty="0"/>
          </a:p>
        </p:txBody>
      </p:sp>
      <p:sp>
        <p:nvSpPr>
          <p:cNvPr id="3" name="Text 1"/>
          <p:cNvSpPr/>
          <p:nvPr/>
        </p:nvSpPr>
        <p:spPr>
          <a:xfrm>
            <a:off x="548640" y="969264"/>
            <a:ext cx="10058400" cy="292608"/>
          </a:xfrm>
          <a:prstGeom prst="rect">
            <a:avLst/>
          </a:prstGeom>
          <a:noFill/>
          <a:ln/>
        </p:spPr>
        <p:txBody>
          <a:bodyPr wrap="square" lIns="0" tIns="0" rIns="0" bIns="0" rtlCol="0" anchor="ctr"/>
          <a:lstStyle/>
          <a:p>
            <a:pPr marL="0" indent="0">
              <a:buNone/>
            </a:pPr>
            <a:r>
              <a:rPr lang="en-US" sz="1400" dirty="0">
                <a:solidFill>
                  <a:srgbClr val="6B7280"/>
                </a:solidFill>
                <a:latin typeface="Calibri" pitchFamily="34" charset="0"/>
                <a:ea typeface="Calibri" pitchFamily="34" charset="-122"/>
                <a:cs typeface="Calibri" pitchFamily="34" charset="-120"/>
              </a:rPr>
              <a:t>A three-tier application</a:t>
            </a:r>
            <a:endParaRPr lang="en-US" sz="1400" dirty="0"/>
          </a:p>
        </p:txBody>
      </p:sp>
      <p:sp>
        <p:nvSpPr>
          <p:cNvPr id="4" name="Shape 2"/>
          <p:cNvSpPr/>
          <p:nvPr/>
        </p:nvSpPr>
        <p:spPr>
          <a:xfrm>
            <a:off x="548640" y="1554480"/>
            <a:ext cx="5577840" cy="1234440"/>
          </a:xfrm>
          <a:prstGeom prst="roundRect">
            <a:avLst>
              <a:gd name="adj" fmla="val 5926"/>
            </a:avLst>
          </a:prstGeom>
          <a:solidFill>
            <a:srgbClr val="FFFFFF"/>
          </a:solidFill>
          <a:ln w="12700">
            <a:solidFill>
              <a:srgbClr val="E6E4E0"/>
            </a:solidFill>
            <a:prstDash val="solid"/>
          </a:ln>
          <a:effectLst>
            <a:outerShdw blurRad="101600" dist="12700" dir="5400000" algn="bl" rotWithShape="0">
              <a:srgbClr val="9AA0AA">
                <a:alpha val="18000"/>
              </a:srgbClr>
            </a:outerShdw>
          </a:effectLst>
        </p:spPr>
      </p:sp>
      <p:sp>
        <p:nvSpPr>
          <p:cNvPr id="5" name="Shape 3"/>
          <p:cNvSpPr/>
          <p:nvPr/>
        </p:nvSpPr>
        <p:spPr>
          <a:xfrm>
            <a:off x="804672" y="1956816"/>
            <a:ext cx="384048" cy="384048"/>
          </a:xfrm>
          <a:prstGeom prst="ellipse">
            <a:avLst/>
          </a:prstGeom>
          <a:solidFill>
            <a:srgbClr val="2B44E8"/>
          </a:solidFill>
          <a:ln/>
        </p:spPr>
      </p:sp>
      <p:sp>
        <p:nvSpPr>
          <p:cNvPr id="6" name="Text 4"/>
          <p:cNvSpPr/>
          <p:nvPr/>
        </p:nvSpPr>
        <p:spPr>
          <a:xfrm>
            <a:off x="804672" y="1956816"/>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371600" y="1737360"/>
            <a:ext cx="4572000" cy="274320"/>
          </a:xfrm>
          <a:prstGeom prst="rect">
            <a:avLst/>
          </a:prstGeom>
          <a:noFill/>
          <a:ln/>
        </p:spPr>
        <p:txBody>
          <a:bodyPr wrap="square" lIns="0" tIns="0" rIns="0" bIns="0" rtlCol="0" anchor="ctr"/>
          <a:lstStyle/>
          <a:p>
            <a:pPr marL="0" indent="0">
              <a:buNone/>
            </a:pPr>
            <a:r>
              <a:rPr lang="en-US" sz="1500" b="1" dirty="0">
                <a:solidFill>
                  <a:srgbClr val="0B0C0E"/>
                </a:solidFill>
                <a:latin typeface="Calibri" pitchFamily="34" charset="0"/>
                <a:ea typeface="Calibri" pitchFamily="34" charset="-122"/>
                <a:cs typeface="Calibri" pitchFamily="34" charset="-120"/>
              </a:rPr>
              <a:t>Presentation</a:t>
            </a:r>
            <a:endParaRPr lang="en-US" sz="1500" dirty="0"/>
          </a:p>
        </p:txBody>
      </p:sp>
      <p:sp>
        <p:nvSpPr>
          <p:cNvPr id="8" name="Text 6"/>
          <p:cNvSpPr/>
          <p:nvPr/>
        </p:nvSpPr>
        <p:spPr>
          <a:xfrm>
            <a:off x="1371600" y="2011680"/>
            <a:ext cx="4572000" cy="237744"/>
          </a:xfrm>
          <a:prstGeom prst="rect">
            <a:avLst/>
          </a:prstGeom>
          <a:noFill/>
          <a:ln/>
        </p:spPr>
        <p:txBody>
          <a:bodyPr wrap="square" lIns="0" tIns="0" rIns="0" bIns="0" rtlCol="0" anchor="ctr"/>
          <a:lstStyle/>
          <a:p>
            <a:pPr marL="0" indent="0">
              <a:buNone/>
            </a:pPr>
            <a:r>
              <a:rPr lang="en-US" sz="1100" dirty="0">
                <a:solidFill>
                  <a:srgbClr val="2B44E8"/>
                </a:solidFill>
                <a:latin typeface="Calibri" pitchFamily="34" charset="0"/>
                <a:ea typeface="Calibri" pitchFamily="34" charset="-122"/>
                <a:cs typeface="Calibri" pitchFamily="34" charset="-120"/>
              </a:rPr>
              <a:t>React 18 · Vite · Tailwind CSS</a:t>
            </a:r>
            <a:endParaRPr lang="en-US" sz="1100" dirty="0"/>
          </a:p>
        </p:txBody>
      </p:sp>
      <p:sp>
        <p:nvSpPr>
          <p:cNvPr id="9" name="Text 7"/>
          <p:cNvSpPr/>
          <p:nvPr/>
        </p:nvSpPr>
        <p:spPr>
          <a:xfrm>
            <a:off x="1371600" y="2249424"/>
            <a:ext cx="4572000" cy="457200"/>
          </a:xfrm>
          <a:prstGeom prst="rect">
            <a:avLst/>
          </a:prstGeom>
          <a:noFill/>
          <a:ln/>
        </p:spPr>
        <p:txBody>
          <a:bodyPr wrap="square" lIns="0" tIns="0" rIns="0" bIns="0" rtlCol="0" anchor="ctr"/>
          <a:lstStyle/>
          <a:p>
            <a:pPr marL="0" indent="0">
              <a:lnSpc>
                <a:spcPts val="1500"/>
              </a:lnSpc>
              <a:buNone/>
            </a:pPr>
            <a:r>
              <a:rPr lang="en-US" sz="1150" dirty="0">
                <a:solidFill>
                  <a:srgbClr val="6B7280"/>
                </a:solidFill>
                <a:latin typeface="Calibri" pitchFamily="34" charset="0"/>
                <a:ea typeface="Calibri" pitchFamily="34" charset="-122"/>
                <a:cs typeface="Calibri" pitchFamily="34" charset="-120"/>
              </a:rPr>
              <a:t>Analyst console and administrator dashboards, light and dark themes.</a:t>
            </a:r>
            <a:endParaRPr lang="en-US" sz="1150" dirty="0"/>
          </a:p>
        </p:txBody>
      </p:sp>
      <p:sp>
        <p:nvSpPr>
          <p:cNvPr id="10" name="Shape 8"/>
          <p:cNvSpPr/>
          <p:nvPr/>
        </p:nvSpPr>
        <p:spPr>
          <a:xfrm>
            <a:off x="548640" y="2971800"/>
            <a:ext cx="5577840" cy="1234440"/>
          </a:xfrm>
          <a:prstGeom prst="roundRect">
            <a:avLst>
              <a:gd name="adj" fmla="val 5926"/>
            </a:avLst>
          </a:prstGeom>
          <a:solidFill>
            <a:srgbClr val="FFFFFF"/>
          </a:solidFill>
          <a:ln w="12700">
            <a:solidFill>
              <a:srgbClr val="E6E4E0"/>
            </a:solidFill>
            <a:prstDash val="solid"/>
          </a:ln>
          <a:effectLst>
            <a:outerShdw blurRad="101600" dist="12700" dir="5400000" algn="bl" rotWithShape="0">
              <a:srgbClr val="9AA0AA">
                <a:alpha val="18000"/>
              </a:srgbClr>
            </a:outerShdw>
          </a:effectLst>
        </p:spPr>
      </p:sp>
      <p:sp>
        <p:nvSpPr>
          <p:cNvPr id="11" name="Shape 9"/>
          <p:cNvSpPr/>
          <p:nvPr/>
        </p:nvSpPr>
        <p:spPr>
          <a:xfrm>
            <a:off x="804672" y="3374136"/>
            <a:ext cx="384048" cy="384048"/>
          </a:xfrm>
          <a:prstGeom prst="ellipse">
            <a:avLst/>
          </a:prstGeom>
          <a:solidFill>
            <a:srgbClr val="E0870B"/>
          </a:solidFill>
          <a:ln/>
        </p:spPr>
      </p:sp>
      <p:sp>
        <p:nvSpPr>
          <p:cNvPr id="12" name="Text 10"/>
          <p:cNvSpPr/>
          <p:nvPr/>
        </p:nvSpPr>
        <p:spPr>
          <a:xfrm>
            <a:off x="804672" y="3374136"/>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p:nvPr/>
        </p:nvSpPr>
        <p:spPr>
          <a:xfrm>
            <a:off x="1371600" y="3154680"/>
            <a:ext cx="4572000" cy="274320"/>
          </a:xfrm>
          <a:prstGeom prst="rect">
            <a:avLst/>
          </a:prstGeom>
          <a:noFill/>
          <a:ln/>
        </p:spPr>
        <p:txBody>
          <a:bodyPr wrap="square" lIns="0" tIns="0" rIns="0" bIns="0" rtlCol="0" anchor="ctr"/>
          <a:lstStyle/>
          <a:p>
            <a:pPr marL="0" indent="0">
              <a:buNone/>
            </a:pPr>
            <a:r>
              <a:rPr lang="en-US" sz="1500" b="1" dirty="0">
                <a:solidFill>
                  <a:srgbClr val="0B0C0E"/>
                </a:solidFill>
                <a:latin typeface="Calibri" pitchFamily="34" charset="0"/>
                <a:ea typeface="Calibri" pitchFamily="34" charset="-122"/>
                <a:cs typeface="Calibri" pitchFamily="34" charset="-120"/>
              </a:rPr>
              <a:t>Application</a:t>
            </a:r>
            <a:endParaRPr lang="en-US" sz="1500" dirty="0"/>
          </a:p>
        </p:txBody>
      </p:sp>
      <p:sp>
        <p:nvSpPr>
          <p:cNvPr id="14" name="Text 12"/>
          <p:cNvSpPr/>
          <p:nvPr/>
        </p:nvSpPr>
        <p:spPr>
          <a:xfrm>
            <a:off x="1371600" y="3429000"/>
            <a:ext cx="4572000" cy="237744"/>
          </a:xfrm>
          <a:prstGeom prst="rect">
            <a:avLst/>
          </a:prstGeom>
          <a:noFill/>
          <a:ln/>
        </p:spPr>
        <p:txBody>
          <a:bodyPr wrap="square" lIns="0" tIns="0" rIns="0" bIns="0" rtlCol="0" anchor="ctr"/>
          <a:lstStyle/>
          <a:p>
            <a:pPr marL="0" indent="0">
              <a:buNone/>
            </a:pPr>
            <a:r>
              <a:rPr lang="en-US" sz="1100" dirty="0">
                <a:solidFill>
                  <a:srgbClr val="E0870B"/>
                </a:solidFill>
                <a:latin typeface="Calibri" pitchFamily="34" charset="0"/>
                <a:ea typeface="Calibri" pitchFamily="34" charset="-122"/>
                <a:cs typeface="Calibri" pitchFamily="34" charset="-120"/>
              </a:rPr>
              <a:t>Flask REST API · JWT · bcrypt</a:t>
            </a:r>
            <a:endParaRPr lang="en-US" sz="1100" dirty="0"/>
          </a:p>
        </p:txBody>
      </p:sp>
      <p:sp>
        <p:nvSpPr>
          <p:cNvPr id="15" name="Text 13"/>
          <p:cNvSpPr/>
          <p:nvPr/>
        </p:nvSpPr>
        <p:spPr>
          <a:xfrm>
            <a:off x="1371600" y="3666744"/>
            <a:ext cx="4572000" cy="457200"/>
          </a:xfrm>
          <a:prstGeom prst="rect">
            <a:avLst/>
          </a:prstGeom>
          <a:noFill/>
          <a:ln/>
        </p:spPr>
        <p:txBody>
          <a:bodyPr wrap="square" lIns="0" tIns="0" rIns="0" bIns="0" rtlCol="0" anchor="ctr"/>
          <a:lstStyle/>
          <a:p>
            <a:pPr marL="0" indent="0">
              <a:lnSpc>
                <a:spcPts val="1500"/>
              </a:lnSpc>
              <a:buNone/>
            </a:pPr>
            <a:r>
              <a:rPr lang="en-US" sz="1150" dirty="0">
                <a:solidFill>
                  <a:srgbClr val="6B7280"/>
                </a:solidFill>
                <a:latin typeface="Calibri" pitchFamily="34" charset="0"/>
                <a:ea typeface="Calibri" pitchFamily="34" charset="-122"/>
                <a:cs typeface="Calibri" pitchFamily="34" charset="-120"/>
              </a:rPr>
              <a:t>Six blueprints, token authentication, role checks enforced on the server.</a:t>
            </a:r>
            <a:endParaRPr lang="en-US" sz="1150" dirty="0"/>
          </a:p>
        </p:txBody>
      </p:sp>
      <p:sp>
        <p:nvSpPr>
          <p:cNvPr id="16" name="Shape 14"/>
          <p:cNvSpPr/>
          <p:nvPr/>
        </p:nvSpPr>
        <p:spPr>
          <a:xfrm>
            <a:off x="548640" y="4389120"/>
            <a:ext cx="5577840" cy="1234440"/>
          </a:xfrm>
          <a:prstGeom prst="roundRect">
            <a:avLst>
              <a:gd name="adj" fmla="val 5926"/>
            </a:avLst>
          </a:prstGeom>
          <a:solidFill>
            <a:srgbClr val="FFFFFF"/>
          </a:solidFill>
          <a:ln w="12700">
            <a:solidFill>
              <a:srgbClr val="E6E4E0"/>
            </a:solidFill>
            <a:prstDash val="solid"/>
          </a:ln>
          <a:effectLst>
            <a:outerShdw blurRad="101600" dist="12700" dir="5400000" algn="bl" rotWithShape="0">
              <a:srgbClr val="9AA0AA">
                <a:alpha val="18000"/>
              </a:srgbClr>
            </a:outerShdw>
          </a:effectLst>
        </p:spPr>
      </p:sp>
      <p:sp>
        <p:nvSpPr>
          <p:cNvPr id="17" name="Shape 15"/>
          <p:cNvSpPr/>
          <p:nvPr/>
        </p:nvSpPr>
        <p:spPr>
          <a:xfrm>
            <a:off x="804672" y="4791456"/>
            <a:ext cx="384048" cy="384048"/>
          </a:xfrm>
          <a:prstGeom prst="ellipse">
            <a:avLst/>
          </a:prstGeom>
          <a:solidFill>
            <a:srgbClr val="E5484D"/>
          </a:solidFill>
          <a:ln/>
        </p:spPr>
      </p:sp>
      <p:sp>
        <p:nvSpPr>
          <p:cNvPr id="18" name="Text 16"/>
          <p:cNvSpPr/>
          <p:nvPr/>
        </p:nvSpPr>
        <p:spPr>
          <a:xfrm>
            <a:off x="804672" y="4791456"/>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p:nvPr/>
        </p:nvSpPr>
        <p:spPr>
          <a:xfrm>
            <a:off x="1371600" y="4572000"/>
            <a:ext cx="4572000" cy="274320"/>
          </a:xfrm>
          <a:prstGeom prst="rect">
            <a:avLst/>
          </a:prstGeom>
          <a:noFill/>
          <a:ln/>
        </p:spPr>
        <p:txBody>
          <a:bodyPr wrap="square" lIns="0" tIns="0" rIns="0" bIns="0" rtlCol="0" anchor="ctr"/>
          <a:lstStyle/>
          <a:p>
            <a:pPr marL="0" indent="0">
              <a:buNone/>
            </a:pPr>
            <a:r>
              <a:rPr lang="en-US" sz="1500" b="1" dirty="0">
                <a:solidFill>
                  <a:srgbClr val="0B0C0E"/>
                </a:solidFill>
                <a:latin typeface="Calibri" pitchFamily="34" charset="0"/>
                <a:ea typeface="Calibri" pitchFamily="34" charset="-122"/>
                <a:cs typeface="Calibri" pitchFamily="34" charset="-120"/>
              </a:rPr>
              <a:t>Data</a:t>
            </a:r>
            <a:endParaRPr lang="en-US" sz="1500" dirty="0"/>
          </a:p>
        </p:txBody>
      </p:sp>
      <p:sp>
        <p:nvSpPr>
          <p:cNvPr id="20" name="Text 18"/>
          <p:cNvSpPr/>
          <p:nvPr/>
        </p:nvSpPr>
        <p:spPr>
          <a:xfrm>
            <a:off x="1371600" y="4846320"/>
            <a:ext cx="4572000" cy="237744"/>
          </a:xfrm>
          <a:prstGeom prst="rect">
            <a:avLst/>
          </a:prstGeom>
          <a:noFill/>
          <a:ln/>
        </p:spPr>
        <p:txBody>
          <a:bodyPr wrap="square" lIns="0" tIns="0" rIns="0" bIns="0" rtlCol="0" anchor="ctr"/>
          <a:lstStyle/>
          <a:p>
            <a:pPr marL="0" indent="0">
              <a:buNone/>
            </a:pPr>
            <a:r>
              <a:rPr lang="en-US" sz="1100" dirty="0">
                <a:solidFill>
                  <a:srgbClr val="E5484D"/>
                </a:solidFill>
                <a:latin typeface="Calibri" pitchFamily="34" charset="0"/>
                <a:ea typeface="Calibri" pitchFamily="34" charset="-122"/>
                <a:cs typeface="Calibri" pitchFamily="34" charset="-120"/>
              </a:rPr>
              <a:t>MySQL · serialised models</a:t>
            </a:r>
            <a:endParaRPr lang="en-US" sz="1100" dirty="0"/>
          </a:p>
        </p:txBody>
      </p:sp>
      <p:sp>
        <p:nvSpPr>
          <p:cNvPr id="21" name="Text 19"/>
          <p:cNvSpPr/>
          <p:nvPr/>
        </p:nvSpPr>
        <p:spPr>
          <a:xfrm>
            <a:off x="1371600" y="5084064"/>
            <a:ext cx="4572000" cy="457200"/>
          </a:xfrm>
          <a:prstGeom prst="rect">
            <a:avLst/>
          </a:prstGeom>
          <a:noFill/>
          <a:ln/>
        </p:spPr>
        <p:txBody>
          <a:bodyPr wrap="square" lIns="0" tIns="0" rIns="0" bIns="0" rtlCol="0" anchor="ctr"/>
          <a:lstStyle/>
          <a:p>
            <a:pPr marL="0" indent="0">
              <a:lnSpc>
                <a:spcPts val="1500"/>
              </a:lnSpc>
              <a:buNone/>
            </a:pPr>
            <a:r>
              <a:rPr lang="en-US" sz="1150" dirty="0">
                <a:solidFill>
                  <a:srgbClr val="6B7280"/>
                </a:solidFill>
                <a:latin typeface="Calibri" pitchFamily="34" charset="0"/>
                <a:ea typeface="Calibri" pitchFamily="34" charset="-122"/>
                <a:cs typeface="Calibri" pitchFamily="34" charset="-120"/>
              </a:rPr>
              <a:t>Eight tables holding the transaction graph, predictions and alerts, plus the trained model files.</a:t>
            </a:r>
            <a:endParaRPr lang="en-US" sz="1150" dirty="0"/>
          </a:p>
        </p:txBody>
      </p:sp>
      <p:sp>
        <p:nvSpPr>
          <p:cNvPr id="22" name="Text 20"/>
          <p:cNvSpPr/>
          <p:nvPr/>
        </p:nvSpPr>
        <p:spPr>
          <a:xfrm>
            <a:off x="6446520" y="1572768"/>
            <a:ext cx="4572000" cy="274320"/>
          </a:xfrm>
          <a:prstGeom prst="rect">
            <a:avLst/>
          </a:prstGeom>
          <a:noFill/>
          <a:ln/>
        </p:spPr>
        <p:txBody>
          <a:bodyPr wrap="square" lIns="0" tIns="0" rIns="0" bIns="0" rtlCol="0" anchor="ctr"/>
          <a:lstStyle/>
          <a:p>
            <a:pPr marL="0" indent="0">
              <a:buNone/>
            </a:pPr>
            <a:r>
              <a:rPr lang="en-US" sz="1100" b="1" kern="0" spc="120" dirty="0">
                <a:solidFill>
                  <a:srgbClr val="6B7280"/>
                </a:solidFill>
                <a:latin typeface="Calibri" pitchFamily="34" charset="0"/>
                <a:ea typeface="Calibri" pitchFamily="34" charset="-122"/>
                <a:cs typeface="Calibri" pitchFamily="34" charset="-120"/>
              </a:rPr>
              <a:t>WHAT THE ANALYST CAN DO</a:t>
            </a:r>
            <a:endParaRPr lang="en-US" sz="1100" dirty="0"/>
          </a:p>
        </p:txBody>
      </p:sp>
      <p:sp>
        <p:nvSpPr>
          <p:cNvPr id="23" name="Shape 21"/>
          <p:cNvSpPr/>
          <p:nvPr/>
        </p:nvSpPr>
        <p:spPr>
          <a:xfrm>
            <a:off x="6446520" y="1993392"/>
            <a:ext cx="182880" cy="182880"/>
          </a:xfrm>
          <a:prstGeom prst="ellipse">
            <a:avLst/>
          </a:prstGeom>
          <a:solidFill>
            <a:srgbClr val="2B44E8"/>
          </a:solidFill>
          <a:ln/>
        </p:spPr>
      </p:sp>
      <p:sp>
        <p:nvSpPr>
          <p:cNvPr id="24" name="Text 22"/>
          <p:cNvSpPr/>
          <p:nvPr/>
        </p:nvSpPr>
        <p:spPr>
          <a:xfrm>
            <a:off x="6766560" y="1938528"/>
            <a:ext cx="4206240" cy="256032"/>
          </a:xfrm>
          <a:prstGeom prst="rect">
            <a:avLst/>
          </a:prstGeom>
          <a:noFill/>
          <a:ln/>
        </p:spPr>
        <p:txBody>
          <a:bodyPr wrap="square" lIns="0" tIns="0" rIns="0" bIns="0" rtlCol="0" anchor="ctr"/>
          <a:lstStyle/>
          <a:p>
            <a:pPr marL="0" indent="0">
              <a:buNone/>
            </a:pPr>
            <a:r>
              <a:rPr lang="en-US" sz="1300" b="1" dirty="0">
                <a:solidFill>
                  <a:srgbClr val="0B0C0E"/>
                </a:solidFill>
                <a:latin typeface="Calibri" pitchFamily="34" charset="0"/>
                <a:ea typeface="Calibri" pitchFamily="34" charset="-122"/>
                <a:cs typeface="Calibri" pitchFamily="34" charset="-120"/>
              </a:rPr>
              <a:t>Browse and search</a:t>
            </a:r>
            <a:endParaRPr lang="en-US" sz="1300" dirty="0"/>
          </a:p>
        </p:txBody>
      </p:sp>
      <p:sp>
        <p:nvSpPr>
          <p:cNvPr id="25" name="Text 23"/>
          <p:cNvSpPr/>
          <p:nvPr/>
        </p:nvSpPr>
        <p:spPr>
          <a:xfrm>
            <a:off x="6766560" y="2203704"/>
            <a:ext cx="4297680" cy="457200"/>
          </a:xfrm>
          <a:prstGeom prst="rect">
            <a:avLst/>
          </a:prstGeom>
          <a:noFill/>
          <a:ln/>
        </p:spPr>
        <p:txBody>
          <a:bodyPr wrap="square" lIns="0" tIns="0" rIns="0" bIns="0" rtlCol="0" anchor="ctr"/>
          <a:lstStyle/>
          <a:p>
            <a:pPr marL="0" indent="0">
              <a:lnSpc>
                <a:spcPts val="1400"/>
              </a:lnSpc>
              <a:buNone/>
            </a:pPr>
            <a:r>
              <a:rPr lang="en-US" sz="1100" dirty="0">
                <a:solidFill>
                  <a:srgbClr val="6B7280"/>
                </a:solidFill>
                <a:latin typeface="Calibri" pitchFamily="34" charset="0"/>
                <a:ea typeface="Calibri" pitchFamily="34" charset="-122"/>
                <a:cs typeface="Calibri" pitchFamily="34" charset="-120"/>
              </a:rPr>
              <a:t>203,769 real transactions, filtered by label.</a:t>
            </a:r>
            <a:endParaRPr lang="en-US" sz="1100" dirty="0"/>
          </a:p>
        </p:txBody>
      </p:sp>
      <p:sp>
        <p:nvSpPr>
          <p:cNvPr id="26" name="Shape 24"/>
          <p:cNvSpPr/>
          <p:nvPr/>
        </p:nvSpPr>
        <p:spPr>
          <a:xfrm>
            <a:off x="6446520" y="2770632"/>
            <a:ext cx="182880" cy="182880"/>
          </a:xfrm>
          <a:prstGeom prst="ellipse">
            <a:avLst/>
          </a:prstGeom>
          <a:solidFill>
            <a:srgbClr val="2B44E8"/>
          </a:solidFill>
          <a:ln/>
        </p:spPr>
      </p:sp>
      <p:sp>
        <p:nvSpPr>
          <p:cNvPr id="27" name="Text 25"/>
          <p:cNvSpPr/>
          <p:nvPr/>
        </p:nvSpPr>
        <p:spPr>
          <a:xfrm>
            <a:off x="6766560" y="2715768"/>
            <a:ext cx="4206240" cy="256032"/>
          </a:xfrm>
          <a:prstGeom prst="rect">
            <a:avLst/>
          </a:prstGeom>
          <a:noFill/>
          <a:ln/>
        </p:spPr>
        <p:txBody>
          <a:bodyPr wrap="square" lIns="0" tIns="0" rIns="0" bIns="0" rtlCol="0" anchor="ctr"/>
          <a:lstStyle/>
          <a:p>
            <a:pPr marL="0" indent="0">
              <a:buNone/>
            </a:pPr>
            <a:r>
              <a:rPr lang="en-US" sz="1300" b="1" dirty="0">
                <a:solidFill>
                  <a:srgbClr val="0B0C0E"/>
                </a:solidFill>
                <a:latin typeface="Calibri" pitchFamily="34" charset="0"/>
                <a:ea typeface="Calibri" pitchFamily="34" charset="-122"/>
                <a:cs typeface="Calibri" pitchFamily="34" charset="-120"/>
              </a:rPr>
              <a:t>Score with either model</a:t>
            </a:r>
            <a:endParaRPr lang="en-US" sz="1300" dirty="0"/>
          </a:p>
        </p:txBody>
      </p:sp>
      <p:sp>
        <p:nvSpPr>
          <p:cNvPr id="28" name="Text 26"/>
          <p:cNvSpPr/>
          <p:nvPr/>
        </p:nvSpPr>
        <p:spPr>
          <a:xfrm>
            <a:off x="6766560" y="2980944"/>
            <a:ext cx="4297680" cy="457200"/>
          </a:xfrm>
          <a:prstGeom prst="rect">
            <a:avLst/>
          </a:prstGeom>
          <a:noFill/>
          <a:ln/>
        </p:spPr>
        <p:txBody>
          <a:bodyPr wrap="square" lIns="0" tIns="0" rIns="0" bIns="0" rtlCol="0" anchor="ctr"/>
          <a:lstStyle/>
          <a:p>
            <a:pPr marL="0" indent="0">
              <a:lnSpc>
                <a:spcPts val="1400"/>
              </a:lnSpc>
              <a:buNone/>
            </a:pPr>
            <a:r>
              <a:rPr lang="en-US" sz="1100" dirty="0">
                <a:solidFill>
                  <a:srgbClr val="6B7280"/>
                </a:solidFill>
                <a:latin typeface="Calibri" pitchFamily="34" charset="0"/>
                <a:ea typeface="Calibri" pitchFamily="34" charset="-122"/>
                <a:cs typeface="Calibri" pitchFamily="34" charset="-120"/>
              </a:rPr>
              <a:t>Random Forest live, GraphSAGE from a precomputed store.</a:t>
            </a:r>
            <a:endParaRPr lang="en-US" sz="1100" dirty="0"/>
          </a:p>
        </p:txBody>
      </p:sp>
      <p:sp>
        <p:nvSpPr>
          <p:cNvPr id="29" name="Shape 27"/>
          <p:cNvSpPr/>
          <p:nvPr/>
        </p:nvSpPr>
        <p:spPr>
          <a:xfrm>
            <a:off x="6446520" y="3547872"/>
            <a:ext cx="182880" cy="182880"/>
          </a:xfrm>
          <a:prstGeom prst="ellipse">
            <a:avLst/>
          </a:prstGeom>
          <a:solidFill>
            <a:srgbClr val="2B44E8"/>
          </a:solidFill>
          <a:ln/>
        </p:spPr>
      </p:sp>
      <p:sp>
        <p:nvSpPr>
          <p:cNvPr id="30" name="Text 28"/>
          <p:cNvSpPr/>
          <p:nvPr/>
        </p:nvSpPr>
        <p:spPr>
          <a:xfrm>
            <a:off x="6766560" y="3493008"/>
            <a:ext cx="4206240" cy="256032"/>
          </a:xfrm>
          <a:prstGeom prst="rect">
            <a:avLst/>
          </a:prstGeom>
          <a:noFill/>
          <a:ln/>
        </p:spPr>
        <p:txBody>
          <a:bodyPr wrap="square" lIns="0" tIns="0" rIns="0" bIns="0" rtlCol="0" anchor="ctr"/>
          <a:lstStyle/>
          <a:p>
            <a:pPr marL="0" indent="0">
              <a:buNone/>
            </a:pPr>
            <a:r>
              <a:rPr lang="en-US" sz="1300" b="1" dirty="0">
                <a:solidFill>
                  <a:srgbClr val="0B0C0E"/>
                </a:solidFill>
                <a:latin typeface="Calibri" pitchFamily="34" charset="0"/>
                <a:ea typeface="Calibri" pitchFamily="34" charset="-122"/>
                <a:cs typeface="Calibri" pitchFamily="34" charset="-120"/>
              </a:rPr>
              <a:t>See the network</a:t>
            </a:r>
            <a:endParaRPr lang="en-US" sz="1300" dirty="0"/>
          </a:p>
        </p:txBody>
      </p:sp>
      <p:sp>
        <p:nvSpPr>
          <p:cNvPr id="31" name="Text 29"/>
          <p:cNvSpPr/>
          <p:nvPr/>
        </p:nvSpPr>
        <p:spPr>
          <a:xfrm>
            <a:off x="6766560" y="3758184"/>
            <a:ext cx="4297680" cy="457200"/>
          </a:xfrm>
          <a:prstGeom prst="rect">
            <a:avLst/>
          </a:prstGeom>
          <a:noFill/>
          <a:ln/>
        </p:spPr>
        <p:txBody>
          <a:bodyPr wrap="square" lIns="0" tIns="0" rIns="0" bIns="0" rtlCol="0" anchor="ctr"/>
          <a:lstStyle/>
          <a:p>
            <a:pPr marL="0" indent="0">
              <a:lnSpc>
                <a:spcPts val="1400"/>
              </a:lnSpc>
              <a:buNone/>
            </a:pPr>
            <a:r>
              <a:rPr lang="en-US" sz="1100" dirty="0">
                <a:solidFill>
                  <a:srgbClr val="6B7280"/>
                </a:solidFill>
                <a:latin typeface="Calibri" pitchFamily="34" charset="0"/>
                <a:ea typeface="Calibri" pitchFamily="34" charset="-122"/>
                <a:cs typeface="Calibri" pitchFamily="34" charset="-120"/>
              </a:rPr>
              <a:t>The two-hop neighbourhood the graph model reasons over.</a:t>
            </a:r>
            <a:endParaRPr lang="en-US" sz="1100" dirty="0"/>
          </a:p>
        </p:txBody>
      </p:sp>
      <p:sp>
        <p:nvSpPr>
          <p:cNvPr id="32" name="Shape 30"/>
          <p:cNvSpPr/>
          <p:nvPr/>
        </p:nvSpPr>
        <p:spPr>
          <a:xfrm>
            <a:off x="6446520" y="4325112"/>
            <a:ext cx="182880" cy="182880"/>
          </a:xfrm>
          <a:prstGeom prst="ellipse">
            <a:avLst/>
          </a:prstGeom>
          <a:solidFill>
            <a:srgbClr val="2B44E8"/>
          </a:solidFill>
          <a:ln/>
        </p:spPr>
      </p:sp>
      <p:sp>
        <p:nvSpPr>
          <p:cNvPr id="33" name="Text 31"/>
          <p:cNvSpPr/>
          <p:nvPr/>
        </p:nvSpPr>
        <p:spPr>
          <a:xfrm>
            <a:off x="6766560" y="4270248"/>
            <a:ext cx="4206240" cy="256032"/>
          </a:xfrm>
          <a:prstGeom prst="rect">
            <a:avLst/>
          </a:prstGeom>
          <a:noFill/>
          <a:ln/>
        </p:spPr>
        <p:txBody>
          <a:bodyPr wrap="square" lIns="0" tIns="0" rIns="0" bIns="0" rtlCol="0" anchor="ctr"/>
          <a:lstStyle/>
          <a:p>
            <a:pPr marL="0" indent="0">
              <a:buNone/>
            </a:pPr>
            <a:r>
              <a:rPr lang="en-US" sz="1300" b="1" dirty="0">
                <a:solidFill>
                  <a:srgbClr val="0B0C0E"/>
                </a:solidFill>
                <a:latin typeface="Calibri" pitchFamily="34" charset="0"/>
                <a:ea typeface="Calibri" pitchFamily="34" charset="-122"/>
                <a:cs typeface="Calibri" pitchFamily="34" charset="-120"/>
              </a:rPr>
              <a:t>Read the explanation</a:t>
            </a:r>
            <a:endParaRPr lang="en-US" sz="1300" dirty="0"/>
          </a:p>
        </p:txBody>
      </p:sp>
      <p:sp>
        <p:nvSpPr>
          <p:cNvPr id="34" name="Text 32"/>
          <p:cNvSpPr/>
          <p:nvPr/>
        </p:nvSpPr>
        <p:spPr>
          <a:xfrm>
            <a:off x="6766560" y="4535424"/>
            <a:ext cx="4297680" cy="457200"/>
          </a:xfrm>
          <a:prstGeom prst="rect">
            <a:avLst/>
          </a:prstGeom>
          <a:noFill/>
          <a:ln/>
        </p:spPr>
        <p:txBody>
          <a:bodyPr wrap="square" lIns="0" tIns="0" rIns="0" bIns="0" rtlCol="0" anchor="ctr"/>
          <a:lstStyle/>
          <a:p>
            <a:pPr marL="0" indent="0">
              <a:lnSpc>
                <a:spcPts val="1400"/>
              </a:lnSpc>
              <a:buNone/>
            </a:pPr>
            <a:r>
              <a:rPr lang="en-US" sz="1100" dirty="0">
                <a:solidFill>
                  <a:srgbClr val="6B7280"/>
                </a:solidFill>
                <a:latin typeface="Calibri" pitchFamily="34" charset="0"/>
                <a:ea typeface="Calibri" pitchFamily="34" charset="-122"/>
                <a:cs typeface="Calibri" pitchFamily="34" charset="-120"/>
              </a:rPr>
              <a:t>Each score split into the transaction's own features versus its network context.</a:t>
            </a:r>
            <a:endParaRPr lang="en-US" sz="1100" dirty="0"/>
          </a:p>
        </p:txBody>
      </p:sp>
      <p:sp>
        <p:nvSpPr>
          <p:cNvPr id="35" name="Shape 33"/>
          <p:cNvSpPr/>
          <p:nvPr/>
        </p:nvSpPr>
        <p:spPr>
          <a:xfrm>
            <a:off x="6446520" y="5102352"/>
            <a:ext cx="182880" cy="182880"/>
          </a:xfrm>
          <a:prstGeom prst="ellipse">
            <a:avLst/>
          </a:prstGeom>
          <a:solidFill>
            <a:srgbClr val="2B44E8"/>
          </a:solidFill>
          <a:ln/>
        </p:spPr>
      </p:sp>
      <p:sp>
        <p:nvSpPr>
          <p:cNvPr id="36" name="Text 34"/>
          <p:cNvSpPr/>
          <p:nvPr/>
        </p:nvSpPr>
        <p:spPr>
          <a:xfrm>
            <a:off x="6766560" y="5047488"/>
            <a:ext cx="4206240" cy="256032"/>
          </a:xfrm>
          <a:prstGeom prst="rect">
            <a:avLst/>
          </a:prstGeom>
          <a:noFill/>
          <a:ln/>
        </p:spPr>
        <p:txBody>
          <a:bodyPr wrap="square" lIns="0" tIns="0" rIns="0" bIns="0" rtlCol="0" anchor="ctr"/>
          <a:lstStyle/>
          <a:p>
            <a:pPr marL="0" indent="0">
              <a:buNone/>
            </a:pPr>
            <a:r>
              <a:rPr lang="en-US" sz="1300" b="1" dirty="0">
                <a:solidFill>
                  <a:srgbClr val="0B0C0E"/>
                </a:solidFill>
                <a:latin typeface="Calibri" pitchFamily="34" charset="0"/>
                <a:ea typeface="Calibri" pitchFamily="34" charset="-122"/>
                <a:cs typeface="Calibri" pitchFamily="34" charset="-120"/>
              </a:rPr>
              <a:t>Work the alert queue</a:t>
            </a:r>
            <a:endParaRPr lang="en-US" sz="1300" dirty="0"/>
          </a:p>
        </p:txBody>
      </p:sp>
      <p:sp>
        <p:nvSpPr>
          <p:cNvPr id="37" name="Text 35"/>
          <p:cNvSpPr/>
          <p:nvPr/>
        </p:nvSpPr>
        <p:spPr>
          <a:xfrm>
            <a:off x="6766560" y="5312664"/>
            <a:ext cx="4297680" cy="457200"/>
          </a:xfrm>
          <a:prstGeom prst="rect">
            <a:avLst/>
          </a:prstGeom>
          <a:noFill/>
          <a:ln/>
        </p:spPr>
        <p:txBody>
          <a:bodyPr wrap="square" lIns="0" tIns="0" rIns="0" bIns="0" rtlCol="0" anchor="ctr"/>
          <a:lstStyle/>
          <a:p>
            <a:pPr marL="0" indent="0">
              <a:lnSpc>
                <a:spcPts val="1400"/>
              </a:lnSpc>
              <a:buNone/>
            </a:pPr>
            <a:r>
              <a:rPr lang="en-US" sz="1100" dirty="0">
                <a:solidFill>
                  <a:srgbClr val="6B7280"/>
                </a:solidFill>
                <a:latin typeface="Calibri" pitchFamily="34" charset="0"/>
                <a:ea typeface="Calibri" pitchFamily="34" charset="-122"/>
                <a:cs typeface="Calibri" pitchFamily="34" charset="-120"/>
              </a:rPr>
              <a:t>Add notes, resolve cases, export activity as CSV.</a:t>
            </a:r>
            <a:endParaRPr lang="en-US" sz="1100" dirty="0"/>
          </a:p>
        </p:txBody>
      </p:sp>
      <p:sp>
        <p:nvSpPr>
          <p:cNvPr id="38" name="Shape 36"/>
          <p:cNvSpPr/>
          <p:nvPr/>
        </p:nvSpPr>
        <p:spPr>
          <a:xfrm>
            <a:off x="548640" y="5806440"/>
            <a:ext cx="5577840" cy="566928"/>
          </a:xfrm>
          <a:prstGeom prst="roundRect">
            <a:avLst>
              <a:gd name="adj" fmla="val 12903"/>
            </a:avLst>
          </a:prstGeom>
          <a:solidFill>
            <a:srgbClr val="EEF1FE"/>
          </a:solidFill>
          <a:ln w="12700">
            <a:solidFill>
              <a:srgbClr val="E6E4E0"/>
            </a:solidFill>
            <a:prstDash val="solid"/>
          </a:ln>
          <a:effectLst>
            <a:outerShdw blurRad="101600" dist="12700" dir="5400000" algn="bl" rotWithShape="0">
              <a:srgbClr val="9AA0AA">
                <a:alpha val="18000"/>
              </a:srgbClr>
            </a:outerShdw>
          </a:effectLst>
        </p:spPr>
      </p:sp>
      <p:sp>
        <p:nvSpPr>
          <p:cNvPr id="39" name="Text 37"/>
          <p:cNvSpPr/>
          <p:nvPr/>
        </p:nvSpPr>
        <p:spPr>
          <a:xfrm>
            <a:off x="804672" y="5943600"/>
            <a:ext cx="5120640" cy="292608"/>
          </a:xfrm>
          <a:prstGeom prst="rect">
            <a:avLst/>
          </a:prstGeom>
          <a:noFill/>
          <a:ln/>
        </p:spPr>
        <p:txBody>
          <a:bodyPr wrap="square" lIns="0" tIns="0" rIns="0" bIns="0" rtlCol="0" anchor="ctr"/>
          <a:lstStyle/>
          <a:p>
            <a:pPr marL="0" indent="0">
              <a:buNone/>
            </a:pPr>
            <a:r>
              <a:rPr lang="en-US" sz="1250" b="1" dirty="0">
                <a:solidFill>
                  <a:srgbClr val="2B44E8"/>
                </a:solidFill>
                <a:latin typeface="Calibri" pitchFamily="34" charset="0"/>
                <a:ea typeface="Calibri" pitchFamily="34" charset="-122"/>
                <a:cs typeface="Calibri" pitchFamily="34" charset="-120"/>
              </a:rPr>
              <a:t>Validated by 35 automated tests, all passing</a:t>
            </a:r>
            <a:endParaRPr lang="en-US" sz="1250" dirty="0"/>
          </a:p>
        </p:txBody>
      </p:sp>
      <p:pic>
        <p:nvPicPr>
          <p:cNvPr id="40" name="Image 0" descr="C:\Users\brigh\Downloads\crescent logo.jpg"/>
          <p:cNvPicPr>
            <a:picLocks noChangeAspect="1"/>
          </p:cNvPicPr>
          <p:nvPr/>
        </p:nvPicPr>
        <p:blipFill>
          <a:blip r:embed="rId3"/>
          <a:stretch>
            <a:fillRect/>
          </a:stretch>
        </p:blipFill>
        <p:spPr>
          <a:xfrm>
            <a:off x="11155680" y="292608"/>
            <a:ext cx="685800" cy="536753"/>
          </a:xfrm>
          <a:prstGeom prst="rect">
            <a:avLst/>
          </a:prstGeom>
        </p:spPr>
      </p:pic>
      <p:sp>
        <p:nvSpPr>
          <p:cNvPr id="41" name="Text 38"/>
          <p:cNvSpPr/>
          <p:nvPr/>
        </p:nvSpPr>
        <p:spPr>
          <a:xfrm>
            <a:off x="11155680" y="6327648"/>
            <a:ext cx="685800" cy="274320"/>
          </a:xfrm>
          <a:prstGeom prst="rect">
            <a:avLst/>
          </a:prstGeom>
          <a:noFill/>
          <a:ln/>
        </p:spPr>
        <p:txBody>
          <a:bodyPr wrap="square" rtlCol="0" anchor="ctr"/>
          <a:lstStyle/>
          <a:p>
            <a:pPr marL="0" indent="0" algn="r">
              <a:buNone/>
            </a:pPr>
            <a:r>
              <a:rPr lang="en-US" sz="1100" dirty="0">
                <a:solidFill>
                  <a:srgbClr val="6B7280"/>
                </a:solidFill>
                <a:latin typeface="Calibri" pitchFamily="34" charset="0"/>
                <a:ea typeface="Calibri" pitchFamily="34" charset="-122"/>
                <a:cs typeface="Calibri"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332720" cy="566928"/>
          </a:xfrm>
          <a:prstGeom prst="rect">
            <a:avLst/>
          </a:prstGeom>
          <a:noFill/>
          <a:ln/>
        </p:spPr>
        <p:txBody>
          <a:bodyPr wrap="square" lIns="0" tIns="0" rIns="0" bIns="0" rtlCol="0" anchor="ctr"/>
          <a:lstStyle/>
          <a:p>
            <a:pPr marL="0" indent="0">
              <a:buNone/>
            </a:pPr>
            <a:r>
              <a:rPr lang="en-US" sz="3000" b="1" dirty="0">
                <a:solidFill>
                  <a:srgbClr val="0B0C0E"/>
                </a:solidFill>
                <a:latin typeface="Calibri" pitchFamily="34" charset="0"/>
                <a:ea typeface="Calibri" pitchFamily="34" charset="-122"/>
                <a:cs typeface="Calibri" pitchFamily="34" charset="-120"/>
              </a:rPr>
              <a:t>Implementation</a:t>
            </a:r>
            <a:endParaRPr lang="en-US" sz="3000" dirty="0"/>
          </a:p>
        </p:txBody>
      </p:sp>
      <p:sp>
        <p:nvSpPr>
          <p:cNvPr id="3" name="Text 1"/>
          <p:cNvSpPr/>
          <p:nvPr/>
        </p:nvSpPr>
        <p:spPr>
          <a:xfrm>
            <a:off x="548640" y="969264"/>
            <a:ext cx="10058400" cy="292608"/>
          </a:xfrm>
          <a:prstGeom prst="rect">
            <a:avLst/>
          </a:prstGeom>
          <a:noFill/>
          <a:ln/>
        </p:spPr>
        <p:txBody>
          <a:bodyPr wrap="square" lIns="0" tIns="0" rIns="0" bIns="0" rtlCol="0" anchor="ctr"/>
          <a:lstStyle/>
          <a:p>
            <a:pPr marL="0" indent="0">
              <a:buNone/>
            </a:pPr>
            <a:r>
              <a:rPr lang="en-US" sz="1400" dirty="0">
                <a:solidFill>
                  <a:srgbClr val="6B7280"/>
                </a:solidFill>
                <a:latin typeface="Calibri" pitchFamily="34" charset="0"/>
                <a:ea typeface="Calibri" pitchFamily="34" charset="-122"/>
                <a:cs typeface="Calibri" pitchFamily="34" charset="-120"/>
              </a:rPr>
              <a:t>Scoring a transaction</a:t>
            </a:r>
            <a:endParaRPr lang="en-US" sz="1400" dirty="0"/>
          </a:p>
        </p:txBody>
      </p:sp>
      <p:pic>
        <p:nvPicPr>
          <p:cNvPr id="4" name="Image 0" descr="C:\Users\brigh\OneDrive\Desktop\Projects\fraud-detection\report\screenshots\crop-readout.png"/>
          <p:cNvPicPr>
            <a:picLocks noChangeAspect="1"/>
          </p:cNvPicPr>
          <p:nvPr/>
        </p:nvPicPr>
        <p:blipFill>
          <a:blip r:embed="rId3"/>
          <a:stretch>
            <a:fillRect/>
          </a:stretch>
        </p:blipFill>
        <p:spPr>
          <a:xfrm>
            <a:off x="548640" y="1463040"/>
            <a:ext cx="7223760" cy="4114800"/>
          </a:xfrm>
          <a:prstGeom prst="rect">
            <a:avLst/>
          </a:prstGeom>
        </p:spPr>
      </p:pic>
      <p:sp>
        <p:nvSpPr>
          <p:cNvPr id="5" name="Text 2"/>
          <p:cNvSpPr/>
          <p:nvPr/>
        </p:nvSpPr>
        <p:spPr>
          <a:xfrm>
            <a:off x="548640" y="5669280"/>
            <a:ext cx="7223760" cy="320040"/>
          </a:xfrm>
          <a:prstGeom prst="rect">
            <a:avLst/>
          </a:prstGeom>
          <a:noFill/>
          <a:ln/>
        </p:spPr>
        <p:txBody>
          <a:bodyPr wrap="square" lIns="0" tIns="0" rIns="0" bIns="0"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Analyze Transaction — the analyst selects a real transaction and the system returns a verdict.</a:t>
            </a:r>
            <a:endParaRPr lang="en-US" sz="1100" dirty="0"/>
          </a:p>
        </p:txBody>
      </p:sp>
      <p:sp>
        <p:nvSpPr>
          <p:cNvPr id="6" name="Shape 3"/>
          <p:cNvSpPr/>
          <p:nvPr/>
        </p:nvSpPr>
        <p:spPr>
          <a:xfrm>
            <a:off x="8092440" y="1591056"/>
            <a:ext cx="256032" cy="256032"/>
          </a:xfrm>
          <a:prstGeom prst="ellipse">
            <a:avLst/>
          </a:prstGeom>
          <a:solidFill>
            <a:srgbClr val="2B44E8"/>
          </a:solidFill>
          <a:ln/>
        </p:spPr>
      </p:sp>
      <p:sp>
        <p:nvSpPr>
          <p:cNvPr id="7" name="Text 4"/>
          <p:cNvSpPr/>
          <p:nvPr/>
        </p:nvSpPr>
        <p:spPr>
          <a:xfrm>
            <a:off x="8092440" y="1591056"/>
            <a:ext cx="256032"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Text 5"/>
          <p:cNvSpPr/>
          <p:nvPr/>
        </p:nvSpPr>
        <p:spPr>
          <a:xfrm>
            <a:off x="8476488" y="1554480"/>
            <a:ext cx="3108960" cy="256032"/>
          </a:xfrm>
          <a:prstGeom prst="rect">
            <a:avLst/>
          </a:prstGeom>
          <a:noFill/>
          <a:ln/>
        </p:spPr>
        <p:txBody>
          <a:bodyPr wrap="square" lIns="0" tIns="0" rIns="0" bIns="0" rtlCol="0" anchor="ctr"/>
          <a:lstStyle/>
          <a:p>
            <a:pPr marL="0" indent="0">
              <a:buNone/>
            </a:pPr>
            <a:r>
              <a:rPr lang="en-US" sz="1300" b="1" dirty="0">
                <a:solidFill>
                  <a:srgbClr val="0B0C0E"/>
                </a:solidFill>
                <a:latin typeface="Calibri" pitchFamily="34" charset="0"/>
                <a:ea typeface="Calibri" pitchFamily="34" charset="-122"/>
                <a:cs typeface="Calibri" pitchFamily="34" charset="-120"/>
              </a:rPr>
              <a:t>Both models, side by side</a:t>
            </a:r>
            <a:endParaRPr lang="en-US" sz="1300" dirty="0"/>
          </a:p>
        </p:txBody>
      </p:sp>
      <p:sp>
        <p:nvSpPr>
          <p:cNvPr id="9" name="Text 6"/>
          <p:cNvSpPr/>
          <p:nvPr/>
        </p:nvSpPr>
        <p:spPr>
          <a:xfrm>
            <a:off x="8476488" y="1828800"/>
            <a:ext cx="3108960" cy="640080"/>
          </a:xfrm>
          <a:prstGeom prst="rect">
            <a:avLst/>
          </a:prstGeom>
          <a:noFill/>
          <a:ln/>
        </p:spPr>
        <p:txBody>
          <a:bodyPr wrap="square" lIns="0" tIns="0" rIns="0" bIns="0" rtlCol="0" anchor="ctr"/>
          <a:lstStyle/>
          <a:p>
            <a:pPr marL="0" indent="0">
              <a:lnSpc>
                <a:spcPts val="1450"/>
              </a:lnSpc>
              <a:buNone/>
            </a:pPr>
            <a:r>
              <a:rPr lang="en-US" sz="1100" dirty="0">
                <a:solidFill>
                  <a:srgbClr val="6B7280"/>
                </a:solidFill>
                <a:latin typeface="Calibri" pitchFamily="34" charset="0"/>
                <a:ea typeface="Calibri" pitchFamily="34" charset="-122"/>
                <a:cs typeface="Calibri" pitchFamily="34" charset="-120"/>
              </a:rPr>
              <a:t>Random Forest says 91.0%, GraphSAGE says 99.9%. The analyst can switch between them.</a:t>
            </a:r>
            <a:endParaRPr lang="en-US" sz="1100" dirty="0"/>
          </a:p>
        </p:txBody>
      </p:sp>
      <p:sp>
        <p:nvSpPr>
          <p:cNvPr id="10" name="Shape 7"/>
          <p:cNvSpPr/>
          <p:nvPr/>
        </p:nvSpPr>
        <p:spPr>
          <a:xfrm>
            <a:off x="8092440" y="2642616"/>
            <a:ext cx="256032" cy="256032"/>
          </a:xfrm>
          <a:prstGeom prst="ellipse">
            <a:avLst/>
          </a:prstGeom>
          <a:solidFill>
            <a:srgbClr val="2B44E8"/>
          </a:solidFill>
          <a:ln/>
        </p:spPr>
      </p:sp>
      <p:sp>
        <p:nvSpPr>
          <p:cNvPr id="11" name="Text 8"/>
          <p:cNvSpPr/>
          <p:nvPr/>
        </p:nvSpPr>
        <p:spPr>
          <a:xfrm>
            <a:off x="8092440" y="2642616"/>
            <a:ext cx="256032"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Text 9"/>
          <p:cNvSpPr/>
          <p:nvPr/>
        </p:nvSpPr>
        <p:spPr>
          <a:xfrm>
            <a:off x="8476488" y="2606040"/>
            <a:ext cx="3108960" cy="256032"/>
          </a:xfrm>
          <a:prstGeom prst="rect">
            <a:avLst/>
          </a:prstGeom>
          <a:noFill/>
          <a:ln/>
        </p:spPr>
        <p:txBody>
          <a:bodyPr wrap="square" lIns="0" tIns="0" rIns="0" bIns="0" rtlCol="0" anchor="ctr"/>
          <a:lstStyle/>
          <a:p>
            <a:pPr marL="0" indent="0">
              <a:buNone/>
            </a:pPr>
            <a:r>
              <a:rPr lang="en-US" sz="1300" b="1" dirty="0">
                <a:solidFill>
                  <a:srgbClr val="0B0C0E"/>
                </a:solidFill>
                <a:latin typeface="Calibri" pitchFamily="34" charset="0"/>
                <a:ea typeface="Calibri" pitchFamily="34" charset="-122"/>
                <a:cs typeface="Calibri" pitchFamily="34" charset="-120"/>
              </a:rPr>
              <a:t>A risk score, not a yes/no</a:t>
            </a:r>
            <a:endParaRPr lang="en-US" sz="1300" dirty="0"/>
          </a:p>
        </p:txBody>
      </p:sp>
      <p:sp>
        <p:nvSpPr>
          <p:cNvPr id="13" name="Text 10"/>
          <p:cNvSpPr/>
          <p:nvPr/>
        </p:nvSpPr>
        <p:spPr>
          <a:xfrm>
            <a:off x="8476488" y="2880360"/>
            <a:ext cx="3108960" cy="640080"/>
          </a:xfrm>
          <a:prstGeom prst="rect">
            <a:avLst/>
          </a:prstGeom>
          <a:noFill/>
          <a:ln/>
        </p:spPr>
        <p:txBody>
          <a:bodyPr wrap="square" lIns="0" tIns="0" rIns="0" bIns="0" rtlCol="0" anchor="ctr"/>
          <a:lstStyle/>
          <a:p>
            <a:pPr marL="0" indent="0">
              <a:lnSpc>
                <a:spcPts val="1450"/>
              </a:lnSpc>
              <a:buNone/>
            </a:pPr>
            <a:r>
              <a:rPr lang="en-US" sz="1100" dirty="0">
                <a:solidFill>
                  <a:srgbClr val="6B7280"/>
                </a:solidFill>
                <a:latin typeface="Calibri" pitchFamily="34" charset="0"/>
                <a:ea typeface="Calibri" pitchFamily="34" charset="-122"/>
                <a:cs typeface="Calibri" pitchFamily="34" charset="-120"/>
              </a:rPr>
              <a:t>The spectrum shows where this transaction sits between legitimate and fraudulent.</a:t>
            </a:r>
            <a:endParaRPr lang="en-US" sz="1100" dirty="0"/>
          </a:p>
        </p:txBody>
      </p:sp>
      <p:sp>
        <p:nvSpPr>
          <p:cNvPr id="14" name="Shape 11"/>
          <p:cNvSpPr/>
          <p:nvPr/>
        </p:nvSpPr>
        <p:spPr>
          <a:xfrm>
            <a:off x="8092440" y="3694176"/>
            <a:ext cx="256032" cy="256032"/>
          </a:xfrm>
          <a:prstGeom prst="ellipse">
            <a:avLst/>
          </a:prstGeom>
          <a:solidFill>
            <a:srgbClr val="2B44E8"/>
          </a:solidFill>
          <a:ln/>
        </p:spPr>
      </p:sp>
      <p:sp>
        <p:nvSpPr>
          <p:cNvPr id="15" name="Text 12"/>
          <p:cNvSpPr/>
          <p:nvPr/>
        </p:nvSpPr>
        <p:spPr>
          <a:xfrm>
            <a:off x="8092440" y="3694176"/>
            <a:ext cx="256032"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6" name="Text 13"/>
          <p:cNvSpPr/>
          <p:nvPr/>
        </p:nvSpPr>
        <p:spPr>
          <a:xfrm>
            <a:off x="8476488" y="3657600"/>
            <a:ext cx="3108960" cy="256032"/>
          </a:xfrm>
          <a:prstGeom prst="rect">
            <a:avLst/>
          </a:prstGeom>
          <a:noFill/>
          <a:ln/>
        </p:spPr>
        <p:txBody>
          <a:bodyPr wrap="square" lIns="0" tIns="0" rIns="0" bIns="0" rtlCol="0" anchor="ctr"/>
          <a:lstStyle/>
          <a:p>
            <a:pPr marL="0" indent="0">
              <a:buNone/>
            </a:pPr>
            <a:r>
              <a:rPr lang="en-US" sz="1300" b="1" dirty="0">
                <a:solidFill>
                  <a:srgbClr val="0B0C0E"/>
                </a:solidFill>
                <a:latin typeface="Calibri" pitchFamily="34" charset="0"/>
                <a:ea typeface="Calibri" pitchFamily="34" charset="-122"/>
                <a:cs typeface="Calibri" pitchFamily="34" charset="-120"/>
              </a:rPr>
              <a:t>Ground truth shown</a:t>
            </a:r>
            <a:endParaRPr lang="en-US" sz="1300" dirty="0"/>
          </a:p>
        </p:txBody>
      </p:sp>
      <p:sp>
        <p:nvSpPr>
          <p:cNvPr id="17" name="Text 14"/>
          <p:cNvSpPr/>
          <p:nvPr/>
        </p:nvSpPr>
        <p:spPr>
          <a:xfrm>
            <a:off x="8476488" y="3931920"/>
            <a:ext cx="3108960" cy="640080"/>
          </a:xfrm>
          <a:prstGeom prst="rect">
            <a:avLst/>
          </a:prstGeom>
          <a:noFill/>
          <a:ln/>
        </p:spPr>
        <p:txBody>
          <a:bodyPr wrap="square" lIns="0" tIns="0" rIns="0" bIns="0" rtlCol="0" anchor="ctr"/>
          <a:lstStyle/>
          <a:p>
            <a:pPr marL="0" indent="0">
              <a:lnSpc>
                <a:spcPts val="1450"/>
              </a:lnSpc>
              <a:buNone/>
            </a:pPr>
            <a:r>
              <a:rPr lang="en-US" sz="1100" dirty="0">
                <a:solidFill>
                  <a:srgbClr val="6B7280"/>
                </a:solidFill>
                <a:latin typeface="Calibri" pitchFamily="34" charset="0"/>
                <a:ea typeface="Calibri" pitchFamily="34" charset="-122"/>
                <a:cs typeface="Calibri" pitchFamily="34" charset="-120"/>
              </a:rPr>
              <a:t>This one is a known illicit transaction, so the verdict can be checked. Most of the dataset has no label at all.</a:t>
            </a:r>
            <a:endParaRPr lang="en-US" sz="1100" dirty="0"/>
          </a:p>
        </p:txBody>
      </p:sp>
      <p:sp>
        <p:nvSpPr>
          <p:cNvPr id="18" name="Shape 15"/>
          <p:cNvSpPr/>
          <p:nvPr/>
        </p:nvSpPr>
        <p:spPr>
          <a:xfrm>
            <a:off x="8092440" y="4928616"/>
            <a:ext cx="256032" cy="256032"/>
          </a:xfrm>
          <a:prstGeom prst="ellipse">
            <a:avLst/>
          </a:prstGeom>
          <a:solidFill>
            <a:srgbClr val="2B44E8"/>
          </a:solidFill>
          <a:ln/>
        </p:spPr>
      </p:sp>
      <p:sp>
        <p:nvSpPr>
          <p:cNvPr id="19" name="Text 16"/>
          <p:cNvSpPr/>
          <p:nvPr/>
        </p:nvSpPr>
        <p:spPr>
          <a:xfrm>
            <a:off x="8092440" y="4928616"/>
            <a:ext cx="256032"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0" name="Text 17"/>
          <p:cNvSpPr/>
          <p:nvPr/>
        </p:nvSpPr>
        <p:spPr>
          <a:xfrm>
            <a:off x="8476488" y="4892040"/>
            <a:ext cx="3108960" cy="256032"/>
          </a:xfrm>
          <a:prstGeom prst="rect">
            <a:avLst/>
          </a:prstGeom>
          <a:noFill/>
          <a:ln/>
        </p:spPr>
        <p:txBody>
          <a:bodyPr wrap="square" lIns="0" tIns="0" rIns="0" bIns="0" rtlCol="0" anchor="ctr"/>
          <a:lstStyle/>
          <a:p>
            <a:pPr marL="0" indent="0">
              <a:buNone/>
            </a:pPr>
            <a:r>
              <a:rPr lang="en-US" sz="1300" b="1" dirty="0">
                <a:solidFill>
                  <a:srgbClr val="0B0C0E"/>
                </a:solidFill>
                <a:latin typeface="Calibri" pitchFamily="34" charset="0"/>
                <a:ea typeface="Calibri" pitchFamily="34" charset="-122"/>
                <a:cs typeface="Calibri" pitchFamily="34" charset="-120"/>
              </a:rPr>
              <a:t>The alert is automatic</a:t>
            </a:r>
            <a:endParaRPr lang="en-US" sz="1300" dirty="0"/>
          </a:p>
        </p:txBody>
      </p:sp>
      <p:sp>
        <p:nvSpPr>
          <p:cNvPr id="21" name="Text 18"/>
          <p:cNvSpPr/>
          <p:nvPr/>
        </p:nvSpPr>
        <p:spPr>
          <a:xfrm>
            <a:off x="8476488" y="5166360"/>
            <a:ext cx="3108960" cy="640080"/>
          </a:xfrm>
          <a:prstGeom prst="rect">
            <a:avLst/>
          </a:prstGeom>
          <a:noFill/>
          <a:ln/>
        </p:spPr>
        <p:txBody>
          <a:bodyPr wrap="square" lIns="0" tIns="0" rIns="0" bIns="0" rtlCol="0" anchor="ctr"/>
          <a:lstStyle/>
          <a:p>
            <a:pPr marL="0" indent="0">
              <a:lnSpc>
                <a:spcPts val="1450"/>
              </a:lnSpc>
              <a:buNone/>
            </a:pPr>
            <a:r>
              <a:rPr lang="en-US" sz="1100" dirty="0">
                <a:solidFill>
                  <a:srgbClr val="6B7280"/>
                </a:solidFill>
                <a:latin typeface="Calibri" pitchFamily="34" charset="0"/>
                <a:ea typeface="Calibri" pitchFamily="34" charset="-122"/>
                <a:cs typeface="Calibri" pitchFamily="34" charset="-120"/>
              </a:rPr>
              <a:t>Crossing the high-confidence threshold opens a case in the analyst's queue with no manual step.</a:t>
            </a:r>
            <a:endParaRPr lang="en-US" sz="1100" dirty="0"/>
          </a:p>
        </p:txBody>
      </p:sp>
      <p:pic>
        <p:nvPicPr>
          <p:cNvPr id="22" name="Image 1" descr="C:\Users\brigh\Downloads\crescent logo.jpg"/>
          <p:cNvPicPr>
            <a:picLocks noChangeAspect="1"/>
          </p:cNvPicPr>
          <p:nvPr/>
        </p:nvPicPr>
        <p:blipFill>
          <a:blip r:embed="rId4"/>
          <a:stretch>
            <a:fillRect/>
          </a:stretch>
        </p:blipFill>
        <p:spPr>
          <a:xfrm>
            <a:off x="11155680" y="292608"/>
            <a:ext cx="685800" cy="536753"/>
          </a:xfrm>
          <a:prstGeom prst="rect">
            <a:avLst/>
          </a:prstGeom>
        </p:spPr>
      </p:pic>
      <p:sp>
        <p:nvSpPr>
          <p:cNvPr id="23" name="Text 19"/>
          <p:cNvSpPr/>
          <p:nvPr/>
        </p:nvSpPr>
        <p:spPr>
          <a:xfrm>
            <a:off x="11155680" y="6327648"/>
            <a:ext cx="685800" cy="274320"/>
          </a:xfrm>
          <a:prstGeom prst="rect">
            <a:avLst/>
          </a:prstGeom>
          <a:noFill/>
          <a:ln/>
        </p:spPr>
        <p:txBody>
          <a:bodyPr wrap="square" rtlCol="0" anchor="ctr"/>
          <a:lstStyle/>
          <a:p>
            <a:pPr marL="0" indent="0" algn="r">
              <a:buNone/>
            </a:pPr>
            <a:r>
              <a:rPr lang="en-US" sz="1100" dirty="0">
                <a:solidFill>
                  <a:srgbClr val="6B7280"/>
                </a:solidFill>
                <a:latin typeface="Calibri" pitchFamily="34" charset="0"/>
                <a:ea typeface="Calibri" pitchFamily="34" charset="-122"/>
                <a:cs typeface="Calibri"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332720" cy="566928"/>
          </a:xfrm>
          <a:prstGeom prst="rect">
            <a:avLst/>
          </a:prstGeom>
          <a:noFill/>
          <a:ln/>
        </p:spPr>
        <p:txBody>
          <a:bodyPr wrap="square" lIns="0" tIns="0" rIns="0" bIns="0" rtlCol="0" anchor="ctr"/>
          <a:lstStyle/>
          <a:p>
            <a:pPr marL="0" indent="0">
              <a:buNone/>
            </a:pPr>
            <a:r>
              <a:rPr lang="en-US" sz="3000" b="1" dirty="0">
                <a:solidFill>
                  <a:srgbClr val="0B0C0E"/>
                </a:solidFill>
                <a:latin typeface="Calibri" pitchFamily="34" charset="0"/>
                <a:ea typeface="Calibri" pitchFamily="34" charset="-122"/>
                <a:cs typeface="Calibri" pitchFamily="34" charset="-120"/>
              </a:rPr>
              <a:t>Implementation</a:t>
            </a:r>
            <a:endParaRPr lang="en-US" sz="3000" dirty="0"/>
          </a:p>
        </p:txBody>
      </p:sp>
      <p:sp>
        <p:nvSpPr>
          <p:cNvPr id="3" name="Text 1"/>
          <p:cNvSpPr/>
          <p:nvPr/>
        </p:nvSpPr>
        <p:spPr>
          <a:xfrm>
            <a:off x="548640" y="969264"/>
            <a:ext cx="10058400" cy="292608"/>
          </a:xfrm>
          <a:prstGeom prst="rect">
            <a:avLst/>
          </a:prstGeom>
          <a:noFill/>
          <a:ln/>
        </p:spPr>
        <p:txBody>
          <a:bodyPr wrap="square" lIns="0" tIns="0" rIns="0" bIns="0" rtlCol="0" anchor="ctr"/>
          <a:lstStyle/>
          <a:p>
            <a:pPr marL="0" indent="0">
              <a:buNone/>
            </a:pPr>
            <a:r>
              <a:rPr lang="en-US" sz="1400" dirty="0">
                <a:solidFill>
                  <a:srgbClr val="6B7280"/>
                </a:solidFill>
                <a:latin typeface="Calibri" pitchFamily="34" charset="0"/>
                <a:ea typeface="Calibri" pitchFamily="34" charset="-122"/>
                <a:cs typeface="Calibri" pitchFamily="34" charset="-120"/>
              </a:rPr>
              <a:t>Why the score came out that way, and where the transaction sits</a:t>
            </a:r>
            <a:endParaRPr lang="en-US" sz="1400" dirty="0"/>
          </a:p>
        </p:txBody>
      </p:sp>
      <p:pic>
        <p:nvPicPr>
          <p:cNvPr id="4" name="Image 0" descr="C:\Users\brigh\OneDrive\Desktop\Projects\fraud-detection\report\screenshots\crop-explain.png"/>
          <p:cNvPicPr>
            <a:picLocks noChangeAspect="1"/>
          </p:cNvPicPr>
          <p:nvPr/>
        </p:nvPicPr>
        <p:blipFill>
          <a:blip r:embed="rId3"/>
          <a:stretch>
            <a:fillRect/>
          </a:stretch>
        </p:blipFill>
        <p:spPr>
          <a:xfrm>
            <a:off x="548640" y="1481328"/>
            <a:ext cx="6400800" cy="3273552"/>
          </a:xfrm>
          <a:prstGeom prst="rect">
            <a:avLst/>
          </a:prstGeom>
        </p:spPr>
      </p:pic>
      <p:sp>
        <p:nvSpPr>
          <p:cNvPr id="5" name="Text 2"/>
          <p:cNvSpPr/>
          <p:nvPr/>
        </p:nvSpPr>
        <p:spPr>
          <a:xfrm>
            <a:off x="548640" y="4828032"/>
            <a:ext cx="6400800" cy="274320"/>
          </a:xfrm>
          <a:prstGeom prst="rect">
            <a:avLst/>
          </a:prstGeom>
          <a:noFill/>
          <a:ln/>
        </p:spPr>
        <p:txBody>
          <a:bodyPr wrap="square" lIns="0" tIns="0" rIns="0" bIns="0"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Explainability — every score broken down into the features that produced it</a:t>
            </a:r>
            <a:endParaRPr lang="en-US" sz="1100" dirty="0"/>
          </a:p>
        </p:txBody>
      </p:sp>
      <p:pic>
        <p:nvPicPr>
          <p:cNvPr id="6" name="Image 1" descr="C:\Users\brigh\OneDrive\Desktop\Projects\fraud-detection\report\screenshots\crop-network.png"/>
          <p:cNvPicPr>
            <a:picLocks noChangeAspect="1"/>
          </p:cNvPicPr>
          <p:nvPr/>
        </p:nvPicPr>
        <p:blipFill>
          <a:blip r:embed="rId4"/>
          <a:stretch>
            <a:fillRect/>
          </a:stretch>
        </p:blipFill>
        <p:spPr>
          <a:xfrm>
            <a:off x="7178040" y="1481328"/>
            <a:ext cx="3886200" cy="3803904"/>
          </a:xfrm>
          <a:prstGeom prst="rect">
            <a:avLst/>
          </a:prstGeom>
        </p:spPr>
      </p:pic>
      <p:sp>
        <p:nvSpPr>
          <p:cNvPr id="7" name="Text 3"/>
          <p:cNvSpPr/>
          <p:nvPr/>
        </p:nvSpPr>
        <p:spPr>
          <a:xfrm>
            <a:off x="7178040" y="5358384"/>
            <a:ext cx="3886200" cy="274320"/>
          </a:xfrm>
          <a:prstGeom prst="rect">
            <a:avLst/>
          </a:prstGeom>
          <a:noFill/>
          <a:ln/>
        </p:spPr>
        <p:txBody>
          <a:bodyPr wrap="square" lIns="0" tIns="0" rIns="0" bIns="0"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The two-hop payment network around the transaction</a:t>
            </a:r>
            <a:endParaRPr lang="en-US" sz="1100" dirty="0"/>
          </a:p>
        </p:txBody>
      </p:sp>
      <p:sp>
        <p:nvSpPr>
          <p:cNvPr id="8" name="Shape 4"/>
          <p:cNvSpPr/>
          <p:nvPr/>
        </p:nvSpPr>
        <p:spPr>
          <a:xfrm>
            <a:off x="548640" y="5257800"/>
            <a:ext cx="6400800" cy="1051560"/>
          </a:xfrm>
          <a:prstGeom prst="roundRect">
            <a:avLst>
              <a:gd name="adj" fmla="val 6957"/>
            </a:avLst>
          </a:prstGeom>
          <a:solidFill>
            <a:srgbClr val="EEF1FE"/>
          </a:solidFill>
          <a:ln w="12700">
            <a:solidFill>
              <a:srgbClr val="E6E4E0"/>
            </a:solidFill>
            <a:prstDash val="solid"/>
          </a:ln>
          <a:effectLst>
            <a:outerShdw blurRad="101600" dist="12700" dir="5400000" algn="bl" rotWithShape="0">
              <a:srgbClr val="9AA0AA">
                <a:alpha val="18000"/>
              </a:srgbClr>
            </a:outerShdw>
          </a:effectLst>
        </p:spPr>
      </p:sp>
      <p:sp>
        <p:nvSpPr>
          <p:cNvPr id="9" name="Text 5"/>
          <p:cNvSpPr/>
          <p:nvPr/>
        </p:nvSpPr>
        <p:spPr>
          <a:xfrm>
            <a:off x="777240" y="5413248"/>
            <a:ext cx="5943600" cy="777240"/>
          </a:xfrm>
          <a:prstGeom prst="rect">
            <a:avLst/>
          </a:prstGeom>
          <a:noFill/>
          <a:ln/>
        </p:spPr>
        <p:txBody>
          <a:bodyPr wrap="square" lIns="0" tIns="0" rIns="0" bIns="0" rtlCol="0" anchor="ctr"/>
          <a:lstStyle/>
          <a:p>
            <a:pPr marL="0" indent="0">
              <a:lnSpc>
                <a:spcPts val="1500"/>
              </a:lnSpc>
              <a:buNone/>
            </a:pPr>
            <a:r>
              <a:rPr lang="en-US" sz="1150" b="1" dirty="0">
                <a:solidFill>
                  <a:srgbClr val="2B44E8"/>
                </a:solidFill>
                <a:latin typeface="Calibri" pitchFamily="34" charset="0"/>
                <a:ea typeface="Calibri" pitchFamily="34" charset="-122"/>
                <a:cs typeface="Calibri" pitchFamily="34" charset="-120"/>
              </a:rPr>
              <a:t>Red pushes toward illicit, blue toward legitimate. </a:t>
            </a:r>
            <a:r>
              <a:rPr lang="en-US" sz="1150" dirty="0">
                <a:solidFill>
                  <a:srgbClr val="0B0C0E"/>
                </a:solidFill>
                <a:latin typeface="Calibri" pitchFamily="34" charset="0"/>
                <a:ea typeface="Calibri" pitchFamily="34" charset="-122"/>
                <a:cs typeface="Calibri" pitchFamily="34" charset="-120"/>
              </a:rPr>
              <a:t>Because Elliptic anonymises its feature names, contributions are grouped: how much came from the transaction itself versus its network neighbourhood. The parts sum exactly to the model's output.</a:t>
            </a:r>
            <a:endParaRPr lang="en-US" sz="1150" dirty="0"/>
          </a:p>
        </p:txBody>
      </p:sp>
      <p:pic>
        <p:nvPicPr>
          <p:cNvPr id="10" name="Image 2" descr="C:\Users\brigh\Downloads\crescent logo.jpg"/>
          <p:cNvPicPr>
            <a:picLocks noChangeAspect="1"/>
          </p:cNvPicPr>
          <p:nvPr/>
        </p:nvPicPr>
        <p:blipFill>
          <a:blip r:embed="rId5"/>
          <a:stretch>
            <a:fillRect/>
          </a:stretch>
        </p:blipFill>
        <p:spPr>
          <a:xfrm>
            <a:off x="11155680" y="292608"/>
            <a:ext cx="685800" cy="536753"/>
          </a:xfrm>
          <a:prstGeom prst="rect">
            <a:avLst/>
          </a:prstGeom>
        </p:spPr>
      </p:pic>
      <p:sp>
        <p:nvSpPr>
          <p:cNvPr id="11" name="Text 6"/>
          <p:cNvSpPr/>
          <p:nvPr/>
        </p:nvSpPr>
        <p:spPr>
          <a:xfrm>
            <a:off x="11155680" y="6327648"/>
            <a:ext cx="685800" cy="274320"/>
          </a:xfrm>
          <a:prstGeom prst="rect">
            <a:avLst/>
          </a:prstGeom>
          <a:noFill/>
          <a:ln/>
        </p:spPr>
        <p:txBody>
          <a:bodyPr wrap="square" rtlCol="0" anchor="ctr"/>
          <a:lstStyle/>
          <a:p>
            <a:pPr marL="0" indent="0" algn="r">
              <a:buNone/>
            </a:pPr>
            <a:r>
              <a:rPr lang="en-US" sz="1100" dirty="0">
                <a:solidFill>
                  <a:srgbClr val="6B7280"/>
                </a:solidFill>
                <a:latin typeface="Calibri" pitchFamily="34" charset="0"/>
                <a:ea typeface="Calibri" pitchFamily="34" charset="-122"/>
                <a:cs typeface="Calibri"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332720" cy="566928"/>
          </a:xfrm>
          <a:prstGeom prst="rect">
            <a:avLst/>
          </a:prstGeom>
          <a:noFill/>
          <a:ln/>
        </p:spPr>
        <p:txBody>
          <a:bodyPr wrap="square" lIns="0" tIns="0" rIns="0" bIns="0" rtlCol="0" anchor="ctr"/>
          <a:lstStyle/>
          <a:p>
            <a:pPr marL="0" indent="0">
              <a:buNone/>
            </a:pPr>
            <a:r>
              <a:rPr lang="en-US" sz="3000" b="1" dirty="0">
                <a:solidFill>
                  <a:srgbClr val="0B0C0E"/>
                </a:solidFill>
                <a:latin typeface="Calibri" pitchFamily="34" charset="0"/>
                <a:ea typeface="Calibri" pitchFamily="34" charset="-122"/>
                <a:cs typeface="Calibri" pitchFamily="34" charset="-120"/>
              </a:rPr>
              <a:t>Implementation</a:t>
            </a:r>
            <a:endParaRPr lang="en-US" sz="3000" dirty="0"/>
          </a:p>
        </p:txBody>
      </p:sp>
      <p:sp>
        <p:nvSpPr>
          <p:cNvPr id="3" name="Text 1"/>
          <p:cNvSpPr/>
          <p:nvPr/>
        </p:nvSpPr>
        <p:spPr>
          <a:xfrm>
            <a:off x="548640" y="969264"/>
            <a:ext cx="10058400" cy="292608"/>
          </a:xfrm>
          <a:prstGeom prst="rect">
            <a:avLst/>
          </a:prstGeom>
          <a:noFill/>
          <a:ln/>
        </p:spPr>
        <p:txBody>
          <a:bodyPr wrap="square" lIns="0" tIns="0" rIns="0" bIns="0" rtlCol="0" anchor="ctr"/>
          <a:lstStyle/>
          <a:p>
            <a:pPr marL="0" indent="0">
              <a:buNone/>
            </a:pPr>
            <a:r>
              <a:rPr lang="en-US" sz="1400" dirty="0">
                <a:solidFill>
                  <a:srgbClr val="6B7280"/>
                </a:solidFill>
                <a:latin typeface="Calibri" pitchFamily="34" charset="0"/>
                <a:ea typeface="Calibri" pitchFamily="34" charset="-122"/>
                <a:cs typeface="Calibri" pitchFamily="34" charset="-120"/>
              </a:rPr>
              <a:t>Continuous monitoring, not just on-demand checks</a:t>
            </a:r>
            <a:endParaRPr lang="en-US" sz="1400" dirty="0"/>
          </a:p>
        </p:txBody>
      </p:sp>
      <p:pic>
        <p:nvPicPr>
          <p:cNvPr id="4" name="Image 0" descr="C:\Users\brigh\OneDrive\Desktop\Projects\fraud-detection\report\screenshots\05-live-monitor.png"/>
          <p:cNvPicPr>
            <a:picLocks noChangeAspect="1"/>
          </p:cNvPicPr>
          <p:nvPr/>
        </p:nvPicPr>
        <p:blipFill>
          <a:blip r:embed="rId3"/>
          <a:stretch>
            <a:fillRect/>
          </a:stretch>
        </p:blipFill>
        <p:spPr>
          <a:xfrm>
            <a:off x="548640" y="1463040"/>
            <a:ext cx="7223760" cy="4517136"/>
          </a:xfrm>
          <a:prstGeom prst="rect">
            <a:avLst/>
          </a:prstGeom>
        </p:spPr>
      </p:pic>
      <p:sp>
        <p:nvSpPr>
          <p:cNvPr id="5" name="Text 2"/>
          <p:cNvSpPr/>
          <p:nvPr/>
        </p:nvSpPr>
        <p:spPr>
          <a:xfrm>
            <a:off x="548640" y="6053328"/>
            <a:ext cx="7223760" cy="274320"/>
          </a:xfrm>
          <a:prstGeom prst="rect">
            <a:avLst/>
          </a:prstGeom>
          <a:noFill/>
          <a:ln/>
        </p:spPr>
        <p:txBody>
          <a:bodyPr wrap="square" lIns="0" tIns="0" rIns="0" bIns="0"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Live Monitor — the test period replayed as an arriving stream</a:t>
            </a:r>
            <a:endParaRPr lang="en-US" sz="1100" dirty="0"/>
          </a:p>
        </p:txBody>
      </p:sp>
      <p:sp>
        <p:nvSpPr>
          <p:cNvPr id="6" name="Shape 3"/>
          <p:cNvSpPr/>
          <p:nvPr/>
        </p:nvSpPr>
        <p:spPr>
          <a:xfrm>
            <a:off x="8092440" y="1591056"/>
            <a:ext cx="256032" cy="256032"/>
          </a:xfrm>
          <a:prstGeom prst="ellipse">
            <a:avLst/>
          </a:prstGeom>
          <a:solidFill>
            <a:srgbClr val="2B44E8"/>
          </a:solidFill>
          <a:ln/>
        </p:spPr>
      </p:sp>
      <p:sp>
        <p:nvSpPr>
          <p:cNvPr id="7" name="Text 4"/>
          <p:cNvSpPr/>
          <p:nvPr/>
        </p:nvSpPr>
        <p:spPr>
          <a:xfrm>
            <a:off x="8092440" y="1591056"/>
            <a:ext cx="256032"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Text 5"/>
          <p:cNvSpPr/>
          <p:nvPr/>
        </p:nvSpPr>
        <p:spPr>
          <a:xfrm>
            <a:off x="8476488" y="1554480"/>
            <a:ext cx="3108960" cy="256032"/>
          </a:xfrm>
          <a:prstGeom prst="rect">
            <a:avLst/>
          </a:prstGeom>
          <a:noFill/>
          <a:ln/>
        </p:spPr>
        <p:txBody>
          <a:bodyPr wrap="square" lIns="0" tIns="0" rIns="0" bIns="0" rtlCol="0" anchor="ctr"/>
          <a:lstStyle/>
          <a:p>
            <a:pPr marL="0" indent="0">
              <a:buNone/>
            </a:pPr>
            <a:r>
              <a:rPr lang="en-US" sz="1300" b="1" dirty="0">
                <a:solidFill>
                  <a:srgbClr val="0B0C0E"/>
                </a:solidFill>
                <a:latin typeface="Calibri" pitchFamily="34" charset="0"/>
                <a:ea typeface="Calibri" pitchFamily="34" charset="-122"/>
                <a:cs typeface="Calibri" pitchFamily="34" charset="-120"/>
              </a:rPr>
              <a:t>Every transaction is screened</a:t>
            </a:r>
            <a:endParaRPr lang="en-US" sz="1300" dirty="0"/>
          </a:p>
        </p:txBody>
      </p:sp>
      <p:sp>
        <p:nvSpPr>
          <p:cNvPr id="9" name="Text 6"/>
          <p:cNvSpPr/>
          <p:nvPr/>
        </p:nvSpPr>
        <p:spPr>
          <a:xfrm>
            <a:off x="8476488" y="1828800"/>
            <a:ext cx="3108960" cy="640080"/>
          </a:xfrm>
          <a:prstGeom prst="rect">
            <a:avLst/>
          </a:prstGeom>
          <a:noFill/>
          <a:ln/>
        </p:spPr>
        <p:txBody>
          <a:bodyPr wrap="square" lIns="0" tIns="0" rIns="0" bIns="0" rtlCol="0" anchor="ctr"/>
          <a:lstStyle/>
          <a:p>
            <a:pPr marL="0" indent="0">
              <a:lnSpc>
                <a:spcPts val="1450"/>
              </a:lnSpc>
              <a:buNone/>
            </a:pPr>
            <a:r>
              <a:rPr lang="en-US" sz="1100" dirty="0">
                <a:solidFill>
                  <a:srgbClr val="6B7280"/>
                </a:solidFill>
                <a:latin typeface="Calibri" pitchFamily="34" charset="0"/>
                <a:ea typeface="Calibri" pitchFamily="34" charset="-122"/>
                <a:cs typeface="Calibri" pitchFamily="34" charset="-120"/>
              </a:rPr>
              <a:t>Each time step arrives as a batch and is scored automatically. No analyst has to press anything.</a:t>
            </a:r>
            <a:endParaRPr lang="en-US" sz="1100" dirty="0"/>
          </a:p>
        </p:txBody>
      </p:sp>
      <p:sp>
        <p:nvSpPr>
          <p:cNvPr id="10" name="Shape 7"/>
          <p:cNvSpPr/>
          <p:nvPr/>
        </p:nvSpPr>
        <p:spPr>
          <a:xfrm>
            <a:off x="8092440" y="2734056"/>
            <a:ext cx="256032" cy="256032"/>
          </a:xfrm>
          <a:prstGeom prst="ellipse">
            <a:avLst/>
          </a:prstGeom>
          <a:solidFill>
            <a:srgbClr val="2B44E8"/>
          </a:solidFill>
          <a:ln/>
        </p:spPr>
      </p:sp>
      <p:sp>
        <p:nvSpPr>
          <p:cNvPr id="11" name="Text 8"/>
          <p:cNvSpPr/>
          <p:nvPr/>
        </p:nvSpPr>
        <p:spPr>
          <a:xfrm>
            <a:off x="8092440" y="2734056"/>
            <a:ext cx="256032"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Text 9"/>
          <p:cNvSpPr/>
          <p:nvPr/>
        </p:nvSpPr>
        <p:spPr>
          <a:xfrm>
            <a:off x="8476488" y="2697480"/>
            <a:ext cx="3108960" cy="256032"/>
          </a:xfrm>
          <a:prstGeom prst="rect">
            <a:avLst/>
          </a:prstGeom>
          <a:noFill/>
          <a:ln/>
        </p:spPr>
        <p:txBody>
          <a:bodyPr wrap="square" lIns="0" tIns="0" rIns="0" bIns="0" rtlCol="0" anchor="ctr"/>
          <a:lstStyle/>
          <a:p>
            <a:pPr marL="0" indent="0">
              <a:buNone/>
            </a:pPr>
            <a:r>
              <a:rPr lang="en-US" sz="1300" b="1" dirty="0">
                <a:solidFill>
                  <a:srgbClr val="0B0C0E"/>
                </a:solidFill>
                <a:latin typeface="Calibri" pitchFamily="34" charset="0"/>
                <a:ea typeface="Calibri" pitchFamily="34" charset="-122"/>
                <a:cs typeface="Calibri" pitchFamily="34" charset="-120"/>
              </a:rPr>
              <a:t>Only high-confidence crossings alert</a:t>
            </a:r>
            <a:endParaRPr lang="en-US" sz="1300" dirty="0"/>
          </a:p>
        </p:txBody>
      </p:sp>
      <p:sp>
        <p:nvSpPr>
          <p:cNvPr id="13" name="Text 10"/>
          <p:cNvSpPr/>
          <p:nvPr/>
        </p:nvSpPr>
        <p:spPr>
          <a:xfrm>
            <a:off x="8476488" y="2971800"/>
            <a:ext cx="3108960" cy="640080"/>
          </a:xfrm>
          <a:prstGeom prst="rect">
            <a:avLst/>
          </a:prstGeom>
          <a:noFill/>
          <a:ln/>
        </p:spPr>
        <p:txBody>
          <a:bodyPr wrap="square" lIns="0" tIns="0" rIns="0" bIns="0" rtlCol="0" anchor="ctr"/>
          <a:lstStyle/>
          <a:p>
            <a:pPr marL="0" indent="0">
              <a:lnSpc>
                <a:spcPts val="1450"/>
              </a:lnSpc>
              <a:buNone/>
            </a:pPr>
            <a:r>
              <a:rPr lang="en-US" sz="1100" dirty="0">
                <a:solidFill>
                  <a:srgbClr val="6B7280"/>
                </a:solidFill>
                <a:latin typeface="Calibri" pitchFamily="34" charset="0"/>
                <a:ea typeface="Calibri" pitchFamily="34" charset="-122"/>
                <a:cs typeface="Calibri" pitchFamily="34" charset="-120"/>
              </a:rPr>
              <a:t>Random Forest at 0.9, GraphSAGE at 0.99 — the GNN's bar is higher because its scores run overconfident.</a:t>
            </a:r>
            <a:endParaRPr lang="en-US" sz="1100" dirty="0"/>
          </a:p>
        </p:txBody>
      </p:sp>
      <p:sp>
        <p:nvSpPr>
          <p:cNvPr id="14" name="Shape 11"/>
          <p:cNvSpPr/>
          <p:nvPr/>
        </p:nvSpPr>
        <p:spPr>
          <a:xfrm>
            <a:off x="8092440" y="3968496"/>
            <a:ext cx="256032" cy="256032"/>
          </a:xfrm>
          <a:prstGeom prst="ellipse">
            <a:avLst/>
          </a:prstGeom>
          <a:solidFill>
            <a:srgbClr val="2B44E8"/>
          </a:solidFill>
          <a:ln/>
        </p:spPr>
      </p:sp>
      <p:sp>
        <p:nvSpPr>
          <p:cNvPr id="15" name="Text 12"/>
          <p:cNvSpPr/>
          <p:nvPr/>
        </p:nvSpPr>
        <p:spPr>
          <a:xfrm>
            <a:off x="8092440" y="3968496"/>
            <a:ext cx="256032"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6" name="Text 13"/>
          <p:cNvSpPr/>
          <p:nvPr/>
        </p:nvSpPr>
        <p:spPr>
          <a:xfrm>
            <a:off x="8476488" y="3931920"/>
            <a:ext cx="3108960" cy="256032"/>
          </a:xfrm>
          <a:prstGeom prst="rect">
            <a:avLst/>
          </a:prstGeom>
          <a:noFill/>
          <a:ln/>
        </p:spPr>
        <p:txBody>
          <a:bodyPr wrap="square" lIns="0" tIns="0" rIns="0" bIns="0" rtlCol="0" anchor="ctr"/>
          <a:lstStyle/>
          <a:p>
            <a:pPr marL="0" indent="0">
              <a:buNone/>
            </a:pPr>
            <a:r>
              <a:rPr lang="en-US" sz="1300" b="1" dirty="0">
                <a:solidFill>
                  <a:srgbClr val="0B0C0E"/>
                </a:solidFill>
                <a:latin typeface="Calibri" pitchFamily="34" charset="0"/>
                <a:ea typeface="Calibri" pitchFamily="34" charset="-122"/>
                <a:cs typeface="Calibri" pitchFamily="34" charset="-120"/>
              </a:rPr>
              <a:t>An alert budget</a:t>
            </a:r>
            <a:endParaRPr lang="en-US" sz="1300" dirty="0"/>
          </a:p>
        </p:txBody>
      </p:sp>
      <p:sp>
        <p:nvSpPr>
          <p:cNvPr id="17" name="Text 14"/>
          <p:cNvSpPr/>
          <p:nvPr/>
        </p:nvSpPr>
        <p:spPr>
          <a:xfrm>
            <a:off x="8476488" y="4206240"/>
            <a:ext cx="3108960" cy="640080"/>
          </a:xfrm>
          <a:prstGeom prst="rect">
            <a:avLst/>
          </a:prstGeom>
          <a:noFill/>
          <a:ln/>
        </p:spPr>
        <p:txBody>
          <a:bodyPr wrap="square" lIns="0" tIns="0" rIns="0" bIns="0" rtlCol="0" anchor="ctr"/>
          <a:lstStyle/>
          <a:p>
            <a:pPr marL="0" indent="0">
              <a:lnSpc>
                <a:spcPts val="1450"/>
              </a:lnSpc>
              <a:buNone/>
            </a:pPr>
            <a:r>
              <a:rPr lang="en-US" sz="1100" dirty="0">
                <a:solidFill>
                  <a:srgbClr val="6B7280"/>
                </a:solidFill>
                <a:latin typeface="Calibri" pitchFamily="34" charset="0"/>
                <a:ea typeface="Calibri" pitchFamily="34" charset="-122"/>
                <a:cs typeface="Calibri" pitchFamily="34" charset="-120"/>
              </a:rPr>
              <a:t>Only the top 25 by score become cases each step, modelling how many an analyst team can actually review.</a:t>
            </a:r>
            <a:endParaRPr lang="en-US" sz="1100" dirty="0"/>
          </a:p>
        </p:txBody>
      </p:sp>
      <p:sp>
        <p:nvSpPr>
          <p:cNvPr id="18" name="Shape 15"/>
          <p:cNvSpPr/>
          <p:nvPr/>
        </p:nvSpPr>
        <p:spPr>
          <a:xfrm>
            <a:off x="8092440" y="5111496"/>
            <a:ext cx="256032" cy="256032"/>
          </a:xfrm>
          <a:prstGeom prst="ellipse">
            <a:avLst/>
          </a:prstGeom>
          <a:solidFill>
            <a:srgbClr val="2B44E8"/>
          </a:solidFill>
          <a:ln/>
        </p:spPr>
      </p:sp>
      <p:sp>
        <p:nvSpPr>
          <p:cNvPr id="19" name="Text 16"/>
          <p:cNvSpPr/>
          <p:nvPr/>
        </p:nvSpPr>
        <p:spPr>
          <a:xfrm>
            <a:off x="8092440" y="5111496"/>
            <a:ext cx="256032"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0" name="Text 17"/>
          <p:cNvSpPr/>
          <p:nvPr/>
        </p:nvSpPr>
        <p:spPr>
          <a:xfrm>
            <a:off x="8476488" y="5074920"/>
            <a:ext cx="3108960" cy="256032"/>
          </a:xfrm>
          <a:prstGeom prst="rect">
            <a:avLst/>
          </a:prstGeom>
          <a:noFill/>
          <a:ln/>
        </p:spPr>
        <p:txBody>
          <a:bodyPr wrap="square" lIns="0" tIns="0" rIns="0" bIns="0" rtlCol="0" anchor="ctr"/>
          <a:lstStyle/>
          <a:p>
            <a:pPr marL="0" indent="0">
              <a:buNone/>
            </a:pPr>
            <a:r>
              <a:rPr lang="en-US" sz="1300" b="1" dirty="0">
                <a:solidFill>
                  <a:srgbClr val="0B0C0E"/>
                </a:solidFill>
                <a:latin typeface="Calibri" pitchFamily="34" charset="0"/>
                <a:ea typeface="Calibri" pitchFamily="34" charset="-122"/>
                <a:cs typeface="Calibri" pitchFamily="34" charset="-120"/>
              </a:rPr>
              <a:t>Data the models never saw</a:t>
            </a:r>
            <a:endParaRPr lang="en-US" sz="1300" dirty="0"/>
          </a:p>
        </p:txBody>
      </p:sp>
      <p:sp>
        <p:nvSpPr>
          <p:cNvPr id="21" name="Text 18"/>
          <p:cNvSpPr/>
          <p:nvPr/>
        </p:nvSpPr>
        <p:spPr>
          <a:xfrm>
            <a:off x="8476488" y="5349240"/>
            <a:ext cx="3108960" cy="640080"/>
          </a:xfrm>
          <a:prstGeom prst="rect">
            <a:avLst/>
          </a:prstGeom>
          <a:noFill/>
          <a:ln/>
        </p:spPr>
        <p:txBody>
          <a:bodyPr wrap="square" lIns="0" tIns="0" rIns="0" bIns="0" rtlCol="0" anchor="ctr"/>
          <a:lstStyle/>
          <a:p>
            <a:pPr marL="0" indent="0">
              <a:lnSpc>
                <a:spcPts val="1450"/>
              </a:lnSpc>
              <a:buNone/>
            </a:pPr>
            <a:r>
              <a:rPr lang="en-US" sz="1100" dirty="0">
                <a:solidFill>
                  <a:srgbClr val="6B7280"/>
                </a:solidFill>
                <a:latin typeface="Calibri" pitchFamily="34" charset="0"/>
                <a:ea typeface="Calibri" pitchFamily="34" charset="-122"/>
                <a:cs typeface="Calibri" pitchFamily="34" charset="-120"/>
              </a:rPr>
              <a:t>The replay covers time steps 35 to 49 — the held-out test period.</a:t>
            </a:r>
            <a:endParaRPr lang="en-US" sz="1100" dirty="0"/>
          </a:p>
        </p:txBody>
      </p:sp>
      <p:pic>
        <p:nvPicPr>
          <p:cNvPr id="22" name="Image 1" descr="C:\Users\brigh\Downloads\crescent logo.jpg"/>
          <p:cNvPicPr>
            <a:picLocks noChangeAspect="1"/>
          </p:cNvPicPr>
          <p:nvPr/>
        </p:nvPicPr>
        <p:blipFill>
          <a:blip r:embed="rId4"/>
          <a:stretch>
            <a:fillRect/>
          </a:stretch>
        </p:blipFill>
        <p:spPr>
          <a:xfrm>
            <a:off x="11155680" y="292608"/>
            <a:ext cx="685800" cy="536753"/>
          </a:xfrm>
          <a:prstGeom prst="rect">
            <a:avLst/>
          </a:prstGeom>
        </p:spPr>
      </p:pic>
      <p:sp>
        <p:nvSpPr>
          <p:cNvPr id="23" name="Text 19"/>
          <p:cNvSpPr/>
          <p:nvPr/>
        </p:nvSpPr>
        <p:spPr>
          <a:xfrm>
            <a:off x="11155680" y="6327648"/>
            <a:ext cx="685800" cy="274320"/>
          </a:xfrm>
          <a:prstGeom prst="rect">
            <a:avLst/>
          </a:prstGeom>
          <a:noFill/>
          <a:ln/>
        </p:spPr>
        <p:txBody>
          <a:bodyPr wrap="square" rtlCol="0" anchor="ctr"/>
          <a:lstStyle/>
          <a:p>
            <a:pPr marL="0" indent="0" algn="r">
              <a:buNone/>
            </a:pPr>
            <a:r>
              <a:rPr lang="en-US" sz="1100" dirty="0">
                <a:solidFill>
                  <a:srgbClr val="6B7280"/>
                </a:solidFill>
                <a:latin typeface="Calibri" pitchFamily="34" charset="0"/>
                <a:ea typeface="Calibri" pitchFamily="34" charset="-122"/>
                <a:cs typeface="Calibri"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220"/>
        </a:solidFill>
        <a:effectLst/>
      </p:bgPr>
    </p:bg>
    <p:spTree>
      <p:nvGrpSpPr>
        <p:cNvPr id="1" name=""/>
        <p:cNvGrpSpPr/>
        <p:nvPr/>
      </p:nvGrpSpPr>
      <p:grpSpPr>
        <a:xfrm>
          <a:off x="0" y="0"/>
          <a:ext cx="0" cy="0"/>
          <a:chOff x="0" y="0"/>
          <a:chExt cx="0" cy="0"/>
        </a:xfrm>
      </p:grpSpPr>
      <p:sp>
        <p:nvSpPr>
          <p:cNvPr id="2" name="Text 0"/>
          <p:cNvSpPr/>
          <p:nvPr/>
        </p:nvSpPr>
        <p:spPr>
          <a:xfrm>
            <a:off x="548640" y="502920"/>
            <a:ext cx="7315200" cy="64008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Conclusion</a:t>
            </a:r>
            <a:endParaRPr lang="en-US" sz="3200" dirty="0"/>
          </a:p>
        </p:txBody>
      </p:sp>
      <p:sp>
        <p:nvSpPr>
          <p:cNvPr id="3" name="Shape 1"/>
          <p:cNvSpPr/>
          <p:nvPr/>
        </p:nvSpPr>
        <p:spPr>
          <a:xfrm>
            <a:off x="548640" y="1508760"/>
            <a:ext cx="365760" cy="365760"/>
          </a:xfrm>
          <a:prstGeom prst="ellipse">
            <a:avLst/>
          </a:prstGeom>
          <a:solidFill>
            <a:srgbClr val="2B44E8"/>
          </a:solidFill>
          <a:ln/>
        </p:spPr>
      </p:sp>
      <p:sp>
        <p:nvSpPr>
          <p:cNvPr id="4" name="Text 2"/>
          <p:cNvSpPr/>
          <p:nvPr/>
        </p:nvSpPr>
        <p:spPr>
          <a:xfrm>
            <a:off x="548640" y="150876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5" name="Text 3"/>
          <p:cNvSpPr/>
          <p:nvPr/>
        </p:nvSpPr>
        <p:spPr>
          <a:xfrm>
            <a:off x="1143000" y="1417320"/>
            <a:ext cx="9601200" cy="32004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The system works, and the result is verifiable</a:t>
            </a:r>
            <a:endParaRPr lang="en-US" sz="1700" dirty="0"/>
          </a:p>
        </p:txBody>
      </p:sp>
      <p:sp>
        <p:nvSpPr>
          <p:cNvPr id="6" name="Text 4"/>
          <p:cNvSpPr/>
          <p:nvPr/>
        </p:nvSpPr>
        <p:spPr>
          <a:xfrm>
            <a:off x="1143000" y="1783080"/>
            <a:ext cx="9601200" cy="777240"/>
          </a:xfrm>
          <a:prstGeom prst="rect">
            <a:avLst/>
          </a:prstGeom>
          <a:noFill/>
          <a:ln/>
        </p:spPr>
        <p:txBody>
          <a:bodyPr wrap="square" lIns="0" tIns="0" rIns="0" bIns="0" rtlCol="0" anchor="ctr"/>
          <a:lstStyle/>
          <a:p>
            <a:pPr marL="0" indent="0">
              <a:lnSpc>
                <a:spcPts val="1800"/>
              </a:lnSpc>
              <a:buNone/>
            </a:pPr>
            <a:r>
              <a:rPr lang="en-US" sz="1300" dirty="0">
                <a:solidFill>
                  <a:srgbClr val="9AA6C4"/>
                </a:solidFill>
                <a:latin typeface="Calibri" pitchFamily="34" charset="0"/>
                <a:ea typeface="Calibri" pitchFamily="34" charset="-122"/>
                <a:cs typeface="Calibri" pitchFamily="34" charset="-120"/>
              </a:rPr>
              <a:t>An illicit-class F1 of 0.807 on transactions the models had never seen, reproducing the benchmark published for this dataset.</a:t>
            </a:r>
            <a:endParaRPr lang="en-US" sz="1300" dirty="0"/>
          </a:p>
        </p:txBody>
      </p:sp>
      <p:sp>
        <p:nvSpPr>
          <p:cNvPr id="7" name="Shape 5"/>
          <p:cNvSpPr/>
          <p:nvPr/>
        </p:nvSpPr>
        <p:spPr>
          <a:xfrm>
            <a:off x="548640" y="2880360"/>
            <a:ext cx="365760" cy="365760"/>
          </a:xfrm>
          <a:prstGeom prst="ellipse">
            <a:avLst/>
          </a:prstGeom>
          <a:solidFill>
            <a:srgbClr val="2B44E8"/>
          </a:solidFill>
          <a:ln/>
        </p:spPr>
      </p:sp>
      <p:sp>
        <p:nvSpPr>
          <p:cNvPr id="8" name="Text 6"/>
          <p:cNvSpPr/>
          <p:nvPr/>
        </p:nvSpPr>
        <p:spPr>
          <a:xfrm>
            <a:off x="548640" y="288036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9" name="Text 7"/>
          <p:cNvSpPr/>
          <p:nvPr/>
        </p:nvSpPr>
        <p:spPr>
          <a:xfrm>
            <a:off x="1143000" y="2788920"/>
            <a:ext cx="9601200" cy="32004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Feature engineering and graph learning are complements</a:t>
            </a:r>
            <a:endParaRPr lang="en-US" sz="1700" dirty="0"/>
          </a:p>
        </p:txBody>
      </p:sp>
      <p:sp>
        <p:nvSpPr>
          <p:cNvPr id="10" name="Text 8"/>
          <p:cNvSpPr/>
          <p:nvPr/>
        </p:nvSpPr>
        <p:spPr>
          <a:xfrm>
            <a:off x="1143000" y="3154680"/>
            <a:ext cx="9601200" cy="777240"/>
          </a:xfrm>
          <a:prstGeom prst="rect">
            <a:avLst/>
          </a:prstGeom>
          <a:noFill/>
          <a:ln/>
        </p:spPr>
        <p:txBody>
          <a:bodyPr wrap="square" lIns="0" tIns="0" rIns="0" bIns="0" rtlCol="0" anchor="ctr"/>
          <a:lstStyle/>
          <a:p>
            <a:pPr marL="0" indent="0">
              <a:lnSpc>
                <a:spcPts val="1800"/>
              </a:lnSpc>
              <a:buNone/>
            </a:pPr>
            <a:r>
              <a:rPr lang="en-US" sz="1300" dirty="0">
                <a:solidFill>
                  <a:srgbClr val="9AA6C4"/>
                </a:solidFill>
                <a:latin typeface="Calibri" pitchFamily="34" charset="0"/>
                <a:ea typeface="Calibri" pitchFamily="34" charset="-122"/>
                <a:cs typeface="Calibri" pitchFamily="34" charset="-120"/>
              </a:rPr>
              <a:t>The Random Forest wins here because Elliptic's features already summarise each transaction's neighbours — and because the graph itself is sparse, at a mean of 2.3 connections per transaction.</a:t>
            </a:r>
            <a:endParaRPr lang="en-US" sz="1300" dirty="0"/>
          </a:p>
        </p:txBody>
      </p:sp>
      <p:sp>
        <p:nvSpPr>
          <p:cNvPr id="11" name="Shape 9"/>
          <p:cNvSpPr/>
          <p:nvPr/>
        </p:nvSpPr>
        <p:spPr>
          <a:xfrm>
            <a:off x="548640" y="4251960"/>
            <a:ext cx="365760" cy="365760"/>
          </a:xfrm>
          <a:prstGeom prst="ellipse">
            <a:avLst/>
          </a:prstGeom>
          <a:solidFill>
            <a:srgbClr val="2B44E8"/>
          </a:solidFill>
          <a:ln/>
        </p:spPr>
      </p:sp>
      <p:sp>
        <p:nvSpPr>
          <p:cNvPr id="12" name="Text 10"/>
          <p:cNvSpPr/>
          <p:nvPr/>
        </p:nvSpPr>
        <p:spPr>
          <a:xfrm>
            <a:off x="548640" y="425196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3" name="Text 11"/>
          <p:cNvSpPr/>
          <p:nvPr/>
        </p:nvSpPr>
        <p:spPr>
          <a:xfrm>
            <a:off x="1143000" y="4160520"/>
            <a:ext cx="9601200" cy="32004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Detection only matters when it reaches an analyst</a:t>
            </a:r>
            <a:endParaRPr lang="en-US" sz="1700" dirty="0"/>
          </a:p>
        </p:txBody>
      </p:sp>
      <p:sp>
        <p:nvSpPr>
          <p:cNvPr id="14" name="Text 12"/>
          <p:cNvSpPr/>
          <p:nvPr/>
        </p:nvSpPr>
        <p:spPr>
          <a:xfrm>
            <a:off x="1143000" y="4526280"/>
            <a:ext cx="9601200" cy="777240"/>
          </a:xfrm>
          <a:prstGeom prst="rect">
            <a:avLst/>
          </a:prstGeom>
          <a:noFill/>
          <a:ln/>
        </p:spPr>
        <p:txBody>
          <a:bodyPr wrap="square" lIns="0" tIns="0" rIns="0" bIns="0" rtlCol="0" anchor="ctr"/>
          <a:lstStyle/>
          <a:p>
            <a:pPr marL="0" indent="0">
              <a:lnSpc>
                <a:spcPts val="1800"/>
              </a:lnSpc>
              <a:buNone/>
            </a:pPr>
            <a:r>
              <a:rPr lang="en-US" sz="1300" dirty="0">
                <a:solidFill>
                  <a:srgbClr val="9AA6C4"/>
                </a:solidFill>
                <a:latin typeface="Calibri" pitchFamily="34" charset="0"/>
                <a:ea typeface="Calibri" pitchFamily="34" charset="-122"/>
                <a:cs typeface="Calibri" pitchFamily="34" charset="-120"/>
              </a:rPr>
              <a:t>Every prediction is explained, every high-confidence detection becomes a tracked case, and the transaction stream is screened continuously under a realistic capacity budget.</a:t>
            </a:r>
            <a:endParaRPr lang="en-US" sz="1300" dirty="0"/>
          </a:p>
        </p:txBody>
      </p:sp>
      <p:sp>
        <p:nvSpPr>
          <p:cNvPr id="15" name="Shape 13"/>
          <p:cNvSpPr/>
          <p:nvPr/>
        </p:nvSpPr>
        <p:spPr>
          <a:xfrm>
            <a:off x="548640" y="5669280"/>
            <a:ext cx="2377440" cy="59436"/>
          </a:xfrm>
          <a:prstGeom prst="rect">
            <a:avLst/>
          </a:prstGeom>
          <a:solidFill>
            <a:srgbClr val="2B44E8"/>
          </a:solidFill>
          <a:ln/>
        </p:spPr>
      </p:sp>
      <p:sp>
        <p:nvSpPr>
          <p:cNvPr id="16" name="Shape 14"/>
          <p:cNvSpPr/>
          <p:nvPr/>
        </p:nvSpPr>
        <p:spPr>
          <a:xfrm>
            <a:off x="2926080" y="5669280"/>
            <a:ext cx="1371600" cy="59436"/>
          </a:xfrm>
          <a:prstGeom prst="rect">
            <a:avLst/>
          </a:prstGeom>
          <a:solidFill>
            <a:srgbClr val="E0870B"/>
          </a:solidFill>
          <a:ln/>
        </p:spPr>
      </p:sp>
      <p:sp>
        <p:nvSpPr>
          <p:cNvPr id="17" name="Shape 15"/>
          <p:cNvSpPr/>
          <p:nvPr/>
        </p:nvSpPr>
        <p:spPr>
          <a:xfrm>
            <a:off x="4297680" y="5669280"/>
            <a:ext cx="914400" cy="59436"/>
          </a:xfrm>
          <a:prstGeom prst="rect">
            <a:avLst/>
          </a:prstGeom>
          <a:solidFill>
            <a:srgbClr val="E5484D"/>
          </a:solidFill>
          <a:ln/>
        </p:spPr>
      </p:sp>
      <p:sp>
        <p:nvSpPr>
          <p:cNvPr id="18" name="Text 16"/>
          <p:cNvSpPr/>
          <p:nvPr/>
        </p:nvSpPr>
        <p:spPr>
          <a:xfrm>
            <a:off x="548640" y="5943600"/>
            <a:ext cx="5486400" cy="4572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Thank you.</a:t>
            </a:r>
            <a:endParaRPr lang="en-US" sz="2000" dirty="0"/>
          </a:p>
        </p:txBody>
      </p:sp>
      <p:sp>
        <p:nvSpPr>
          <p:cNvPr id="19" name="Shape 17"/>
          <p:cNvSpPr/>
          <p:nvPr/>
        </p:nvSpPr>
        <p:spPr>
          <a:xfrm>
            <a:off x="11045952" y="201168"/>
            <a:ext cx="905256" cy="722376"/>
          </a:xfrm>
          <a:prstGeom prst="roundRect">
            <a:avLst>
              <a:gd name="adj" fmla="val 7595"/>
            </a:avLst>
          </a:prstGeom>
          <a:solidFill>
            <a:srgbClr val="FFFFFF"/>
          </a:solidFill>
          <a:ln/>
        </p:spPr>
      </p:sp>
      <p:pic>
        <p:nvPicPr>
          <p:cNvPr id="20" name="Image 0" descr="C:\Users\brigh\Downloads\crescent logo.jpg"/>
          <p:cNvPicPr>
            <a:picLocks noChangeAspect="1"/>
          </p:cNvPicPr>
          <p:nvPr/>
        </p:nvPicPr>
        <p:blipFill>
          <a:blip r:embed="rId3"/>
          <a:stretch>
            <a:fillRect/>
          </a:stretch>
        </p:blipFill>
        <p:spPr>
          <a:xfrm>
            <a:off x="11155680" y="292608"/>
            <a:ext cx="685800" cy="536753"/>
          </a:xfrm>
          <a:prstGeom prst="rect">
            <a:avLst/>
          </a:prstGeom>
        </p:spPr>
      </p:pic>
      <p:sp>
        <p:nvSpPr>
          <p:cNvPr id="21" name="Text 18"/>
          <p:cNvSpPr/>
          <p:nvPr/>
        </p:nvSpPr>
        <p:spPr>
          <a:xfrm>
            <a:off x="11155680" y="6327648"/>
            <a:ext cx="685800" cy="274320"/>
          </a:xfrm>
          <a:prstGeom prst="rect">
            <a:avLst/>
          </a:prstGeom>
          <a:noFill/>
          <a:ln/>
        </p:spPr>
        <p:txBody>
          <a:bodyPr wrap="square" rtlCol="0" anchor="ctr"/>
          <a:lstStyle/>
          <a:p>
            <a:pPr marL="0" indent="0" algn="r">
              <a:buNone/>
            </a:pPr>
            <a:r>
              <a:rPr lang="en-US" sz="1100" dirty="0">
                <a:solidFill>
                  <a:srgbClr val="8A93A6"/>
                </a:solidFill>
                <a:latin typeface="Calibri" pitchFamily="34" charset="0"/>
                <a:ea typeface="Calibri" pitchFamily="34" charset="-122"/>
                <a:cs typeface="Calibri" pitchFamily="34" charset="-120"/>
              </a:rPr>
              <a:t>15</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428</TotalTime>
  <Words>4641</Words>
  <Application>Microsoft Office PowerPoint</Application>
  <PresentationFormat>Widescreen</PresentationFormat>
  <Paragraphs>272</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Machine Learning-Based Financial Fraud Detection System</dc:title>
  <dc:subject>PptxGenJS Presentation</dc:subject>
  <dc:creator>Adewole Habeeb Adebola</dc:creator>
  <cp:lastModifiedBy>Habeeb Adewole</cp:lastModifiedBy>
  <cp:revision>2</cp:revision>
  <dcterms:created xsi:type="dcterms:W3CDTF">2026-08-02T01:01:56Z</dcterms:created>
  <dcterms:modified xsi:type="dcterms:W3CDTF">2026-08-03T21:36:32Z</dcterms:modified>
</cp:coreProperties>
</file>
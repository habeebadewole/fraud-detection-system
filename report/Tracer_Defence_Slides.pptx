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0C0E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0C0E"/>
                </a:solidFill>
                <a:latin typeface="Calibri"/>
              </a:rPr>
              <a:t>Illicit-class F1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Illicit-class F1</c:v>
                </c:pt>
              </c:strCache>
            </c:strRef>
          </c:tx>
          <c:spPr>
            <a:solidFill>
              <a:srgbClr val="2B44E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0C0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44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87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RF + GNN embeddings</c:v>
                  </c:pt>
                  <c:pt idx="2">
                    <c:v>GraphSAGE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0.807</c:v>
                </c:pt>
                <c:pt idx="1">
                  <c:v>0.707</c:v>
                </c:pt>
                <c:pt idx="2">
                  <c:v>0.697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B0C0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6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FINANCIAL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illicit Bitcoin transactions with Random Forest and a Graph Neural Network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2377440" cy="68580"/>
          </a:xfrm>
          <a:prstGeom prst="rect">
            <a:avLst/>
          </a:prstGeom>
          <a:solidFill>
            <a:srgbClr val="2B44E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3520440"/>
            <a:ext cx="1371600" cy="68580"/>
          </a:xfrm>
          <a:prstGeom prst="rect">
            <a:avLst/>
          </a:prstGeom>
          <a:solidFill>
            <a:srgbClr val="E087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3520440"/>
            <a:ext cx="914400" cy="6858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ADEWOLE HABEEB ADEBOLA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S122202011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Miss Saka B.A.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Information and Communication Technology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 University, Abeokuta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045952" y="201168"/>
            <a:ext cx="90525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</p:spPr>
      </p:sp>
      <p:pic>
        <p:nvPicPr>
          <p:cNvPr id="10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problem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GDP is laundered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(UNODC, 2011)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$154bn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07992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 illicit crypto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in 2025 (Chainalysis)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11312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illicit —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them is the hard part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laundering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how criminal proceeds are disguised so they can be spent in the legitimate economy. Cryptocurrency has made this easier: value moves globally, quickly and pseudonymously, without a bank in the middle.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blockchain is also an opportunity.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banking data, which is locked inside private institutions, every Bitcoin transaction and every connection between transactions is permanently public — the complete transaction graph is available for analysis.</a:t>
            </a:r>
            <a:endParaRPr lang="en-US" sz="1500" dirty="0"/>
          </a:p>
        </p:txBody>
      </p:sp>
      <p:pic>
        <p:nvPicPr>
          <p:cNvPr id="15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rules, to machine learning, to the network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screening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conditions flag transactions above a threshold. Transparent, but brittle: it only catches what someone already thought of, floods analysts with false alarms, and criminals learn to structure activity just below the limits.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E087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09981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46557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learns the signature of illicit activity from labelled history instead of fixed rules. Stronger, but the standard formulation judges each transaction alone.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45152"/>
            <a:ext cx="457200" cy="45720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58114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learning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94690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is a network crime — funds are layered through chains of transfers so no single step looks unusual. A graph neural network reasons over those connections, not just the transaction's own attributes.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Tracer: a system that scores real Bitcoin transactions with both approaches and delivers the results to a human analyst.</a:t>
            </a:r>
            <a:endParaRPr lang="en-US" sz="1400" dirty="0"/>
          </a:p>
        </p:txBody>
      </p:sp>
      <p:pic>
        <p:nvPicPr>
          <p:cNvPr id="17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241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813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548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3533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defeats manual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Bitcoin transactions are recorded daily. No team of analysts can inspect them by hand.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0241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797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548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produce noise and are evaded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999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generate large volumes of false alarms that consume analyst capacity, and adversaries structure activity to stay just below them.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0241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078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9502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Isolated-transaction models are blind to the crime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297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each transaction on its own attributes discards the layering structure through which laundering is actually executed.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38928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EEF1FE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349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learns from data rather than fixed rules, incorporates the transaction network into its reasoning, screens every transaction automatically, and explains its decisions so analysts can act on them.</a:t>
            </a:r>
            <a:endParaRPr lang="en-US" sz="1400" dirty="0"/>
          </a:p>
        </p:txBody>
      </p:sp>
      <p:pic>
        <p:nvPicPr>
          <p:cNvPr id="20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EEF1FE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machine learning-based financial fraud detection system that identifies illicit transactions in a real transaction network and supports analysts with automated screening, alerting and explainable results.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420624" cy="42062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8163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of the datasets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4553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PaySim synthetic mobile-money dataset and the Elliptic Bitcoin transaction dataset: size, structure, feature composition, label distribution, graph connectivity, and any data quality problems.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420624" cy="42062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98678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fraud detection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159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data, train a Random Forest on the transaction features and a GraphSAGE graph neural network on the payment network, and deliver both through a web-based analyst console.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30368"/>
            <a:ext cx="420624" cy="42062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30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5157216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evaluate the developed models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486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precision, recall, F1-score and AUC-ROC on a held-out test period, compare the models against each other and the published benchmark, and validate the application with an automated test suite.</a:t>
            </a:r>
            <a:endParaRPr lang="en-US" sz="1250" dirty="0"/>
          </a:p>
        </p:txBody>
      </p:sp>
      <p:pic>
        <p:nvPicPr>
          <p:cNvPr id="19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the Study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35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8562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production architecture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over a real transaction graph, combined with network analysis and delivered into an analyst's workflow — the same shape used by commercial platforms, built and validated at academic scale.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06440" y="123444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435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80760" y="18562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a published benchmark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23774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Random Forest versus GraphSAGE comparison on the Elliptic dataset under a leakage-free temporal protocol, matching the result reported by Weber et al. (2019).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2793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predictions explainable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investigators cannot act on scores they cannot interrogate. Every prediction is attributed to the feature groups that produced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06440" y="365760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80760" y="42793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 honest methodology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80760" y="480060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from synthetic data to a real transaction graph is recorded as it happened, as a realistic template for applied machine learning projects.</a:t>
            </a:r>
            <a:endParaRPr lang="en-US" sz="1150" dirty="0"/>
          </a:p>
        </p:txBody>
      </p:sp>
      <p:pic>
        <p:nvPicPr>
          <p:cNvPr id="19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48463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Weber et al. (2019)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Anti-Money Laundering in Bitcoin: Experimenting with Graph Convolutional Networks for Financial Forensics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the Elliptic dataset. Random Forest was the strongest model at an illicit F1 of ≈0.79, ahead of the graph convolutional network.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Alarab, Prakoonwit &amp; Nacer (2020)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 of Graph Convolutional Networks for Anti-Money Laundering in Bitcoin Blockchain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Interleaving graph convolutional and linear layers outperformed the original GCN configuration on the same dataset.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Pareja et al. (2020)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EvolveGCN: Evolving Graph Convolutional Networks for Dynamic Graphs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 recurrent network to evolve GCN weights across time steps beat the static GCN on evolving transaction graphs.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Motie &amp; Raahemi 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Fraud Detection Using Graph Neural Networks: A Systematic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0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GNNs are consistently competitive with or superior to conventional baselines on relational fraud tasks; imbalance, drift and explainability remain open.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these are model experiments. None delivers an operational system in which predictions are explained, monitored continuously and tracked to resolution.</a:t>
            </a:r>
            <a:endParaRPr lang="en-US" sz="1300" dirty="0"/>
          </a:p>
        </p:txBody>
      </p:sp>
      <p:pic>
        <p:nvPicPr>
          <p:cNvPr id="5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and the three models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ELLIPTIC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subgraph of the real Bitcoin blockchain, published by Elliptic Ltd. with the MIT-IBM Watson AI Lab.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203,769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3160" y="2852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(nodes)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234,355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flows (edges)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95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23160" y="4059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transaction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599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2316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steps of ~2 weeks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02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46,564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23160" y="5266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— 9.76% illicit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E0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transactions carry no label — the models score them, but no ground truth exists.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572768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212848"/>
            <a:ext cx="201168" cy="201168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19088" y="24505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 voting on the transaction's own 165 features.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3264408"/>
            <a:ext cx="201168" cy="201168"/>
          </a:xfrm>
          <a:prstGeom prst="ellipse">
            <a:avLst/>
          </a:prstGeom>
          <a:solidFill>
            <a:srgbClr val="E0870B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19088" y="35021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message-passing layers, hidden dimension 128. Learns from each transaction's two-hop neighbourhood in the payment graph.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4315968"/>
            <a:ext cx="201168" cy="20116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variant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19088" y="45537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the features plus the GraphSAGE embeddings.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5303520"/>
            <a:ext cx="4434840" cy="566928"/>
          </a:xfrm>
          <a:prstGeom prst="roundRect">
            <a:avLst>
              <a:gd name="adj" fmla="val 12903"/>
            </a:avLst>
          </a:prstGeom>
          <a:solidFill>
            <a:srgbClr val="EEF1FE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time steps 1–34  ·  tested on 35–49</a:t>
            </a:r>
            <a:endParaRPr lang="en-US" sz="1250" dirty="0"/>
          </a:p>
        </p:txBody>
      </p:sp>
      <p:pic>
        <p:nvPicPr>
          <p:cNvPr id="31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the held-out test period (time steps 35–49)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373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22592" y="1883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022592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006840" y="17373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71432" y="1883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71432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0" y="29718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22592" y="3118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022592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8972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4343400"/>
            <a:ext cx="4343400" cy="1371600"/>
          </a:xfrm>
          <a:prstGeom prst="roundRect">
            <a:avLst>
              <a:gd name="adj" fmla="val 5333"/>
            </a:avLst>
          </a:prstGeom>
          <a:solidFill>
            <a:srgbClr val="EEF1FE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8660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reproduced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86600" y="48280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 et al. (2019) report an illicit F1 of ≈0.79 for Random Forest under the same dataset and temporal protocol. This project reached 0.807.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507492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1,083 illicit transactions in the test period the Random Forest caught 776 and raised only 65 false alarms across 15,587 legitimate transactions. The recall shortfall coincides with a dark-market shutdown inside the test window — a documented case of concept drift.</a:t>
            </a:r>
            <a:endParaRPr lang="en-US" sz="1200" dirty="0"/>
          </a:p>
        </p:txBody>
      </p:sp>
      <p:pic>
        <p:nvPicPr>
          <p:cNvPr id="19" name="Image 0" descr="C:\Users\brigh\Downloads\crescent 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and incremental development, with CRISP-DM for the machine learning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  ·  PaySim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mobile-money data. Established the pipeline, but contained no transaction network to analyse — which prompted the change of dataset.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0" y="160020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EEF1FE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  ·  Elliptic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20848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Bitcoin transaction graph. The final system: both models, the analyst console, and the full evaluation.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" y="3712464"/>
            <a:ext cx="329184" cy="32918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" y="4389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both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57984" y="4224528"/>
            <a:ext cx="118872" cy="32004"/>
          </a:xfrm>
          <a:prstGeom prst="rect">
            <a:avLst/>
          </a:prstGeom>
          <a:solidFill>
            <a:srgbClr val="E6E4E0"/>
          </a:solidFill>
          <a:ln/>
        </p:spPr>
      </p:sp>
      <p:sp>
        <p:nvSpPr>
          <p:cNvPr id="17" name="Shape 15"/>
          <p:cNvSpPr/>
          <p:nvPr/>
        </p:nvSpPr>
        <p:spPr>
          <a:xfrm>
            <a:off x="2313432" y="35661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41448" y="3712464"/>
            <a:ext cx="329184" cy="32918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9" name="Text 17"/>
          <p:cNvSpPr/>
          <p:nvPr/>
        </p:nvSpPr>
        <p:spPr>
          <a:xfrm>
            <a:off x="2441448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41448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41448" y="4389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labels,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identifiers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22776" y="4224528"/>
            <a:ext cx="118872" cy="32004"/>
          </a:xfrm>
          <a:prstGeom prst="rect">
            <a:avLst/>
          </a:prstGeom>
          <a:solidFill>
            <a:srgbClr val="E6E4E0"/>
          </a:solidFill>
          <a:ln/>
        </p:spPr>
      </p:sp>
      <p:sp>
        <p:nvSpPr>
          <p:cNvPr id="23" name="Shape 21"/>
          <p:cNvSpPr/>
          <p:nvPr/>
        </p:nvSpPr>
        <p:spPr>
          <a:xfrm>
            <a:off x="4078224" y="35661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3712464"/>
            <a:ext cx="329184" cy="32918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4389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1–34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87568" y="4224528"/>
            <a:ext cx="118872" cy="32004"/>
          </a:xfrm>
          <a:prstGeom prst="rect">
            <a:avLst/>
          </a:prstGeom>
          <a:solidFill>
            <a:srgbClr val="E6E4E0"/>
          </a:solidFill>
          <a:ln/>
        </p:spPr>
      </p:sp>
      <p:sp>
        <p:nvSpPr>
          <p:cNvPr id="29" name="Shape 27"/>
          <p:cNvSpPr/>
          <p:nvPr/>
        </p:nvSpPr>
        <p:spPr>
          <a:xfrm>
            <a:off x="5843016" y="35661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71032" y="3712464"/>
            <a:ext cx="329184" cy="32918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31" name="Text 29"/>
          <p:cNvSpPr/>
          <p:nvPr/>
        </p:nvSpPr>
        <p:spPr>
          <a:xfrm>
            <a:off x="5971032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71032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71032" y="4389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the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52360" y="4224528"/>
            <a:ext cx="118872" cy="32004"/>
          </a:xfrm>
          <a:prstGeom prst="rect">
            <a:avLst/>
          </a:prstGeom>
          <a:solidFill>
            <a:srgbClr val="E6E4E0"/>
          </a:solidFill>
          <a:ln/>
        </p:spPr>
      </p:sp>
      <p:sp>
        <p:nvSpPr>
          <p:cNvPr id="35" name="Shape 33"/>
          <p:cNvSpPr/>
          <p:nvPr/>
        </p:nvSpPr>
        <p:spPr>
          <a:xfrm>
            <a:off x="7607808" y="35661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35824" y="3712464"/>
            <a:ext cx="329184" cy="32918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37" name="Text 35"/>
          <p:cNvSpPr/>
          <p:nvPr/>
        </p:nvSpPr>
        <p:spPr>
          <a:xfrm>
            <a:off x="7735824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35824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35824" y="4389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GraphSAGE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17152" y="4224528"/>
            <a:ext cx="118872" cy="32004"/>
          </a:xfrm>
          <a:prstGeom prst="rect">
            <a:avLst/>
          </a:prstGeom>
          <a:solidFill>
            <a:srgbClr val="E6E4E0"/>
          </a:solidFill>
          <a:ln/>
        </p:spPr>
      </p:sp>
      <p:sp>
        <p:nvSpPr>
          <p:cNvPr id="41" name="Shape 39"/>
          <p:cNvSpPr/>
          <p:nvPr/>
        </p:nvSpPr>
        <p:spPr>
          <a:xfrm>
            <a:off x="9372600" y="356616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500616" y="3712464"/>
            <a:ext cx="329184" cy="329184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43" name="Text 41"/>
          <p:cNvSpPr/>
          <p:nvPr/>
        </p:nvSpPr>
        <p:spPr>
          <a:xfrm>
            <a:off x="9500616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500616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500616" y="4389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35–49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193792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EEF1FE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68680" y="5349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by time?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would put transactions from the same period — and even direct neighbours in the graph — on both sides, letting information leak from test into training. Training on the past and testing on the future is also how the system would actually be deployed.</a:t>
            </a:r>
            <a:endParaRPr lang="en-US" sz="1250" dirty="0"/>
          </a:p>
        </p:txBody>
      </p:sp>
      <p:pic>
        <p:nvPicPr>
          <p:cNvPr id="48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analyst console:  React  ·  Flask REST API  ·  MySQL</a:t>
            </a:r>
            <a:endParaRPr lang="en-US" sz="1500" dirty="0"/>
          </a:p>
        </p:txBody>
      </p:sp>
      <p:pic>
        <p:nvPicPr>
          <p:cNvPr id="4" name="Image 0" descr="C:\Users\brigh\OneDrive\Desktop\Projects\fraud-detection\report\screenshots\04-analyz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5806440" cy="2697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4340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— risk score, both models, the two-hop payment network, and why the score came out that way</a:t>
            </a:r>
            <a:endParaRPr lang="en-US" sz="1050" dirty="0"/>
          </a:p>
        </p:txBody>
      </p:sp>
      <p:pic>
        <p:nvPicPr>
          <p:cNvPr id="6" name="Image 1" descr="C:\Users\brigh\OneDrive\Desktop\Projects\fraud-detection\report\screenshots\05-live-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92040"/>
            <a:ext cx="5806440" cy="1325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26364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 — screens every transaction per time step and raises alerts automatically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720840" y="1673352"/>
            <a:ext cx="182880" cy="18288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9" name="Text 5"/>
          <p:cNvSpPr/>
          <p:nvPr/>
        </p:nvSpPr>
        <p:spPr>
          <a:xfrm>
            <a:off x="704088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040880" y="18836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 and Administrator, enforced on the server.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720840" y="2569464"/>
            <a:ext cx="182880" cy="18288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2" name="Text 8"/>
          <p:cNvSpPr/>
          <p:nvPr/>
        </p:nvSpPr>
        <p:spPr>
          <a:xfrm>
            <a:off x="704088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Two-hop network view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0" y="27797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the neighbourhood the graph model reasons over.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20840" y="3465576"/>
            <a:ext cx="182880" cy="18288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5" name="Text 11"/>
          <p:cNvSpPr/>
          <p:nvPr/>
        </p:nvSpPr>
        <p:spPr>
          <a:xfrm>
            <a:off x="7040880" y="3392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Per-decision explanations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040880" y="36758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 split into the transaction's own features versus its network context.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720840" y="4361688"/>
            <a:ext cx="182880" cy="18288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8" name="Text 14"/>
          <p:cNvSpPr/>
          <p:nvPr/>
        </p:nvSpPr>
        <p:spPr>
          <a:xfrm>
            <a:off x="7040880" y="4288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040880" y="4572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screening with an alert budget that models analyst capacity.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720840" y="5257800"/>
            <a:ext cx="182880" cy="18288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5184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040880" y="5468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carry notes through to resolution; activity exports as CSV.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720840" y="603504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EEF1FE"/>
          </a:solidFill>
          <a:ln w="12700">
            <a:solidFill>
              <a:srgbClr val="E6E4E0"/>
            </a:solidFill>
            <a:prstDash val="solid"/>
          </a:ln>
          <a:effectLst>
            <a:outerShdw sx="100000" sy="100000" kx="0" ky="0" algn="bl" rotWithShape="0" blurRad="101600" dist="12700" dir="5400000">
              <a:srgbClr val="9AA0AA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931152" y="6163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35 automated tests, all passing</a:t>
            </a:r>
            <a:endParaRPr lang="en-US" sz="1200" dirty="0"/>
          </a:p>
        </p:txBody>
      </p:sp>
      <p:pic>
        <p:nvPicPr>
          <p:cNvPr id="25" name="Image 2" descr="C:\Users\brigh\Downloads\crescent 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works, and the result is verifiable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illicit-class F1 of 0.807 on transactions the models had never seen, reproducing the benchmark published for this dataset.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and graph learning are complements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3154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wins here because Elliptic's features already summarise each transaction's neighbours — and because the graph itself is sparse, at a mean of 2.3 connections per transaction.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rgbClr val="2B44E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160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only matters when it reaches an analyst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4526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explained, every high-confidence detection becomes a tracked case, and the transaction stream is screened continuously under a realistic capacity budget.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2377440" cy="59436"/>
          </a:xfrm>
          <a:prstGeom prst="rect">
            <a:avLst/>
          </a:prstGeom>
          <a:solidFill>
            <a:srgbClr val="2B44E8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6080" y="5669280"/>
            <a:ext cx="1371600" cy="59436"/>
          </a:xfrm>
          <a:prstGeom prst="rect">
            <a:avLst/>
          </a:prstGeom>
          <a:solidFill>
            <a:srgbClr val="E087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5669280"/>
            <a:ext cx="914400" cy="59436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045952" y="201168"/>
            <a:ext cx="905256" cy="722376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/>
        </p:spPr>
      </p:sp>
      <p:pic>
        <p:nvPicPr>
          <p:cNvPr id="20" name="Image 0" descr="C:\Users\brigh\Downloads\crescent 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92608"/>
            <a:ext cx="685800" cy="53675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55680" y="63276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Financial Fraud Detection System</dc:title>
  <dc:subject>PptxGenJS Presentation</dc:subject>
  <dc:creator>Adewole Habeeb Adebola</dc:creator>
  <cp:lastModifiedBy>Adewole Habeeb Adebola</cp:lastModifiedBy>
  <cp:revision>1</cp:revision>
  <dcterms:created xsi:type="dcterms:W3CDTF">2026-08-02T00:29:07Z</dcterms:created>
  <dcterms:modified xsi:type="dcterms:W3CDTF">2026-08-02T00:29:07Z</dcterms:modified>
</cp:coreProperties>
</file>